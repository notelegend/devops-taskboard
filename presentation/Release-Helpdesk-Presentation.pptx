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project is Release Helpdesk, a service desk for deployment incidents, access requests and release follow-ups. I will show how a change moves from Git through tested and scanned container images into a monitored AWS EKS deployment. The AWS screenshots and measurements were captured on 16 October 2026. The cloud environment was then deliberately torn down after its evidence was preserved; the local stack remains reproducible.</a:t>
            </a:r>
          </a:p>
          <a:p/>
          <a:p>
            <a:r>
              <a:t>Evidence / source links:</a:t>
            </a:r>
          </a:p>
          <a:p>
            <a:r>
              <a:t>https://github.com/NoteLegend/devOps-TaskBoard/blob/main/images/aws-application-desktop.png</a:t>
            </a:r>
          </a:p>
          <a:p>
            <a:r>
              <a:t>https://github.com/NoteLegend/devOps-TaskBoard/blob/main/README.md</a:t>
            </a:r>
          </a:p>
          <a:p>
            <a:r>
              <a:t>https://github.com/NoteLegend/devOps-TaskBoard/blob/main/docs/VERIFICATION.md</a:t>
            </a:r>
          </a:p>
          <a:p>
            <a:r>
              <a:t>https://drive.google.com/file/d/1ZSxd5RlMJAqJkvLA3E_098BrKF4OgJLT/view?usp=sharing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original application domain is a release helpdesk. Tickets represent deployment incidents and operational requests. In the demo I create a ticket called Release rollback approval, assign Demo Student, select HIGH priority, and move it from TODO to IN_PROGRESS. I then filter the queue, show updated counts, edit and delete the ticket. The frontend has mobile, loading, empty and error states. Its activity feed is explicitly limited to the current browser session. The original TaskBoard API and field names are retained for compatibility. This is a classroom application using synthetic data, without end-user authentication. Show the supplied browser walkthrough or demonstrate the same flow locally.</a:t>
            </a:r>
          </a:p>
          <a:p/>
          <a:p>
            <a:r>
              <a:t>Evidence / source links:</a:t>
            </a:r>
          </a:p>
          <a:p>
            <a:r>
              <a:t>https://github.com/NoteLegend/devOps-TaskBoard/blob/main/images/README.md</a:t>
            </a:r>
          </a:p>
          <a:p>
            <a:r>
              <a:t>https://github.com/NoteLegend/devOps-TaskBoard/blob/main/images/aws-application-desktop.png</a:t>
            </a:r>
          </a:p>
          <a:p>
            <a:r>
              <a:t>https://github.com/NoteLegend/devOps-TaskBoard/blob/main/images/aws-application-mobile.png</a:t>
            </a:r>
          </a:p>
          <a:p>
            <a:r>
              <a:t>https://github.com/NoteLegend/devOps-TaskBoard/blob/main/images/aws-browser-walkthrough.webm</a:t>
            </a:r>
          </a:p>
          <a:p>
            <a:r>
              <a:t>https://github.com/NoteLegend/devOps-TaskBoard/blob/main/application/frontend/src/main.jsx</a:t>
            </a:r>
          </a:p>
          <a:p>
            <a:r>
              <a:t>https://github.com/NoteLegend/devOps-TaskBoard/blob/main/docs/ATTRIBUTION.md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architecture as three paths. For requests, the AWS Load Balancer Controller implements the ALB Ingress: slash goes to React served by Nginx, and slash api goes to the FastAPI ClusterIP Service. Nginx also proxies API documentation to the backend. The API stores tickets in PostgreSQL on a persistent EBS volume. For delivery, GitHub Actions tests and scans source/dependencies/secrets, then builds and scans both images before publishing their full-SHA tags. Current GitOps promotion pins that verified SHA in Git and Flux reconciles the Helm release locally. The earlier cloud delivery used a short-lived AWS OIDC role and Helm. Terraform creates the VPC, EKS and IAM infrastructure before this application delivery flow. For observability, Prometheus scrapes the FastAPI metrics endpoint through a ServiceMonitor and Grafana visualizes those measurements. Arrows indicate logical flows; Terraform bootstrap and Alembic migration are explained on later slides.</a:t>
            </a:r>
          </a:p>
          <a:p/>
          <a:p>
            <a:r>
              <a:t>Evidence / source links:</a:t>
            </a:r>
          </a:p>
          <a:p>
            <a:r>
              <a:t>https://github.com/NoteLegend/devOps-TaskBoard/blob/main/README.md</a:t>
            </a:r>
          </a:p>
          <a:p>
            <a:r>
              <a:t>https://github.com/NoteLegend/devOps-TaskBoard/blob/main/helm/taskboard/templates/ingress.yaml</a:t>
            </a:r>
          </a:p>
          <a:p>
            <a:r>
              <a:t>https://github.com/NoteLegend/devOps-TaskBoard/blob/main/application/frontend/nginx.conf</a:t>
            </a:r>
          </a:p>
          <a:p>
            <a:r>
              <a:t>https://github.com/NoteLegend/devOps-TaskBoard/blob/main/.github/workflows/ci-cd.yml</a:t>
            </a:r>
          </a:p>
          <a:p>
            <a:r>
              <a:t>https://github.com/NoteLegend/devOps-TaskBoard/blob/main/monitoring/prometheus-values.yaml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backend implements six business REST operations, including list, detail, statistics and full create, update, delete behavior. Nineteen parametrized API cases cover CRUD, statistics, validation, missing records, documentation, metrics and database failure recovery. Unit tests default to isolated in-memory SQLite. CI and the integration runner use a separate PostgreSQL database that is migrated before tests run. The test suite does not silently create a PostgreSQL schema. Alembic is the deployment schema authority. Readiness checks the database and tasks table, while liveness checks the process. In an isolated real outage, ready changed from 200 to 503 and back to 200 while health stayed 200. Separately, the AWS PostgreSQL Pod restart changed the Pod UID while all four synthetic records remained on its PVC. Show Swagger CRUD and the saved PostgreSQL table screenshot while explaining this slide.</a:t>
            </a:r>
          </a:p>
          <a:p/>
          <a:p>
            <a:r>
              <a:t>Evidence / source links:</a:t>
            </a:r>
          </a:p>
          <a:p>
            <a:r>
              <a:t>https://github.com/NoteLegend/devOps-TaskBoard/blob/main/docs/VERIFICATION.md</a:t>
            </a:r>
          </a:p>
          <a:p>
            <a:r>
              <a:t>https://github.com/NoteLegend/devOps-TaskBoard/blob/main/application/backend/tests/test_api.py</a:t>
            </a:r>
          </a:p>
          <a:p>
            <a:r>
              <a:t>https://github.com/NoteLegend/devOps-TaskBoard/blob/main/application/backend/tests/conftest.py</a:t>
            </a:r>
          </a:p>
          <a:p>
            <a:r>
              <a:t>https://github.com/NoteLegend/devOps-TaskBoard/blob/main/images/aws-postgresql-pytest-passed.png</a:t>
            </a:r>
          </a:p>
          <a:p>
            <a:r>
              <a:t>https://github.com/NoteLegend/devOps-TaskBoard/blob/main/images/aws-postgresql-table-and-persistence.png</a:t>
            </a:r>
          </a:p>
          <a:p>
            <a:r>
              <a:t>https://github.com/NoteLegend/devOps-TaskBoard/blob/main/evidence/logs/readiness-outage.txt</a:t>
            </a:r>
          </a:p>
          <a:p>
            <a:r>
              <a:t>https://github.com/NoteLegend/devOps-TaskBoard/blob/main/evidence/logs/aws-database-persistence.json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full local stack runs using docker compose up with build and wait. Dependencies are explicit: PostgreSQL must be healthy, the migration must complete, the API must be ready, and then the frontend starts. The backend runs as UID 10001. The frontend uses a Node build stage and copies only static output into unprivileged Nginx running as UID 101 on port 8080. Local host ports are loopback-bound: the UI is on localhost 3000 and the API documentation is on localhost 8000 slash docs. PostgreSQL is not published to a host port. A named database volume keeps data across normal restarts. Show the saved real Compose image and user screenshot, then open the local application if demonstrating live.</a:t>
            </a:r>
          </a:p>
          <a:p/>
          <a:p>
            <a:r>
              <a:t>Evidence / source links:</a:t>
            </a:r>
          </a:p>
          <a:p>
            <a:r>
              <a:t>https://github.com/NoteLegend/devOps-TaskBoard/blob/main/images/local-compose-images-and-users.png</a:t>
            </a:r>
          </a:p>
          <a:p>
            <a:r>
              <a:t>https://github.com/NoteLegend/devOps-TaskBoard/blob/main/docker-compose.yml</a:t>
            </a:r>
          </a:p>
          <a:p>
            <a:r>
              <a:t>https://github.com/NoteLegend/devOps-TaskBoard/blob/main/docker/backend.Dockerfile</a:t>
            </a:r>
          </a:p>
          <a:p>
            <a:r>
              <a:t>https://github.com/NoteLegend/devOps-TaskBoard/blob/main/docker/frontend.Dockerfile</a:t>
            </a:r>
          </a:p>
          <a:p>
            <a:r>
              <a:t>https://github.com/NoteLegend/devOps-TaskBoard/blob/main/evidence/logs/compose-persistence.txt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current GitHub Actions workflow validates tests and security independently, then requires both jobs before building and publishing images. The security job runs Bandit, Semgrep, pip-audit, npm audit and Gitleaks over full history plus working text. It writes fresh report artifacts for that execution. Tests use a clean migrated PostgreSQL service and also check the frontend, Compose, Helm, GitOps manifests, Terraform and the account guard. Both final images pass the Trivy HIGH/CRITICAL gate before the exact scanned images are pushed with the full source SHA. Pull requests cannot log in to the registry, publish or obtain AWS deployment credentials. The historical OIDC cloud release was verified separately. Current promotion changes the Git-owned HelmRelease to a tested image SHA, and Flux performs the rollout. The screenshot is run 39583131700 for image-source commit 1178b68; later evidence/documentation commits do not change the deployed image source.</a:t>
            </a:r>
          </a:p>
          <a:p/>
          <a:p>
            <a:r>
              <a:t>Evidence / source links:</a:t>
            </a:r>
          </a:p>
          <a:p>
            <a:r>
              <a:t>https://github.com/NoteLegend/devOps-TaskBoard/actions/runs/39583131700</a:t>
            </a:r>
          </a:p>
          <a:p>
            <a:r>
              <a:t>https://github.com/NoteLegend/devOps-TaskBoard/blob/main/images/final/ci-security-release.png</a:t>
            </a:r>
          </a:p>
          <a:p>
            <a:r>
              <a:t>https://github.com/NoteLegend/devOps-TaskBoard/blob/main/.github/workflows/ci-cd.yml</a:t>
            </a:r>
          </a:p>
          <a:p>
            <a:r>
              <a:t>https://github.com/NoteLegend/devOps-TaskBoard/blob/main/evidence/logs/ci-security-release.json</a:t>
            </a:r>
          </a:p>
          <a:p>
            <a:r>
              <a:t>https://github.com/NoteLegend/devOps-TaskBoard/blob/main/evidence/logs/ci-final-source</a:t>
            </a:r>
          </a:p>
          <a:p>
            <a:r>
              <a:t>https://github.com/NoteLegend/devOps-TaskBoard/blob/main/evidence/logs/ci-final-images</a:t>
            </a:r>
          </a:p>
          <a:p>
            <a:r>
              <a:t>https://github.com/NoteLegend/devOps-TaskBoard/blob/main/gitops/releases/release.yaml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refreshed scans cover four layers. Bandit checks Python source and migrations; checked-in Semgrep rules check selected dangerous frontend patterns. pip-audit checks the complete pinned Python dependency set, while npm audit includes the frontend build/development graph. Gitleaks scans full reachable Git history and working text with redacted reports. Trivy checks OS and language packages in both final images and fails all HIGH/CRITICAL findings, including unfixed findings. The new dependency audit found the certifi trust-store advisory published after the earlier cloud run. The dependency was upgraded to 2026.10.19 and the images rebuilt. Both new images reported zero HIGH/CRITICAL findings at the recorded scan. Exact public CPython signing fingerprints in archived Trivy metadata have a narrow path/value exception; application secrets are not excluded. Synthetic unsafe Python, unsafe JavaScript and a fake secret each triggered a failed gate. These are dated results and do not claim immunity to future advisories or all application weaknesses.</a:t>
            </a:r>
          </a:p>
          <a:p/>
          <a:p>
            <a:r>
              <a:t>Evidence / source links:</a:t>
            </a:r>
          </a:p>
          <a:p>
            <a:r>
              <a:t>https://github.com/NoteLegend/devOps-TaskBoard/actions/runs/39583131700</a:t>
            </a:r>
          </a:p>
          <a:p>
            <a:r>
              <a:t>https://github.com/NoteLegend/devOps-TaskBoard/blob/main/security/README.md</a:t>
            </a:r>
          </a:p>
          <a:p>
            <a:r>
              <a:t>https://github.com/NoteLegend/devOps-TaskBoard/blob/main/security/gitleaks.toml</a:t>
            </a:r>
          </a:p>
          <a:p>
            <a:r>
              <a:t>https://github.com/NoteLegend/devOps-TaskBoard/blob/main/evidence/logs/security-final/summary.json</a:t>
            </a:r>
          </a:p>
          <a:p>
            <a:r>
              <a:t>https://github.com/NoteLegend/devOps-TaskBoard/blob/main/evidence/logs/security-final/negative-controls.json</a:t>
            </a:r>
          </a:p>
          <a:p>
            <a:r>
              <a:t>https://github.com/NoteLegend/devOps-TaskBoard/blob/main/evidence/logs/security-initial/pip-audit.json</a:t>
            </a:r>
          </a:p>
          <a:p>
            <a:r>
              <a:t>https://github.com/NoteLegend/devOps-TaskBoard/blob/main/evidence/logs/ci-final-images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Terraform provisioned the real AWS environment in ap-south-1. The network spans two availability zones with two public and two private subnets. The ALB uses the public subnets; managed workers use the private subnets. A single NAT gateway supports private egress as a classroom cost tradeoff, rather than claiming full zonal resilience. The EKS cluster used Kubernetes 1.35 and two eligible m7i-flex.large AL2023 workers. Terraform also configures IAM roles, OIDC, EBS CSI and cluster add-ons. The recorded apply created sixty-six Terraform resources. Versions and provider locks are retained. The approved run used account credits under the active Free plan; it did not upgrade the account. Show the saved actual Terraform plan and AWS VPC/EKS Console screenshots. Infrastructure is now removed, and recreation needs a newly approved plan and budget.</a:t>
            </a:r>
          </a:p>
          <a:p/>
          <a:p>
            <a:r>
              <a:t>Evidence / source links:</a:t>
            </a:r>
          </a:p>
          <a:p>
            <a:r>
              <a:t>https://github.com/NoteLegend/devOps-TaskBoard/blob/main/docs/VERIFICATION.md</a:t>
            </a:r>
          </a:p>
          <a:p>
            <a:r>
              <a:t>https://github.com/NoteLegend/devOps-TaskBoard/blob/main/terraform/main.tf</a:t>
            </a:r>
          </a:p>
          <a:p>
            <a:r>
              <a:t>https://github.com/NoteLegend/devOps-TaskBoard/blob/main/terraform/variables.tf</a:t>
            </a:r>
          </a:p>
          <a:p>
            <a:r>
              <a:t>https://github.com/NoteLegend/devOps-TaskBoard/blob/main/terraform/.terraform.lock.hcl</a:t>
            </a:r>
          </a:p>
          <a:p>
            <a:r>
              <a:t>https://github.com/NoteLegend/devOps-TaskBoard/blob/main/terraform/terraform.tfvars.example</a:t>
            </a:r>
          </a:p>
          <a:p>
            <a:r>
              <a:t>https://github.com/NoteLegend/devOps-TaskBoard/blob/main/images/aws-terraform-plan.png</a:t>
            </a:r>
          </a:p>
          <a:p>
            <a:r>
              <a:t>https://github.com/NoteLegend/devOps-TaskBoard/blob/main/images/aws-vpc-console.png</a:t>
            </a:r>
          </a:p>
          <a:p>
            <a:r>
              <a:t>https://github.com/NoteLegend/devOps-TaskBoard/blob/main/images/aws-eks-active-console.png</a:t>
            </a:r>
          </a:p>
          <a:p>
            <a:r>
              <a:t>https://github.com/NoteLegend/devOps-TaskBoard/blob/main/images/aws-terraform-apply-and-ready-nodes.png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Helm chart deploys into the taskboard namespace. The frontend has two replicas, and the backend HPA maintains at least two replicas. Both Services use ClusterIP networking. The Ingress routes slash to frontend port 8080 and slash api to backend port 8000 through the actual ALB controller. PostgreSQL runs as a StatefulSet with a bound five-GiB encrypted gp3 volume provisioned through EBS CSI. A single migration hook Job runs the Alembic upgrade under a PostgreSQL advisory lock; it is not run concurrently in every API replica. On first install the hook runs after the database resources exist, and on upgrades it runs before the update. The deployment script explicitly checks StatefulSet and Deployment rollouts, then performs external readiness and CRUD checks. Explain Helm values, release history and rollback, noting that destructive database changes would require a compatible migration strategy.</a:t>
            </a:r>
          </a:p>
          <a:p/>
          <a:p>
            <a:r>
              <a:t>Evidence / source links:</a:t>
            </a:r>
          </a:p>
          <a:p>
            <a:r>
              <a:t>https://github.com/NoteLegend/devOps-TaskBoard/blob/main/images/aws-kubernetes-helm-ingress.png</a:t>
            </a:r>
          </a:p>
          <a:p>
            <a:r>
              <a:t>https://github.com/NoteLegend/devOps-TaskBoard/blob/main/helm/taskboard/Chart.yaml</a:t>
            </a:r>
          </a:p>
          <a:p>
            <a:r>
              <a:t>https://github.com/NoteLegend/devOps-TaskBoard/blob/main/helm/taskboard/values.yaml</a:t>
            </a:r>
          </a:p>
          <a:p>
            <a:r>
              <a:t>https://github.com/NoteLegend/devOps-TaskBoard/blob/main/helm/taskboard/values-prod.yaml</a:t>
            </a:r>
          </a:p>
          <a:p>
            <a:r>
              <a:t>https://github.com/NoteLegend/devOps-TaskBoard/blob/main/helm/taskboard/templates/migrate.yaml</a:t>
            </a:r>
          </a:p>
          <a:p>
            <a:r>
              <a:t>https://github.com/NoteLegend/devOps-TaskBoard/blob/main/application/backend/app/migrate.py</a:t>
            </a:r>
          </a:p>
          <a:p>
            <a:r>
              <a:t>https://github.com/NoteLegend/devOps-TaskBoard/blob/main/scripts/deploy.sh</a:t>
            </a:r>
          </a:p>
          <a:p>
            <a:r>
              <a:t>https://github.com/NoteLegend/devOps-TaskBoard/blob/main/evidence/logs/aws-persistent-storage.json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Flux source-controller fetches this public repository. A Kustomization applies the Git-owned HelmRelease, and helm-controller installs or upgrades the same application chart. The baseline served gitops-v1. Commit 871c284 pinned both newly scanned 1178b68 image tags and changed the release marker to gitops-v2. The Nginx configuration checksum triggered a real frontend rollout, and HTTP exposed the new header. The verification then changed frontend replicas from two to one and observed Flux restore two in 34 seconds, without a forced reconcile, manual Helm upgrade or apply as the repair. The baseline exercise had independently recovered in 37 seconds. Backend replicas remain HPA-owned. The running image IDs were checked against public GHCR manifest digests and matched for both components. This GitOps verification is local kind; the earlier AWS environment remains deliberately removed.</a:t>
            </a:r>
          </a:p>
          <a:p/>
          <a:p>
            <a:r>
              <a:t>Evidence / source links:</a:t>
            </a:r>
          </a:p>
          <a:p>
            <a:r>
              <a:t>https://github.com/NoteLegend/devOps-TaskBoard/blob/main/evidence/logs/gitops-final/summary.json</a:t>
            </a:r>
          </a:p>
          <a:p>
            <a:r>
              <a:t>https://github.com/NoteLegend/devOps-TaskBoard/blob/main/images/final/gitops-verification.png</a:t>
            </a:r>
          </a:p>
          <a:p>
            <a:r>
              <a:t>https://github.com/NoteLegend/devOps-TaskBoard/blob/main/gitops/README.md</a:t>
            </a:r>
          </a:p>
          <a:p>
            <a:r>
              <a:t>https://github.com/NoteLegend/devOps-TaskBoard/blob/main/gitops/releases/release.yaml</a:t>
            </a:r>
          </a:p>
          <a:p>
            <a:r>
              <a:t>https://github.com/NoteLegend/devOps-TaskBoard/blob/main/evidence/logs/gitops-baseline/summary.json</a:t>
            </a:r>
          </a:p>
          <a:p>
            <a:r>
              <a:t>https://github.com/NoteLegend/devOps-TaskBoard/blob/main/evidence/logs/gitops-final/image-identity.json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end-to-end release proof required by the presentation rubric. The before screenshot comes from the previous deployed application commit 3ffe809. Commit 179ad20 clarified the visible help text to: Assign an owner, set a priority, and move release tickets through resolution. The linked real GitHub Actions run passed all three jobs and deployed that full SHA. Registry and Kubernetes inspection verified the deployed tags and digests. The after screenshot shows the new text through the AWS ALB. During the recording, open the commit, the successful run and these two original images at readable zoom. These are preserved screens from the actual release; the AWS endpoint has since been torn down. A current push still runs CI, but deployment is intentionally disabled after cleanup.</a:t>
            </a:r>
          </a:p>
          <a:p/>
          <a:p>
            <a:r>
              <a:t>Evidence / source links:</a:t>
            </a:r>
          </a:p>
          <a:p>
            <a:r>
              <a:t>https://github.com/NoteLegend/devOps-TaskBoard/actions/runs/38955563228</a:t>
            </a:r>
          </a:p>
          <a:p>
            <a:r>
              <a:t>https://github.com/NoteLegend/devOps-TaskBoard/blob/main/images/aws-live-update-before.png</a:t>
            </a:r>
          </a:p>
          <a:p>
            <a:r>
              <a:t>https://github.com/NoteLegend/devOps-TaskBoard/blob/main/images/aws-live-update-after.png</a:t>
            </a:r>
          </a:p>
          <a:p>
            <a:r>
              <a:t>https://github.com/NoteLegend/devOps-TaskBoard/blob/main/evidence/logs/aws-registry-image-verification.json</a:t>
            </a:r>
          </a:p>
          <a:p>
            <a:r>
              <a:t>https://github.com/NoteLegend/devOps-TaskBoard/commit/179ad20c5e4995bf458a33531905d6f0e694b580</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chart is derived from the actual saved AWS HPA observations. It plots ready backend replicas rather than merely desired replicas, so it proves usable capacity increased. A bounded in-cluster load ran twenty-four workers for 180.1 seconds, completing 68,466 requests with zero load-client failures. Ready replicas moved from two to four and later recovered automatically to two. The HPA target stayed at sixty percent of the existing 100-millicore CPU request, and observed CPU peaked at 442 percent of that request. That percentage is relative to the resource request, not percent of an entire worker node. An earlier external load completed without errors but did not generate enough backend CPU to scale; that honest non-scaling result is retained. The follow-up client ran in an isolated namespace, and its CPU was excluded from the backend HPA. These are observations of this specific test, not a general throughput or production-capacity guarantee.</a:t>
            </a:r>
          </a:p>
          <a:p/>
          <a:p>
            <a:r>
              <a:t>Evidence / source links:</a:t>
            </a:r>
          </a:p>
          <a:p>
            <a:r>
              <a:t>https://github.com/NoteLegend/devOps-TaskBoard/blob/main/evidence/logs/aws-hpa-internal/frames.json</a:t>
            </a:r>
          </a:p>
          <a:p>
            <a:r>
              <a:t>https://github.com/NoteLegend/devOps-TaskBoard/blob/main/evidence/logs/aws-hpa-internal/summary.json</a:t>
            </a:r>
          </a:p>
          <a:p>
            <a:r>
              <a:t>https://github.com/NoteLegend/devOps-TaskBoard/blob/main/evidence/logs/aws-hpa/summary.json</a:t>
            </a:r>
          </a:p>
          <a:p>
            <a:r>
              <a:t>https://github.com/NoteLegend/devOps-TaskBoard/blob/main/images/aws-hpa-before-load.png</a:t>
            </a:r>
          </a:p>
          <a:p>
            <a:r>
              <a:t>https://github.com/NoteLegend/devOps-TaskBoard/blob/main/images/aws-hpa-scaled-under-load.png</a:t>
            </a:r>
          </a:p>
          <a:p>
            <a:r>
              <a:t>https://github.com/NoteLegend/devOps-TaskBoard/blob/main/images/aws-hpa-recovered.png</a:t>
            </a:r>
          </a:p>
          <a:p>
            <a:r>
              <a:t>https://github.com/NoteLegend/devOps-TaskBoard/blob/main/helm/taskboard/templates/hpa.yaml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API exposes an actual HTTP request counter and a response-latency histogram at slash metrics. Handler labels use route templates, which avoids unbounded labels for every ticket ID. A ServiceMonitor selects the backend Service and named HTTP port, and Prometheus was verified scraping the application targets as UP. The screenshot is the real authenticated Grafana dashboard from the AWS run, with populated request rate, error rate, p95 latency and ready replica panels. Grafana stays a private ClusterIP Service and is accessed by authenticated port-forward. The small real error-rate sample includes the controlled PostgreSQL readiness interruption. Show the original metrics endpoint screenshot and Prometheus targets before opening this dashboard at full size.</a:t>
            </a:r>
          </a:p>
          <a:p/>
          <a:p>
            <a:r>
              <a:t>Evidence / source links:</a:t>
            </a:r>
          </a:p>
          <a:p>
            <a:r>
              <a:t>https://github.com/NoteLegend/devOps-TaskBoard/blob/main/images/aws-grafana-live-dashboard.png</a:t>
            </a:r>
          </a:p>
          <a:p>
            <a:r>
              <a:t>https://github.com/NoteLegend/devOps-TaskBoard/blob/main/application/backend/app/main.py</a:t>
            </a:r>
          </a:p>
          <a:p>
            <a:r>
              <a:t>https://github.com/NoteLegend/devOps-TaskBoard/blob/main/helm/taskboard/templates/servicemonitor.yaml</a:t>
            </a:r>
          </a:p>
          <a:p>
            <a:r>
              <a:t>https://github.com/NoteLegend/devOps-TaskBoard/blob/main/monitoring/dashboard.json</a:t>
            </a:r>
          </a:p>
          <a:p>
            <a:r>
              <a:t>https://github.com/NoteLegend/devOps-TaskBoard/blob/main/images/aws-metrics-endpoint.png</a:t>
            </a:r>
          </a:p>
          <a:p>
            <a:r>
              <a:t>https://github.com/NoteLegend/devOps-TaskBoard/blob/main/images/aws-prometheus-targets-up.png</a:t>
            </a:r>
          </a:p>
          <a:p>
            <a:r>
              <a:t>https://github.com/NoteLegend/devOps-TaskBoard/blob/main/evidence/logs/aws-prometheus-queries.json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first isolated exercise, the Pod was not Ready because its image tag did not exist. Pod description and events exposed the registry pull failure. After correcting the tag, the rollout reached Ready. In the second, the Service selector did not match the Pod labels, so EndpointSlices contained no usable endpoints. Comparing the selector against labels identified the cause. Correcting the selector restored endpoints and a successful HTTP response. Both exercises ran in taskboard-troubleshooting and the recorded recovery is saved. In the video, open the original image and Service diagnosis screenshots and the final recovery screenshot, or show the saved terminal logs. Keep the explanation in the order symptom, evidence, cause, correction, verification.</a:t>
            </a:r>
          </a:p>
          <a:p/>
          <a:p>
            <a:r>
              <a:t>Evidence / source links:</a:t>
            </a:r>
          </a:p>
          <a:p>
            <a:r>
              <a:t>https://github.com/NoteLegend/devOps-TaskBoard/blob/main/evidence/logs/aws-troubleshooting</a:t>
            </a:r>
          </a:p>
          <a:p>
            <a:r>
              <a:t>https://github.com/NoteLegend/devOps-TaskBoard/blob/main/troubleshooting/broken-image.yaml</a:t>
            </a:r>
          </a:p>
          <a:p>
            <a:r>
              <a:t>https://github.com/NoteLegend/devOps-TaskBoard/blob/main/troubleshooting/broken-service.yaml</a:t>
            </a:r>
          </a:p>
          <a:p>
            <a:r>
              <a:t>https://github.com/NoteLegend/devOps-TaskBoard/blob/main/scripts/troubleshooting.sh</a:t>
            </a:r>
          </a:p>
          <a:p>
            <a:r>
              <a:t>https://github.com/NoteLegend/devOps-TaskBoard/blob/main/images/aws-broken-image-diagnosis.png</a:t>
            </a:r>
          </a:p>
          <a:p>
            <a:r>
              <a:t>https://github.com/NoteLegend/devOps-TaskBoard/blob/main/images/aws-broken-service-diagnosis.png</a:t>
            </a:r>
          </a:p>
          <a:p>
            <a:r>
              <a:t>https://github.com/NoteLegend/devOps-TaskBoard/blob/main/images/aws-troubleshooting-recovered.png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lifecycle ends with cleanup. All deployment screenshots and the walkthrough were pushed and verified remotely before deletion. The application and ALB were removed while the controller was still available; retained project storage was handled deliberately. Terraform then reported sixty-six resources destroyed. Read-only residual checks recorded the project EKS cluster, VPC, workers, ALB, target groups, NAT, EIP, network interfaces, retained disks and related roles as absent. The project KMS key is disabled and PendingDeletion for the required AWS waiting period, rather than already physically erased. Billing and credit reporting can lag, so the presentation does not claim zero usage or a settled cost total. DEPLOY_ENABLED is false and the old ALB URL is offline. The local stack remains available for review. No cloud resources need to be recreated to explain the preserved deployment evidence.</a:t>
            </a:r>
          </a:p>
          <a:p/>
          <a:p>
            <a:r>
              <a:t>Evidence / source links:</a:t>
            </a:r>
          </a:p>
          <a:p>
            <a:r>
              <a:t>https://github.com/NoteLegend/devOps-TaskBoard/blob/main/evidence/logs/aws-cleanup-verification.json</a:t>
            </a:r>
          </a:p>
          <a:p>
            <a:r>
              <a:t>https://github.com/NoteLegend/devOps-TaskBoard/blob/main/images/aws-terraform-destroy-complete.png</a:t>
            </a:r>
          </a:p>
          <a:p>
            <a:r>
              <a:t>https://github.com/NoteLegend/devOps-TaskBoard/blob/main/images/aws-cleanup-residual-checks.png</a:t>
            </a:r>
          </a:p>
          <a:p>
            <a:r>
              <a:t>https://github.com/NoteLegend/devOps-TaskBoard/blob/main/evidence/logs/aws-terraform-destroy.txt</a:t>
            </a:r>
          </a:p>
          <a:p>
            <a:r>
              <a:t>https://github.com/NoteLegend/devOps-TaskBoard/blob/main/evidence/logs/aws-evidence-before-teardown.json</a:t>
            </a:r>
          </a:p>
          <a:p>
            <a:r>
              <a:t>https://github.com/NoteLegend/devOps-TaskBoard/blob/main/docs/CLEANUP.md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system connects product behavior to engineering evidence. The application is reproducible, data survives normal restarts, source and image gates stop unsafe changes, image SHAs connect source to registry artifacts, and Flux continuously reconciles the chosen release. The AWS lifecycle demonstrated real provisioning, ingress, persistent storage, monitoring, scaling and teardown. The later local GitOps verification adds real promotion and drift correction for the same application. Lessons are to verify application behavior after rollout, separate process liveness from database readiness, measure ready replicas for scaling, and tie every result to its revision and environment. Production improvements would add end-user authentication, HTTPS and DNS, managed database backups and service-level alerting. The repository includes original evidence, instructions and attribution; the recorded narration explains those results.</a:t>
            </a:r>
          </a:p>
          <a:p/>
          <a:p>
            <a:r>
              <a:t>Evidence / source links:</a:t>
            </a:r>
          </a:p>
          <a:p>
            <a:r>
              <a:t>https://github.com/NoteLegend/devOps-TaskBoard/blob/main/docs/VERIFICATION.md</a:t>
            </a:r>
          </a:p>
          <a:p>
            <a:r>
              <a:t>https://github.com/NoteLegend/devOps-TaskBoard/blob/main/README.md</a:t>
            </a:r>
          </a:p>
          <a:p>
            <a:r>
              <a:t>https://github.com/NoteLegend/devOps-TaskBoard/blob/main/docs/ATTRIBUTION.md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rive.google.com/file/d/1ZSxd5RlMJAqJkvLA3E_098BrKF4OgJLT/view?usp=sharing" TargetMode="External"/><Relationship Id="rId3" Type="http://schemas.openxmlformats.org/officeDocument/2006/relationships/image" Target="../media/image1.png"/><Relationship Id="rId4" Type="http://schemas.openxmlformats.org/officeDocument/2006/relationships/hyperlink" Target="https://github.com/NoteLegend/devOps-TaskBoard/blob/main/images/aws-application-desktop.png" TargetMode="Externa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NoteLegend/devOps-TaskBoard/blob/main/images/README.md" TargetMode="External"/><Relationship Id="rId3" Type="http://schemas.openxmlformats.org/officeDocument/2006/relationships/image" Target="../media/image1.png"/><Relationship Id="rId4" Type="http://schemas.openxmlformats.org/officeDocument/2006/relationships/hyperlink" Target="https://github.com/NoteLegend/devOps-TaskBoard/blob/main/images/aws-application-desktop.png" TargetMode="Externa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NoteLegend/devOps-TaskBoard/blob/main/README.md" TargetMode="Externa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NoteLegend/devOps-TaskBoard/blob/main/docs/VERIFICATION.md" TargetMode="Externa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NoteLegend/devOps-TaskBoard/blob/main/images/local-compose-images-and-users.png" TargetMode="Externa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NoteLegend/devOps-TaskBoard/actions/runs/39583131700" TargetMode="External"/><Relationship Id="rId3" Type="http://schemas.openxmlformats.org/officeDocument/2006/relationships/image" Target="../media/image2.png"/><Relationship Id="rId4" Type="http://schemas.openxmlformats.org/officeDocument/2006/relationships/hyperlink" Target="https://github.com/NoteLegend/devOps-TaskBoard/blob/main/images/final/ci-security-release.png" TargetMode="Externa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NoteLegend/devOps-TaskBoard/actions/runs/39583131700" TargetMode="Externa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NoteLegend/devOps-TaskBoard/blob/main/docs/VERIFICATION.md" TargetMode="Externa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NoteLegend/devOps-TaskBoard/blob/main/images/aws-kubernetes-helm-ingress.png" TargetMode="External"/><Relationship Id="rId3" Type="http://schemas.openxmlformats.org/officeDocument/2006/relationships/image" Target="../media/image3.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NoteLegend/devOps-TaskBoard/blob/main/evidence/logs/gitops-final/summary.json" TargetMode="External"/><Relationship Id="rId3" Type="http://schemas.openxmlformats.org/officeDocument/2006/relationships/image" Target="../media/image4.png"/><Relationship Id="rId4" Type="http://schemas.openxmlformats.org/officeDocument/2006/relationships/hyperlink" Target="https://github.com/NoteLegend/devOps-TaskBoard/blob/main/images/final/gitops-verification.png" TargetMode="Externa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NoteLegend/devOps-TaskBoard/actions/runs/38955563228" TargetMode="External"/><Relationship Id="rId3" Type="http://schemas.openxmlformats.org/officeDocument/2006/relationships/image" Target="../media/image5.png"/><Relationship Id="rId4" Type="http://schemas.openxmlformats.org/officeDocument/2006/relationships/hyperlink" Target="https://github.com/NoteLegend/devOps-TaskBoard/blob/main/images/aws-live-update-before.png" TargetMode="External"/><Relationship Id="rId5" Type="http://schemas.openxmlformats.org/officeDocument/2006/relationships/image" Target="../media/image1.png"/><Relationship Id="rId6" Type="http://schemas.openxmlformats.org/officeDocument/2006/relationships/hyperlink" Target="https://github.com/NoteLegend/devOps-TaskBoard/blob/main/images/aws-live-update-after.png" TargetMode="Externa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NoteLegend/devOps-TaskBoard/blob/main/evidence/logs/aws-hpa-internal/frames.json" TargetMode="Externa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NoteLegend/devOps-TaskBoard/blob/main/images/aws-grafana-live-dashboard.png" TargetMode="External"/><Relationship Id="rId3" Type="http://schemas.openxmlformats.org/officeDocument/2006/relationships/image" Target="../media/image6.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NoteLegend/devOps-TaskBoard/blob/main/evidence/logs/aws-troubleshooting" TargetMode="Externa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NoteLegend/devOps-TaskBoard/blob/main/evidence/logs/aws-cleanup-verification.json" TargetMode="External"/><Relationship Id="rId3" Type="http://schemas.openxmlformats.org/officeDocument/2006/relationships/image" Target="../media/image7.png"/><Relationship Id="rId4" Type="http://schemas.openxmlformats.org/officeDocument/2006/relationships/hyperlink" Target="https://github.com/NoteLegend/devOps-TaskBoard/blob/main/images/aws-terraform-destroy-complete.png" TargetMode="Externa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NoteLegend/devOps-TaskBoard/blob/main/docs/VERIFICATION.md" TargetMode="External"/><Relationship Id="rId3" Type="http://schemas.openxmlformats.org/officeDocument/2006/relationships/hyperlink" Target="https://github.com/NoteLegend/devOps-TaskBoard" TargetMode="External"/><Relationship Id="rId4"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E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79400"/>
            <a:ext cx="4445000" cy="209804"/>
          </a:xfrm>
          <a:prstGeom prst="rect">
            <a:avLst/>
          </a:prstGeom>
          <a:noFill/>
        </p:spPr>
        <p:txBody>
          <a:bodyPr wrap="none" tIns="0" bIns="0" lIns="0" rIns="0" anchor="t">
            <a:spAutoFit/>
          </a:bodyPr>
          <a:lstStyle/>
          <a:p>
            <a:pPr>
              <a:lnSpc>
                <a:spcPts val="1152"/>
              </a:lnSpc>
              <a:spcBef>
                <a:spcPts val="0"/>
              </a:spcBef>
              <a:spcAft>
                <a:spcPts val="0"/>
              </a:spcAft>
            </a:pPr>
            <a:r>
              <a:rPr sz="900" b="1">
                <a:solidFill>
                  <a:srgbClr val="B7CAE1"/>
                </a:solidFill>
                <a:latin typeface="Noto Sans"/>
              </a:rPr>
              <a:t>RH / RELEASE HELPDESK</a:t>
            </a:r>
          </a:p>
        </p:txBody>
      </p:sp>
      <p:sp>
        <p:nvSpPr>
          <p:cNvPr id="4" name="TextBox 3"/>
          <p:cNvSpPr txBox="1"/>
          <p:nvPr/>
        </p:nvSpPr>
        <p:spPr>
          <a:xfrm>
            <a:off x="8763000" y="279400"/>
            <a:ext cx="2857500" cy="209804"/>
          </a:xfrm>
          <a:prstGeom prst="rect">
            <a:avLst/>
          </a:prstGeom>
          <a:noFill/>
        </p:spPr>
        <p:txBody>
          <a:bodyPr wrap="none" tIns="0" bIns="0" lIns="0" rIns="0" anchor="t">
            <a:spAutoFit/>
          </a:bodyPr>
          <a:lstStyle/>
          <a:p>
            <a:pPr>
              <a:lnSpc>
                <a:spcPts val="1152"/>
              </a:lnSpc>
              <a:spcBef>
                <a:spcPts val="0"/>
              </a:spcBef>
              <a:spcAft>
                <a:spcPts val="0"/>
              </a:spcAft>
            </a:pPr>
            <a:r>
              <a:rPr sz="900" b="1">
                <a:solidFill>
                  <a:srgbClr val="B7CAE1"/>
                </a:solidFill>
                <a:latin typeface="Noto Sans"/>
              </a:rPr>
              <a:t>PLATFORM WALKTHROUGH</a:t>
            </a:r>
          </a:p>
        </p:txBody>
      </p:sp>
      <p:sp>
        <p:nvSpPr>
          <p:cNvPr id="5" name="Rectangle 4"/>
          <p:cNvSpPr/>
          <p:nvPr/>
        </p:nvSpPr>
        <p:spPr>
          <a:xfrm>
            <a:off x="584200" y="660400"/>
            <a:ext cx="355600" cy="38100"/>
          </a:xfrm>
          <a:prstGeom prst="rect">
            <a:avLst/>
          </a:prstGeom>
          <a:solidFill>
            <a:srgbClr val="67D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84200" y="6438900"/>
            <a:ext cx="11023600" cy="0"/>
          </a:xfrm>
          <a:prstGeom prst="line">
            <a:avLst/>
          </a:prstGeom>
          <a:ln w="10160">
            <a:solidFill>
              <a:srgbClr val="2C405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84200" y="6578600"/>
            <a:ext cx="4572000" cy="193548"/>
          </a:xfrm>
          <a:prstGeom prst="rect">
            <a:avLst/>
          </a:prstGeom>
          <a:noFill/>
        </p:spPr>
        <p:txBody>
          <a:bodyPr wrap="none" tIns="0" bIns="0" lIns="0" rIns="0" anchor="t">
            <a:spAutoFit/>
          </a:bodyPr>
          <a:lstStyle/>
          <a:p>
            <a:pPr>
              <a:lnSpc>
                <a:spcPts val="1024"/>
              </a:lnSpc>
              <a:spcBef>
                <a:spcPts val="0"/>
              </a:spcBef>
              <a:spcAft>
                <a:spcPts val="0"/>
              </a:spcAft>
            </a:pPr>
            <a:r>
              <a:rPr sz="800" b="0">
                <a:solidFill>
                  <a:srgbClr val="B7CAE1"/>
                </a:solidFill>
                <a:latin typeface="Noto Sans"/>
              </a:rPr>
              <a:t>RELEASE ENGINEERING / PLATFORM WALKTHROUGH</a:t>
            </a:r>
          </a:p>
        </p:txBody>
      </p:sp>
      <p:sp>
        <p:nvSpPr>
          <p:cNvPr id="8" name="TextBox 7"/>
          <p:cNvSpPr txBox="1"/>
          <p:nvPr/>
        </p:nvSpPr>
        <p:spPr>
          <a:xfrm>
            <a:off x="10922000" y="6553200"/>
            <a:ext cx="736600" cy="209804"/>
          </a:xfrm>
          <a:prstGeom prst="rect">
            <a:avLst/>
          </a:prstGeom>
          <a:noFill/>
        </p:spPr>
        <p:txBody>
          <a:bodyPr wrap="none" tIns="0" bIns="0" lIns="0" rIns="0" anchor="t">
            <a:spAutoFit/>
          </a:bodyPr>
          <a:lstStyle/>
          <a:p>
            <a:pPr>
              <a:lnSpc>
                <a:spcPts val="1152"/>
              </a:lnSpc>
              <a:spcBef>
                <a:spcPts val="0"/>
              </a:spcBef>
              <a:spcAft>
                <a:spcPts val="0"/>
              </a:spcAft>
            </a:pPr>
            <a:r>
              <a:rPr sz="900" b="1">
                <a:solidFill>
                  <a:srgbClr val="B7CAE1"/>
                </a:solidFill>
                <a:latin typeface="Noto Sans"/>
              </a:rPr>
              <a:t>01 / 16</a:t>
            </a:r>
          </a:p>
        </p:txBody>
      </p:sp>
      <p:sp>
        <p:nvSpPr>
          <p:cNvPr id="9" name="Rounded Rectangle 8"/>
          <p:cNvSpPr/>
          <p:nvPr/>
        </p:nvSpPr>
        <p:spPr>
          <a:xfrm>
            <a:off x="584200" y="1079500"/>
            <a:ext cx="2755900" cy="317500"/>
          </a:xfrm>
          <a:prstGeom prst="roundRect">
            <a:avLst>
              <a:gd name="adj" fmla="val 20000"/>
            </a:avLst>
          </a:prstGeom>
          <a:solidFill>
            <a:srgbClr val="243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1200" y="1143000"/>
            <a:ext cx="2565400" cy="226060"/>
          </a:xfrm>
          <a:prstGeom prst="rect">
            <a:avLst/>
          </a:prstGeom>
          <a:noFill/>
        </p:spPr>
        <p:txBody>
          <a:bodyPr wrap="none" tIns="0" bIns="0" lIns="0" rIns="0" anchor="t">
            <a:spAutoFit/>
          </a:bodyPr>
          <a:lstStyle/>
          <a:p>
            <a:pPr>
              <a:lnSpc>
                <a:spcPts val="1280"/>
              </a:lnSpc>
              <a:spcBef>
                <a:spcPts val="0"/>
              </a:spcBef>
              <a:spcAft>
                <a:spcPts val="0"/>
              </a:spcAft>
            </a:pPr>
            <a:r>
              <a:rPr sz="1000" b="1">
                <a:solidFill>
                  <a:srgbClr val="67DBCC"/>
                </a:solidFill>
                <a:latin typeface="Noto Sans"/>
              </a:rPr>
              <a:t>BUILT · DEPLOYED · VERIFIED</a:t>
            </a:r>
          </a:p>
        </p:txBody>
      </p:sp>
      <p:sp>
        <p:nvSpPr>
          <p:cNvPr id="11" name="TextBox 10"/>
          <p:cNvSpPr txBox="1"/>
          <p:nvPr/>
        </p:nvSpPr>
        <p:spPr>
          <a:xfrm>
            <a:off x="584200" y="1701800"/>
            <a:ext cx="5588000" cy="1678939"/>
          </a:xfrm>
          <a:prstGeom prst="rect">
            <a:avLst/>
          </a:prstGeom>
          <a:noFill/>
        </p:spPr>
        <p:txBody>
          <a:bodyPr wrap="none" tIns="0" bIns="0" lIns="0" rIns="0" anchor="t">
            <a:spAutoFit/>
          </a:bodyPr>
          <a:lstStyle/>
          <a:p>
            <a:pPr>
              <a:lnSpc>
                <a:spcPts val="6360"/>
              </a:lnSpc>
              <a:spcBef>
                <a:spcPts val="0"/>
              </a:spcBef>
              <a:spcAft>
                <a:spcPts val="0"/>
              </a:spcAft>
            </a:pPr>
            <a:r>
              <a:rPr sz="6000" b="1">
                <a:solidFill>
                  <a:srgbClr val="FFFFFF"/>
                </a:solidFill>
                <a:latin typeface="Noto Sans"/>
              </a:rPr>
              <a:t>Release</a:t>
            </a:r>
          </a:p>
          <a:p>
            <a:pPr>
              <a:lnSpc>
                <a:spcPts val="6360"/>
              </a:lnSpc>
              <a:spcBef>
                <a:spcPts val="0"/>
              </a:spcBef>
              <a:spcAft>
                <a:spcPts val="0"/>
              </a:spcAft>
            </a:pPr>
            <a:r>
              <a:rPr sz="6000" b="1">
                <a:solidFill>
                  <a:srgbClr val="FFFFFF"/>
                </a:solidFill>
                <a:latin typeface="Noto Sans"/>
              </a:rPr>
              <a:t>Helpdesk</a:t>
            </a:r>
          </a:p>
        </p:txBody>
      </p:sp>
      <p:sp>
        <p:nvSpPr>
          <p:cNvPr id="12" name="TextBox 11"/>
          <p:cNvSpPr txBox="1"/>
          <p:nvPr/>
        </p:nvSpPr>
        <p:spPr>
          <a:xfrm>
            <a:off x="609600" y="3581400"/>
            <a:ext cx="5334000" cy="811276"/>
          </a:xfrm>
          <a:prstGeom prst="rect">
            <a:avLst/>
          </a:prstGeom>
          <a:noFill/>
        </p:spPr>
        <p:txBody>
          <a:bodyPr wrap="none" tIns="0" bIns="0" lIns="0" rIns="0" anchor="t">
            <a:spAutoFit/>
          </a:bodyPr>
          <a:lstStyle/>
          <a:p>
            <a:pPr>
              <a:lnSpc>
                <a:spcPts val="2944"/>
              </a:lnSpc>
              <a:spcBef>
                <a:spcPts val="0"/>
              </a:spcBef>
              <a:spcAft>
                <a:spcPts val="0"/>
              </a:spcAft>
            </a:pPr>
            <a:r>
              <a:rPr sz="2300" b="0">
                <a:solidFill>
                  <a:srgbClr val="B7CAE1"/>
                </a:solidFill>
                <a:latin typeface="Noto Sans"/>
              </a:rPr>
              <a:t>From Git commit to</a:t>
            </a:r>
          </a:p>
          <a:p>
            <a:pPr>
              <a:lnSpc>
                <a:spcPts val="2944"/>
              </a:lnSpc>
              <a:spcBef>
                <a:spcPts val="0"/>
              </a:spcBef>
              <a:spcAft>
                <a:spcPts val="0"/>
              </a:spcAft>
            </a:pPr>
            <a:r>
              <a:rPr sz="2300" b="0">
                <a:solidFill>
                  <a:srgbClr val="B7CAE1"/>
                </a:solidFill>
                <a:latin typeface="Noto Sans"/>
              </a:rPr>
              <a:t>monitored Kubernetes.</a:t>
            </a:r>
          </a:p>
        </p:txBody>
      </p:sp>
      <p:sp>
        <p:nvSpPr>
          <p:cNvPr id="13" name="TextBox 12"/>
          <p:cNvSpPr txBox="1"/>
          <p:nvPr/>
        </p:nvSpPr>
        <p:spPr>
          <a:xfrm>
            <a:off x="609600" y="4699000"/>
            <a:ext cx="5334000" cy="356108"/>
          </a:xfrm>
          <a:prstGeom prst="rect">
            <a:avLst/>
          </a:prstGeom>
          <a:noFill/>
        </p:spPr>
        <p:txBody>
          <a:bodyPr wrap="none" tIns="0" bIns="0" lIns="0" rIns="0" anchor="t">
            <a:spAutoFit/>
          </a:bodyPr>
          <a:lstStyle/>
          <a:p>
            <a:pPr>
              <a:lnSpc>
                <a:spcPts val="2304"/>
              </a:lnSpc>
              <a:spcBef>
                <a:spcPts val="0"/>
              </a:spcBef>
              <a:spcAft>
                <a:spcPts val="0"/>
              </a:spcAft>
            </a:pPr>
            <a:r>
              <a:rPr sz="1800" b="1">
                <a:solidFill>
                  <a:srgbClr val="FFFFFF"/>
                </a:solidFill>
                <a:latin typeface="Noto Sans"/>
              </a:rPr>
              <a:t>End-to-end release engineering</a:t>
            </a:r>
          </a:p>
        </p:txBody>
      </p:sp>
      <p:sp>
        <p:nvSpPr>
          <p:cNvPr id="14" name="TextBox 13"/>
          <p:cNvSpPr txBox="1"/>
          <p:nvPr/>
        </p:nvSpPr>
        <p:spPr>
          <a:xfrm>
            <a:off x="609600" y="5092700"/>
            <a:ext cx="5207000" cy="242315"/>
          </a:xfrm>
          <a:prstGeom prst="rect">
            <a:avLst/>
          </a:prstGeom>
          <a:noFill/>
        </p:spPr>
        <p:txBody>
          <a:bodyPr wrap="none" tIns="0" bIns="0" lIns="0" rIns="0" anchor="t">
            <a:spAutoFit/>
          </a:bodyPr>
          <a:lstStyle/>
          <a:p>
            <a:pPr>
              <a:lnSpc>
                <a:spcPts val="1408"/>
              </a:lnSpc>
              <a:spcBef>
                <a:spcPts val="0"/>
              </a:spcBef>
              <a:spcAft>
                <a:spcPts val="0"/>
              </a:spcAft>
            </a:pPr>
            <a:r>
              <a:rPr sz="1100" b="0">
                <a:solidFill>
                  <a:srgbClr val="B7CAE1"/>
                </a:solidFill>
                <a:latin typeface="Noto Sans"/>
              </a:rPr>
              <a:t>React · FastAPI · PostgreSQL · October 2026</a:t>
            </a:r>
          </a:p>
        </p:txBody>
      </p:sp>
      <p:sp>
        <p:nvSpPr>
          <p:cNvPr id="15" name="Rounded Rectangle 14"/>
          <p:cNvSpPr/>
          <p:nvPr/>
        </p:nvSpPr>
        <p:spPr>
          <a:xfrm>
            <a:off x="609600" y="5626100"/>
            <a:ext cx="3276600" cy="393700"/>
          </a:xfrm>
          <a:prstGeom prst="roundRect">
            <a:avLst>
              <a:gd name="adj" fmla="val 16129"/>
            </a:avLst>
          </a:prstGeom>
          <a:solidFill>
            <a:srgbClr val="24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2000" y="5727700"/>
            <a:ext cx="2971800" cy="226060"/>
          </a:xfrm>
          <a:prstGeom prst="rect">
            <a:avLst/>
          </a:prstGeom>
          <a:noFill/>
        </p:spPr>
        <p:txBody>
          <a:bodyPr wrap="none" tIns="0" bIns="0" lIns="0" rIns="0" anchor="t">
            <a:spAutoFit/>
          </a:bodyPr>
          <a:lstStyle/>
          <a:p>
            <a:pPr>
              <a:lnSpc>
                <a:spcPts val="1280"/>
              </a:lnSpc>
              <a:spcBef>
                <a:spcPts val="0"/>
              </a:spcBef>
              <a:spcAft>
                <a:spcPts val="0"/>
              </a:spcAft>
            </a:pPr>
            <a:r>
              <a:rPr sz="1000" b="1">
                <a:solidFill>
                  <a:srgbClr val="FFFFFF"/>
                </a:solidFill>
                <a:latin typeface="Noto Sans"/>
                <a:hlinkClick r:id="rId2"/>
              </a:rPr>
              <a:t>WATCH THE RECORDED DEMO</a:t>
            </a:r>
          </a:p>
        </p:txBody>
      </p:sp>
      <p:sp>
        <p:nvSpPr>
          <p:cNvPr id="17" name="Rounded Rectangle 16"/>
          <p:cNvSpPr/>
          <p:nvPr/>
        </p:nvSpPr>
        <p:spPr>
          <a:xfrm>
            <a:off x="6464300" y="1524000"/>
            <a:ext cx="5143500" cy="3441700"/>
          </a:xfrm>
          <a:prstGeom prst="roundRect">
            <a:avLst>
              <a:gd name="adj" fmla="val 1107"/>
            </a:avLst>
          </a:prstGeom>
          <a:solidFill>
            <a:srgbClr val="FFFFFF"/>
          </a:solidFill>
          <a:ln w="889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aws-application-desktop.png">
            <a:hlinkClick r:id="rId4"/>
          </p:cNvPr>
          <p:cNvPicPr>
            <a:picLocks noChangeAspect="1"/>
          </p:cNvPicPr>
          <p:nvPr/>
        </p:nvPicPr>
        <p:blipFill>
          <a:blip r:embed="rId3"/>
          <a:stretch>
            <a:fillRect/>
          </a:stretch>
        </p:blipFill>
        <p:spPr>
          <a:xfrm>
            <a:off x="6477000" y="1538816"/>
            <a:ext cx="5118100" cy="3412066"/>
          </a:xfrm>
          <a:prstGeom prst="rect">
            <a:avLst/>
          </a:prstGeom>
        </p:spPr>
      </p:pic>
      <p:sp>
        <p:nvSpPr>
          <p:cNvPr id="19" name="TextBox 18"/>
          <p:cNvSpPr txBox="1"/>
          <p:nvPr/>
        </p:nvSpPr>
        <p:spPr>
          <a:xfrm>
            <a:off x="6477000" y="5118100"/>
            <a:ext cx="5118100" cy="193548"/>
          </a:xfrm>
          <a:prstGeom prst="rect">
            <a:avLst/>
          </a:prstGeom>
          <a:noFill/>
        </p:spPr>
        <p:txBody>
          <a:bodyPr wrap="none" tIns="0" bIns="0" lIns="0" rIns="0" anchor="t">
            <a:spAutoFit/>
          </a:bodyPr>
          <a:lstStyle/>
          <a:p>
            <a:pPr>
              <a:lnSpc>
                <a:spcPts val="1024"/>
              </a:lnSpc>
              <a:spcBef>
                <a:spcPts val="0"/>
              </a:spcBef>
              <a:spcAft>
                <a:spcPts val="0"/>
              </a:spcAft>
            </a:pPr>
            <a:r>
              <a:rPr sz="800" b="1">
                <a:solidFill>
                  <a:srgbClr val="B7CAE1"/>
                </a:solidFill>
                <a:latin typeface="Noto Sans"/>
              </a:rPr>
              <a:t>ACTUAL AWS APPLICATION · CAPTURED 16 OCT 2026</a:t>
            </a:r>
          </a:p>
        </p:txBody>
      </p:sp>
      <p:sp>
        <p:nvSpPr>
          <p:cNvPr id="20" name="TextBox 19"/>
          <p:cNvSpPr txBox="1"/>
          <p:nvPr/>
        </p:nvSpPr>
        <p:spPr>
          <a:xfrm>
            <a:off x="6477000" y="5524500"/>
            <a:ext cx="1587500" cy="437388"/>
          </a:xfrm>
          <a:prstGeom prst="rect">
            <a:avLst/>
          </a:prstGeom>
          <a:noFill/>
        </p:spPr>
        <p:txBody>
          <a:bodyPr wrap="none" tIns="0" bIns="0" lIns="0" rIns="0" anchor="t">
            <a:spAutoFit/>
          </a:bodyPr>
          <a:lstStyle/>
          <a:p>
            <a:pPr>
              <a:lnSpc>
                <a:spcPts val="2944"/>
              </a:lnSpc>
              <a:spcBef>
                <a:spcPts val="0"/>
              </a:spcBef>
              <a:spcAft>
                <a:spcPts val="0"/>
              </a:spcAft>
            </a:pPr>
            <a:r>
              <a:rPr sz="2300" b="1">
                <a:solidFill>
                  <a:srgbClr val="67DBCC"/>
                </a:solidFill>
                <a:latin typeface="Noto Sans"/>
              </a:rPr>
              <a:t>19</a:t>
            </a:r>
          </a:p>
        </p:txBody>
      </p:sp>
      <p:sp>
        <p:nvSpPr>
          <p:cNvPr id="21" name="TextBox 20"/>
          <p:cNvSpPr txBox="1"/>
          <p:nvPr/>
        </p:nvSpPr>
        <p:spPr>
          <a:xfrm>
            <a:off x="6477000" y="5905500"/>
            <a:ext cx="1778000" cy="226060"/>
          </a:xfrm>
          <a:prstGeom prst="rect">
            <a:avLst/>
          </a:prstGeom>
          <a:noFill/>
        </p:spPr>
        <p:txBody>
          <a:bodyPr wrap="none" tIns="0" bIns="0" lIns="0" rIns="0" anchor="t">
            <a:spAutoFit/>
          </a:bodyPr>
          <a:lstStyle/>
          <a:p>
            <a:pPr>
              <a:lnSpc>
                <a:spcPts val="1280"/>
              </a:lnSpc>
              <a:spcBef>
                <a:spcPts val="0"/>
              </a:spcBef>
              <a:spcAft>
                <a:spcPts val="0"/>
              </a:spcAft>
            </a:pPr>
            <a:r>
              <a:rPr sz="1000" b="0">
                <a:solidFill>
                  <a:srgbClr val="B7CAE1"/>
                </a:solidFill>
                <a:latin typeface="Noto Sans"/>
              </a:rPr>
              <a:t>API test cases</a:t>
            </a:r>
          </a:p>
        </p:txBody>
      </p:sp>
      <p:sp>
        <p:nvSpPr>
          <p:cNvPr id="22" name="TextBox 21"/>
          <p:cNvSpPr txBox="1"/>
          <p:nvPr/>
        </p:nvSpPr>
        <p:spPr>
          <a:xfrm>
            <a:off x="8255000" y="5524500"/>
            <a:ext cx="1905000" cy="437388"/>
          </a:xfrm>
          <a:prstGeom prst="rect">
            <a:avLst/>
          </a:prstGeom>
          <a:noFill/>
        </p:spPr>
        <p:txBody>
          <a:bodyPr wrap="none" tIns="0" bIns="0" lIns="0" rIns="0" anchor="t">
            <a:spAutoFit/>
          </a:bodyPr>
          <a:lstStyle/>
          <a:p>
            <a:pPr>
              <a:lnSpc>
                <a:spcPts val="2944"/>
              </a:lnSpc>
              <a:spcBef>
                <a:spcPts val="0"/>
              </a:spcBef>
              <a:spcAft>
                <a:spcPts val="0"/>
              </a:spcAft>
            </a:pPr>
            <a:r>
              <a:rPr sz="2300" b="1">
                <a:solidFill>
                  <a:srgbClr val="67DBCC"/>
                </a:solidFill>
                <a:latin typeface="Noto Sans"/>
              </a:rPr>
              <a:t>2 </a:t>
            </a:r>
            <a:r>
              <a:rPr sz="2300" b="1">
                <a:solidFill>
                  <a:srgbClr val="67DBCC"/>
                </a:solidFill>
                <a:latin typeface="DejaVu Sans"/>
              </a:rPr>
              <a:t>→</a:t>
            </a:r>
            <a:r>
              <a:rPr sz="2300" b="1">
                <a:solidFill>
                  <a:srgbClr val="67DBCC"/>
                </a:solidFill>
                <a:latin typeface="Noto Sans"/>
              </a:rPr>
              <a:t> 4 </a:t>
            </a:r>
            <a:r>
              <a:rPr sz="2300" b="1">
                <a:solidFill>
                  <a:srgbClr val="67DBCC"/>
                </a:solidFill>
                <a:latin typeface="DejaVu Sans"/>
              </a:rPr>
              <a:t>→</a:t>
            </a:r>
            <a:r>
              <a:rPr sz="2300" b="1">
                <a:solidFill>
                  <a:srgbClr val="67DBCC"/>
                </a:solidFill>
                <a:latin typeface="Noto Sans"/>
              </a:rPr>
              <a:t> 2</a:t>
            </a:r>
          </a:p>
        </p:txBody>
      </p:sp>
      <p:sp>
        <p:nvSpPr>
          <p:cNvPr id="23" name="TextBox 22"/>
          <p:cNvSpPr txBox="1"/>
          <p:nvPr/>
        </p:nvSpPr>
        <p:spPr>
          <a:xfrm>
            <a:off x="8255000" y="5905500"/>
            <a:ext cx="1778000" cy="226060"/>
          </a:xfrm>
          <a:prstGeom prst="rect">
            <a:avLst/>
          </a:prstGeom>
          <a:noFill/>
        </p:spPr>
        <p:txBody>
          <a:bodyPr wrap="none" tIns="0" bIns="0" lIns="0" rIns="0" anchor="t">
            <a:spAutoFit/>
          </a:bodyPr>
          <a:lstStyle/>
          <a:p>
            <a:pPr>
              <a:lnSpc>
                <a:spcPts val="1280"/>
              </a:lnSpc>
              <a:spcBef>
                <a:spcPts val="0"/>
              </a:spcBef>
              <a:spcAft>
                <a:spcPts val="0"/>
              </a:spcAft>
            </a:pPr>
            <a:r>
              <a:rPr sz="1000" b="0">
                <a:solidFill>
                  <a:srgbClr val="B7CAE1"/>
                </a:solidFill>
                <a:latin typeface="Noto Sans"/>
              </a:rPr>
              <a:t>Ready replicas</a:t>
            </a:r>
          </a:p>
        </p:txBody>
      </p:sp>
      <p:sp>
        <p:nvSpPr>
          <p:cNvPr id="24" name="TextBox 23"/>
          <p:cNvSpPr txBox="1"/>
          <p:nvPr/>
        </p:nvSpPr>
        <p:spPr>
          <a:xfrm>
            <a:off x="10312400" y="5524500"/>
            <a:ext cx="1295400" cy="437388"/>
          </a:xfrm>
          <a:prstGeom prst="rect">
            <a:avLst/>
          </a:prstGeom>
          <a:noFill/>
        </p:spPr>
        <p:txBody>
          <a:bodyPr wrap="none" tIns="0" bIns="0" lIns="0" rIns="0" anchor="t">
            <a:spAutoFit/>
          </a:bodyPr>
          <a:lstStyle/>
          <a:p>
            <a:pPr>
              <a:lnSpc>
                <a:spcPts val="2944"/>
              </a:lnSpc>
              <a:spcBef>
                <a:spcPts val="0"/>
              </a:spcBef>
              <a:spcAft>
                <a:spcPts val="0"/>
              </a:spcAft>
            </a:pPr>
            <a:r>
              <a:rPr sz="2300" b="1">
                <a:solidFill>
                  <a:srgbClr val="67DBCC"/>
                </a:solidFill>
                <a:latin typeface="Noto Sans"/>
              </a:rPr>
              <a:t>66</a:t>
            </a:r>
          </a:p>
        </p:txBody>
      </p:sp>
      <p:sp>
        <p:nvSpPr>
          <p:cNvPr id="25" name="TextBox 24"/>
          <p:cNvSpPr txBox="1"/>
          <p:nvPr/>
        </p:nvSpPr>
        <p:spPr>
          <a:xfrm>
            <a:off x="10312400" y="5905500"/>
            <a:ext cx="1778000" cy="226060"/>
          </a:xfrm>
          <a:prstGeom prst="rect">
            <a:avLst/>
          </a:prstGeom>
          <a:noFill/>
        </p:spPr>
        <p:txBody>
          <a:bodyPr wrap="none" tIns="0" bIns="0" lIns="0" rIns="0" anchor="t">
            <a:spAutoFit/>
          </a:bodyPr>
          <a:lstStyle/>
          <a:p>
            <a:pPr>
              <a:lnSpc>
                <a:spcPts val="1280"/>
              </a:lnSpc>
              <a:spcBef>
                <a:spcPts val="0"/>
              </a:spcBef>
              <a:spcAft>
                <a:spcPts val="0"/>
              </a:spcAft>
            </a:pPr>
            <a:r>
              <a:rPr sz="1000" b="0">
                <a:solidFill>
                  <a:srgbClr val="B7CAE1"/>
                </a:solidFill>
                <a:latin typeface="Noto Sans"/>
              </a:rPr>
              <a:t>IaC resources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79400"/>
            <a:ext cx="4445000" cy="209804"/>
          </a:xfrm>
          <a:prstGeom prst="rect">
            <a:avLst/>
          </a:prstGeom>
          <a:noFill/>
        </p:spPr>
        <p:txBody>
          <a:bodyPr wrap="none" tIns="0" bIns="0" lIns="0" rIns="0" anchor="t">
            <a:spAutoFit/>
          </a:bodyPr>
          <a:lstStyle/>
          <a:p>
            <a:pPr>
              <a:lnSpc>
                <a:spcPts val="1152"/>
              </a:lnSpc>
              <a:spcBef>
                <a:spcPts val="0"/>
              </a:spcBef>
              <a:spcAft>
                <a:spcPts val="0"/>
              </a:spcAft>
            </a:pPr>
            <a:r>
              <a:rPr sz="900" b="1">
                <a:solidFill>
                  <a:srgbClr val="596C80"/>
                </a:solidFill>
                <a:latin typeface="Noto Sans"/>
              </a:rPr>
              <a:t>RH / RELEASE HELPDESK</a:t>
            </a:r>
          </a:p>
        </p:txBody>
      </p:sp>
      <p:sp>
        <p:nvSpPr>
          <p:cNvPr id="4" name="TextBox 3"/>
          <p:cNvSpPr txBox="1"/>
          <p:nvPr/>
        </p:nvSpPr>
        <p:spPr>
          <a:xfrm>
            <a:off x="8763000" y="279400"/>
            <a:ext cx="2857500" cy="209804"/>
          </a:xfrm>
          <a:prstGeom prst="rect">
            <a:avLst/>
          </a:prstGeom>
          <a:noFill/>
        </p:spPr>
        <p:txBody>
          <a:bodyPr wrap="none" tIns="0" bIns="0" lIns="0" rIns="0" anchor="t">
            <a:spAutoFit/>
          </a:bodyPr>
          <a:lstStyle/>
          <a:p>
            <a:pPr>
              <a:lnSpc>
                <a:spcPts val="1152"/>
              </a:lnSpc>
              <a:spcBef>
                <a:spcPts val="0"/>
              </a:spcBef>
              <a:spcAft>
                <a:spcPts val="0"/>
              </a:spcAft>
            </a:pPr>
            <a:r>
              <a:rPr sz="900" b="1">
                <a:solidFill>
                  <a:srgbClr val="596C80"/>
                </a:solidFill>
                <a:latin typeface="Noto Sans"/>
              </a:rPr>
              <a:t>01 / APPLICATION</a:t>
            </a:r>
          </a:p>
        </p:txBody>
      </p:sp>
      <p:sp>
        <p:nvSpPr>
          <p:cNvPr id="5" name="Rectangle 4"/>
          <p:cNvSpPr/>
          <p:nvPr/>
        </p:nvSpPr>
        <p:spPr>
          <a:xfrm>
            <a:off x="584200" y="660400"/>
            <a:ext cx="355600" cy="38100"/>
          </a:xfrm>
          <a:prstGeom prst="rect">
            <a:avLst/>
          </a:prstGeom>
          <a:solidFill>
            <a:srgbClr val="24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84200" y="876300"/>
            <a:ext cx="11049000" cy="508380"/>
          </a:xfrm>
          <a:prstGeom prst="rect">
            <a:avLst/>
          </a:prstGeom>
          <a:noFill/>
        </p:spPr>
        <p:txBody>
          <a:bodyPr wrap="none" tIns="0" bIns="0" lIns="0" rIns="0" anchor="t">
            <a:spAutoFit/>
          </a:bodyPr>
          <a:lstStyle/>
          <a:p>
            <a:pPr>
              <a:lnSpc>
                <a:spcPts val="3502"/>
              </a:lnSpc>
              <a:spcBef>
                <a:spcPts val="0"/>
              </a:spcBef>
              <a:spcAft>
                <a:spcPts val="0"/>
              </a:spcAft>
            </a:pPr>
            <a:r>
              <a:rPr sz="3100" b="1">
                <a:solidFill>
                  <a:srgbClr val="15243A"/>
                </a:solidFill>
                <a:latin typeface="Noto Sans"/>
              </a:rPr>
              <a:t>A focused desk for release operations.</a:t>
            </a:r>
          </a:p>
        </p:txBody>
      </p:sp>
      <p:sp>
        <p:nvSpPr>
          <p:cNvPr id="7" name="TextBox 6"/>
          <p:cNvSpPr txBox="1"/>
          <p:nvPr/>
        </p:nvSpPr>
        <p:spPr>
          <a:xfrm>
            <a:off x="584200" y="1473200"/>
            <a:ext cx="10985500" cy="258572"/>
          </a:xfrm>
          <a:prstGeom prst="rect">
            <a:avLst/>
          </a:prstGeom>
          <a:noFill/>
        </p:spPr>
        <p:txBody>
          <a:bodyPr wrap="none" tIns="0" bIns="0" lIns="0" rIns="0" anchor="t">
            <a:spAutoFit/>
          </a:bodyPr>
          <a:lstStyle/>
          <a:p>
            <a:pPr>
              <a:lnSpc>
                <a:spcPts val="1536"/>
              </a:lnSpc>
              <a:spcBef>
                <a:spcPts val="0"/>
              </a:spcBef>
              <a:spcAft>
                <a:spcPts val="0"/>
              </a:spcAft>
            </a:pPr>
            <a:r>
              <a:rPr sz="1200" b="0">
                <a:solidFill>
                  <a:srgbClr val="596C80"/>
                </a:solidFill>
                <a:latin typeface="Noto Sans"/>
              </a:rPr>
              <a:t>Capture the incident, assign an owner, and move the next release forward.</a:t>
            </a:r>
          </a:p>
        </p:txBody>
      </p:sp>
      <p:cxnSp>
        <p:nvCxnSpPr>
          <p:cNvPr id="8" name="Connector 7"/>
          <p:cNvCxnSpPr/>
          <p:nvPr/>
        </p:nvCxnSpPr>
        <p:spPr>
          <a:xfrm>
            <a:off x="584200" y="6438900"/>
            <a:ext cx="11023600" cy="0"/>
          </a:xfrm>
          <a:prstGeom prst="line">
            <a:avLst/>
          </a:prstGeom>
          <a:ln w="10160">
            <a:solidFill>
              <a:srgbClr val="DCE4ED"/>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84200" y="6578600"/>
            <a:ext cx="4572000" cy="193548"/>
          </a:xfrm>
          <a:prstGeom prst="rect">
            <a:avLst/>
          </a:prstGeom>
          <a:noFill/>
        </p:spPr>
        <p:txBody>
          <a:bodyPr wrap="none" tIns="0" bIns="0" lIns="0" rIns="0" anchor="t">
            <a:spAutoFit/>
          </a:bodyPr>
          <a:lstStyle/>
          <a:p>
            <a:pPr>
              <a:lnSpc>
                <a:spcPts val="1024"/>
              </a:lnSpc>
              <a:spcBef>
                <a:spcPts val="0"/>
              </a:spcBef>
              <a:spcAft>
                <a:spcPts val="0"/>
              </a:spcAft>
            </a:pPr>
            <a:r>
              <a:rPr sz="800" b="0">
                <a:solidFill>
                  <a:srgbClr val="596C80"/>
                </a:solidFill>
                <a:latin typeface="Noto Sans"/>
              </a:rPr>
              <a:t>RELEASE ENGINEERING / PLATFORM WALKTHROUGH</a:t>
            </a:r>
          </a:p>
        </p:txBody>
      </p:sp>
      <p:sp>
        <p:nvSpPr>
          <p:cNvPr id="10" name="TextBox 9"/>
          <p:cNvSpPr txBox="1"/>
          <p:nvPr/>
        </p:nvSpPr>
        <p:spPr>
          <a:xfrm>
            <a:off x="10922000" y="6553200"/>
            <a:ext cx="736600" cy="209804"/>
          </a:xfrm>
          <a:prstGeom prst="rect">
            <a:avLst/>
          </a:prstGeom>
          <a:noFill/>
        </p:spPr>
        <p:txBody>
          <a:bodyPr wrap="none" tIns="0" bIns="0" lIns="0" rIns="0" anchor="t">
            <a:spAutoFit/>
          </a:bodyPr>
          <a:lstStyle/>
          <a:p>
            <a:pPr>
              <a:lnSpc>
                <a:spcPts val="1152"/>
              </a:lnSpc>
              <a:spcBef>
                <a:spcPts val="0"/>
              </a:spcBef>
              <a:spcAft>
                <a:spcPts val="0"/>
              </a:spcAft>
            </a:pPr>
            <a:r>
              <a:rPr sz="900" b="1">
                <a:solidFill>
                  <a:srgbClr val="596C80"/>
                </a:solidFill>
                <a:latin typeface="Noto Sans"/>
              </a:rPr>
              <a:t>02 / 16</a:t>
            </a:r>
          </a:p>
        </p:txBody>
      </p:sp>
      <p:sp>
        <p:nvSpPr>
          <p:cNvPr id="11" name="TextBox 10"/>
          <p:cNvSpPr txBox="1"/>
          <p:nvPr/>
        </p:nvSpPr>
        <p:spPr>
          <a:xfrm>
            <a:off x="584200" y="6210300"/>
            <a:ext cx="10414000" cy="193548"/>
          </a:xfrm>
          <a:prstGeom prst="rect">
            <a:avLst/>
          </a:prstGeom>
          <a:noFill/>
        </p:spPr>
        <p:txBody>
          <a:bodyPr wrap="none" tIns="0" bIns="0" lIns="0" rIns="0" anchor="t">
            <a:spAutoFit/>
          </a:bodyPr>
          <a:lstStyle/>
          <a:p>
            <a:pPr>
              <a:lnSpc>
                <a:spcPts val="1024"/>
              </a:lnSpc>
              <a:spcBef>
                <a:spcPts val="0"/>
              </a:spcBef>
              <a:spcAft>
                <a:spcPts val="0"/>
              </a:spcAft>
            </a:pPr>
            <a:r>
              <a:rPr sz="800" b="0">
                <a:solidFill>
                  <a:srgbClr val="596C80"/>
                </a:solidFill>
                <a:latin typeface="Noto Sans"/>
                <a:hlinkClick r:id="rId2"/>
              </a:rPr>
              <a:t>Evidence · Real AWS browser walkthrough and responsive UI</a:t>
            </a:r>
          </a:p>
        </p:txBody>
      </p:sp>
      <p:sp>
        <p:nvSpPr>
          <p:cNvPr id="12" name="Rounded Rectangle 11"/>
          <p:cNvSpPr/>
          <p:nvPr/>
        </p:nvSpPr>
        <p:spPr>
          <a:xfrm>
            <a:off x="571500" y="1981200"/>
            <a:ext cx="7340600" cy="3962400"/>
          </a:xfrm>
          <a:prstGeom prst="roundRect">
            <a:avLst>
              <a:gd name="adj" fmla="val 961"/>
            </a:avLst>
          </a:prstGeom>
          <a:solidFill>
            <a:srgbClr val="FFFFFF"/>
          </a:solidFill>
          <a:ln w="889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aws-application-desktop.png">
            <a:hlinkClick r:id="rId4"/>
          </p:cNvPr>
          <p:cNvPicPr>
            <a:picLocks noChangeAspect="1"/>
          </p:cNvPicPr>
          <p:nvPr/>
        </p:nvPicPr>
        <p:blipFill>
          <a:blip r:embed="rId3"/>
          <a:stretch>
            <a:fillRect/>
          </a:stretch>
        </p:blipFill>
        <p:spPr>
          <a:xfrm>
            <a:off x="1289050" y="1993900"/>
            <a:ext cx="5905500" cy="3937000"/>
          </a:xfrm>
          <a:prstGeom prst="rect">
            <a:avLst/>
          </a:prstGeom>
        </p:spPr>
      </p:pic>
      <p:sp>
        <p:nvSpPr>
          <p:cNvPr id="14" name="TextBox 13"/>
          <p:cNvSpPr txBox="1"/>
          <p:nvPr/>
        </p:nvSpPr>
        <p:spPr>
          <a:xfrm>
            <a:off x="584200" y="6019800"/>
            <a:ext cx="7315200" cy="209804"/>
          </a:xfrm>
          <a:prstGeom prst="rect">
            <a:avLst/>
          </a:prstGeom>
          <a:noFill/>
        </p:spPr>
        <p:txBody>
          <a:bodyPr wrap="none" tIns="0" bIns="0" lIns="0" rIns="0" anchor="t">
            <a:spAutoFit/>
          </a:bodyPr>
          <a:lstStyle/>
          <a:p>
            <a:pPr>
              <a:lnSpc>
                <a:spcPts val="1152"/>
              </a:lnSpc>
              <a:spcBef>
                <a:spcPts val="0"/>
              </a:spcBef>
              <a:spcAft>
                <a:spcPts val="0"/>
              </a:spcAft>
            </a:pPr>
            <a:r>
              <a:rPr sz="900" b="0">
                <a:solidFill>
                  <a:srgbClr val="596C80"/>
                </a:solidFill>
                <a:latin typeface="Noto Sans"/>
              </a:rPr>
              <a:t>Actual application through AWS ALB · full original screenshot</a:t>
            </a:r>
          </a:p>
        </p:txBody>
      </p:sp>
      <p:sp>
        <p:nvSpPr>
          <p:cNvPr id="15" name="TextBox 14"/>
          <p:cNvSpPr txBox="1"/>
          <p:nvPr/>
        </p:nvSpPr>
        <p:spPr>
          <a:xfrm>
            <a:off x="8305800" y="2082800"/>
            <a:ext cx="381000" cy="258572"/>
          </a:xfrm>
          <a:prstGeom prst="rect">
            <a:avLst/>
          </a:prstGeom>
          <a:noFill/>
        </p:spPr>
        <p:txBody>
          <a:bodyPr wrap="none" tIns="0" bIns="0" lIns="0" rIns="0" anchor="t">
            <a:spAutoFit/>
          </a:bodyPr>
          <a:lstStyle/>
          <a:p>
            <a:pPr>
              <a:lnSpc>
                <a:spcPts val="1536"/>
              </a:lnSpc>
              <a:spcBef>
                <a:spcPts val="0"/>
              </a:spcBef>
              <a:spcAft>
                <a:spcPts val="0"/>
              </a:spcAft>
            </a:pPr>
            <a:r>
              <a:rPr sz="1200" b="1">
                <a:solidFill>
                  <a:srgbClr val="087F76"/>
                </a:solidFill>
                <a:latin typeface="Noto Sans"/>
              </a:rPr>
              <a:t>01</a:t>
            </a:r>
          </a:p>
        </p:txBody>
      </p:sp>
      <p:sp>
        <p:nvSpPr>
          <p:cNvPr id="16" name="TextBox 15"/>
          <p:cNvSpPr txBox="1"/>
          <p:nvPr/>
        </p:nvSpPr>
        <p:spPr>
          <a:xfrm>
            <a:off x="8788400" y="2044700"/>
            <a:ext cx="2857500" cy="339852"/>
          </a:xfrm>
          <a:prstGeom prst="rect">
            <a:avLst/>
          </a:prstGeom>
          <a:noFill/>
        </p:spPr>
        <p:txBody>
          <a:bodyPr wrap="none" tIns="0" bIns="0" lIns="0" rIns="0" anchor="t">
            <a:spAutoFit/>
          </a:bodyPr>
          <a:lstStyle/>
          <a:p>
            <a:pPr>
              <a:lnSpc>
                <a:spcPts val="2176"/>
              </a:lnSpc>
              <a:spcBef>
                <a:spcPts val="0"/>
              </a:spcBef>
              <a:spcAft>
                <a:spcPts val="0"/>
              </a:spcAft>
            </a:pPr>
            <a:r>
              <a:rPr sz="1700" b="1">
                <a:solidFill>
                  <a:srgbClr val="15243A"/>
                </a:solidFill>
                <a:latin typeface="Noto Sans"/>
              </a:rPr>
              <a:t>Capture</a:t>
            </a:r>
          </a:p>
        </p:txBody>
      </p:sp>
      <p:sp>
        <p:nvSpPr>
          <p:cNvPr id="17" name="TextBox 16"/>
          <p:cNvSpPr txBox="1"/>
          <p:nvPr/>
        </p:nvSpPr>
        <p:spPr>
          <a:xfrm>
            <a:off x="8788400" y="2400300"/>
            <a:ext cx="2857500" cy="486156"/>
          </a:xfrm>
          <a:prstGeom prst="rect">
            <a:avLst/>
          </a:prstGeom>
          <a:noFill/>
        </p:spPr>
        <p:txBody>
          <a:bodyPr wrap="none" tIns="0" bIns="0" lIns="0" rIns="0" anchor="t">
            <a:spAutoFit/>
          </a:bodyPr>
          <a:lstStyle/>
          <a:p>
            <a:pPr>
              <a:lnSpc>
                <a:spcPts val="1664"/>
              </a:lnSpc>
              <a:spcBef>
                <a:spcPts val="0"/>
              </a:spcBef>
              <a:spcAft>
                <a:spcPts val="0"/>
              </a:spcAft>
            </a:pPr>
            <a:r>
              <a:rPr sz="1300" b="0">
                <a:solidFill>
                  <a:srgbClr val="596C80"/>
                </a:solidFill>
                <a:latin typeface="Noto Sans"/>
              </a:rPr>
              <a:t>Create a release ticket with context,</a:t>
            </a:r>
          </a:p>
          <a:p>
            <a:pPr>
              <a:lnSpc>
                <a:spcPts val="1664"/>
              </a:lnSpc>
              <a:spcBef>
                <a:spcPts val="0"/>
              </a:spcBef>
              <a:spcAft>
                <a:spcPts val="0"/>
              </a:spcAft>
            </a:pPr>
            <a:r>
              <a:rPr sz="1300" b="0">
                <a:solidFill>
                  <a:srgbClr val="596C80"/>
                </a:solidFill>
                <a:latin typeface="Noto Sans"/>
              </a:rPr>
              <a:t>priority and an assignee.</a:t>
            </a:r>
          </a:p>
        </p:txBody>
      </p:sp>
      <p:sp>
        <p:nvSpPr>
          <p:cNvPr id="18" name="TextBox 17"/>
          <p:cNvSpPr txBox="1"/>
          <p:nvPr/>
        </p:nvSpPr>
        <p:spPr>
          <a:xfrm>
            <a:off x="8305800" y="3340100"/>
            <a:ext cx="381000" cy="258572"/>
          </a:xfrm>
          <a:prstGeom prst="rect">
            <a:avLst/>
          </a:prstGeom>
          <a:noFill/>
        </p:spPr>
        <p:txBody>
          <a:bodyPr wrap="none" tIns="0" bIns="0" lIns="0" rIns="0" anchor="t">
            <a:spAutoFit/>
          </a:bodyPr>
          <a:lstStyle/>
          <a:p>
            <a:pPr>
              <a:lnSpc>
                <a:spcPts val="1536"/>
              </a:lnSpc>
              <a:spcBef>
                <a:spcPts val="0"/>
              </a:spcBef>
              <a:spcAft>
                <a:spcPts val="0"/>
              </a:spcAft>
            </a:pPr>
            <a:r>
              <a:rPr sz="1200" b="1">
                <a:solidFill>
                  <a:srgbClr val="087F76"/>
                </a:solidFill>
                <a:latin typeface="Noto Sans"/>
              </a:rPr>
              <a:t>02</a:t>
            </a:r>
          </a:p>
        </p:txBody>
      </p:sp>
      <p:sp>
        <p:nvSpPr>
          <p:cNvPr id="19" name="TextBox 18"/>
          <p:cNvSpPr txBox="1"/>
          <p:nvPr/>
        </p:nvSpPr>
        <p:spPr>
          <a:xfrm>
            <a:off x="8788400" y="3302000"/>
            <a:ext cx="2857500" cy="339852"/>
          </a:xfrm>
          <a:prstGeom prst="rect">
            <a:avLst/>
          </a:prstGeom>
          <a:noFill/>
        </p:spPr>
        <p:txBody>
          <a:bodyPr wrap="none" tIns="0" bIns="0" lIns="0" rIns="0" anchor="t">
            <a:spAutoFit/>
          </a:bodyPr>
          <a:lstStyle/>
          <a:p>
            <a:pPr>
              <a:lnSpc>
                <a:spcPts val="2176"/>
              </a:lnSpc>
              <a:spcBef>
                <a:spcPts val="0"/>
              </a:spcBef>
              <a:spcAft>
                <a:spcPts val="0"/>
              </a:spcAft>
            </a:pPr>
            <a:r>
              <a:rPr sz="1700" b="1">
                <a:solidFill>
                  <a:srgbClr val="15243A"/>
                </a:solidFill>
                <a:latin typeface="Noto Sans"/>
              </a:rPr>
              <a:t>Triage</a:t>
            </a:r>
          </a:p>
        </p:txBody>
      </p:sp>
      <p:sp>
        <p:nvSpPr>
          <p:cNvPr id="20" name="TextBox 19"/>
          <p:cNvSpPr txBox="1"/>
          <p:nvPr/>
        </p:nvSpPr>
        <p:spPr>
          <a:xfrm>
            <a:off x="8788400" y="3657600"/>
            <a:ext cx="2857500" cy="486156"/>
          </a:xfrm>
          <a:prstGeom prst="rect">
            <a:avLst/>
          </a:prstGeom>
          <a:noFill/>
        </p:spPr>
        <p:txBody>
          <a:bodyPr wrap="none" tIns="0" bIns="0" lIns="0" rIns="0" anchor="t">
            <a:spAutoFit/>
          </a:bodyPr>
          <a:lstStyle/>
          <a:p>
            <a:pPr>
              <a:lnSpc>
                <a:spcPts val="1664"/>
              </a:lnSpc>
              <a:spcBef>
                <a:spcPts val="0"/>
              </a:spcBef>
              <a:spcAft>
                <a:spcPts val="0"/>
              </a:spcAft>
            </a:pPr>
            <a:r>
              <a:rPr sz="1300" b="0">
                <a:solidFill>
                  <a:srgbClr val="596C80"/>
                </a:solidFill>
                <a:latin typeface="Noto Sans"/>
              </a:rPr>
              <a:t>Search and filter the queue; edit</a:t>
            </a:r>
          </a:p>
          <a:p>
            <a:pPr>
              <a:lnSpc>
                <a:spcPts val="1664"/>
              </a:lnSpc>
              <a:spcBef>
                <a:spcPts val="0"/>
              </a:spcBef>
              <a:spcAft>
                <a:spcPts val="0"/>
              </a:spcAft>
            </a:pPr>
            <a:r>
              <a:rPr sz="1300" b="0">
                <a:solidFill>
                  <a:srgbClr val="596C80"/>
                </a:solidFill>
                <a:latin typeface="Noto Sans"/>
              </a:rPr>
              <a:t>ownership and status.</a:t>
            </a:r>
          </a:p>
        </p:txBody>
      </p:sp>
      <p:sp>
        <p:nvSpPr>
          <p:cNvPr id="21" name="TextBox 20"/>
          <p:cNvSpPr txBox="1"/>
          <p:nvPr/>
        </p:nvSpPr>
        <p:spPr>
          <a:xfrm>
            <a:off x="8305800" y="4597400"/>
            <a:ext cx="381000" cy="258572"/>
          </a:xfrm>
          <a:prstGeom prst="rect">
            <a:avLst/>
          </a:prstGeom>
          <a:noFill/>
        </p:spPr>
        <p:txBody>
          <a:bodyPr wrap="none" tIns="0" bIns="0" lIns="0" rIns="0" anchor="t">
            <a:spAutoFit/>
          </a:bodyPr>
          <a:lstStyle/>
          <a:p>
            <a:pPr>
              <a:lnSpc>
                <a:spcPts val="1536"/>
              </a:lnSpc>
              <a:spcBef>
                <a:spcPts val="0"/>
              </a:spcBef>
              <a:spcAft>
                <a:spcPts val="0"/>
              </a:spcAft>
            </a:pPr>
            <a:r>
              <a:rPr sz="1200" b="1">
                <a:solidFill>
                  <a:srgbClr val="087F76"/>
                </a:solidFill>
                <a:latin typeface="Noto Sans"/>
              </a:rPr>
              <a:t>03</a:t>
            </a:r>
          </a:p>
        </p:txBody>
      </p:sp>
      <p:sp>
        <p:nvSpPr>
          <p:cNvPr id="22" name="TextBox 21"/>
          <p:cNvSpPr txBox="1"/>
          <p:nvPr/>
        </p:nvSpPr>
        <p:spPr>
          <a:xfrm>
            <a:off x="8788400" y="4559300"/>
            <a:ext cx="2857500" cy="339852"/>
          </a:xfrm>
          <a:prstGeom prst="rect">
            <a:avLst/>
          </a:prstGeom>
          <a:noFill/>
        </p:spPr>
        <p:txBody>
          <a:bodyPr wrap="none" tIns="0" bIns="0" lIns="0" rIns="0" anchor="t">
            <a:spAutoFit/>
          </a:bodyPr>
          <a:lstStyle/>
          <a:p>
            <a:pPr>
              <a:lnSpc>
                <a:spcPts val="2176"/>
              </a:lnSpc>
              <a:spcBef>
                <a:spcPts val="0"/>
              </a:spcBef>
              <a:spcAft>
                <a:spcPts val="0"/>
              </a:spcAft>
            </a:pPr>
            <a:r>
              <a:rPr sz="1700" b="1">
                <a:solidFill>
                  <a:srgbClr val="15243A"/>
                </a:solidFill>
                <a:latin typeface="Noto Sans"/>
              </a:rPr>
              <a:t>Resolve</a:t>
            </a:r>
          </a:p>
        </p:txBody>
      </p:sp>
      <p:sp>
        <p:nvSpPr>
          <p:cNvPr id="23" name="TextBox 22"/>
          <p:cNvSpPr txBox="1"/>
          <p:nvPr/>
        </p:nvSpPr>
        <p:spPr>
          <a:xfrm>
            <a:off x="8788400" y="4914900"/>
            <a:ext cx="2857500" cy="486156"/>
          </a:xfrm>
          <a:prstGeom prst="rect">
            <a:avLst/>
          </a:prstGeom>
          <a:noFill/>
        </p:spPr>
        <p:txBody>
          <a:bodyPr wrap="none" tIns="0" bIns="0" lIns="0" rIns="0" anchor="t">
            <a:spAutoFit/>
          </a:bodyPr>
          <a:lstStyle/>
          <a:p>
            <a:pPr>
              <a:lnSpc>
                <a:spcPts val="1664"/>
              </a:lnSpc>
              <a:spcBef>
                <a:spcPts val="0"/>
              </a:spcBef>
              <a:spcAft>
                <a:spcPts val="0"/>
              </a:spcAft>
            </a:pPr>
            <a:r>
              <a:rPr sz="1300" b="0">
                <a:solidFill>
                  <a:srgbClr val="596C80"/>
                </a:solidFill>
                <a:latin typeface="Noto Sans"/>
              </a:rPr>
              <a:t>Complete or delete tickets; see</a:t>
            </a:r>
          </a:p>
          <a:p>
            <a:pPr>
              <a:lnSpc>
                <a:spcPts val="1664"/>
              </a:lnSpc>
              <a:spcBef>
                <a:spcPts val="0"/>
              </a:spcBef>
              <a:spcAft>
                <a:spcPts val="0"/>
              </a:spcAft>
            </a:pPr>
            <a:r>
              <a:rPr sz="1300" b="0">
                <a:solidFill>
                  <a:srgbClr val="596C80"/>
                </a:solidFill>
                <a:latin typeface="Noto Sans"/>
              </a:rPr>
              <a:t>database-backed counts update.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79400"/>
            <a:ext cx="4445000" cy="209804"/>
          </a:xfrm>
          <a:prstGeom prst="rect">
            <a:avLst/>
          </a:prstGeom>
          <a:noFill/>
        </p:spPr>
        <p:txBody>
          <a:bodyPr wrap="none" tIns="0" bIns="0" lIns="0" rIns="0" anchor="t">
            <a:spAutoFit/>
          </a:bodyPr>
          <a:lstStyle/>
          <a:p>
            <a:pPr>
              <a:lnSpc>
                <a:spcPts val="1152"/>
              </a:lnSpc>
              <a:spcBef>
                <a:spcPts val="0"/>
              </a:spcBef>
              <a:spcAft>
                <a:spcPts val="0"/>
              </a:spcAft>
            </a:pPr>
            <a:r>
              <a:rPr sz="900" b="1">
                <a:solidFill>
                  <a:srgbClr val="596C80"/>
                </a:solidFill>
                <a:latin typeface="Noto Sans"/>
              </a:rPr>
              <a:t>RH / RELEASE HELPDESK</a:t>
            </a:r>
          </a:p>
        </p:txBody>
      </p:sp>
      <p:sp>
        <p:nvSpPr>
          <p:cNvPr id="4" name="TextBox 3"/>
          <p:cNvSpPr txBox="1"/>
          <p:nvPr/>
        </p:nvSpPr>
        <p:spPr>
          <a:xfrm>
            <a:off x="8763000" y="279400"/>
            <a:ext cx="2857500" cy="209804"/>
          </a:xfrm>
          <a:prstGeom prst="rect">
            <a:avLst/>
          </a:prstGeom>
          <a:noFill/>
        </p:spPr>
        <p:txBody>
          <a:bodyPr wrap="none" tIns="0" bIns="0" lIns="0" rIns="0" anchor="t">
            <a:spAutoFit/>
          </a:bodyPr>
          <a:lstStyle/>
          <a:p>
            <a:pPr>
              <a:lnSpc>
                <a:spcPts val="1152"/>
              </a:lnSpc>
              <a:spcBef>
                <a:spcPts val="0"/>
              </a:spcBef>
              <a:spcAft>
                <a:spcPts val="0"/>
              </a:spcAft>
            </a:pPr>
            <a:r>
              <a:rPr sz="900" b="1">
                <a:solidFill>
                  <a:srgbClr val="596C80"/>
                </a:solidFill>
                <a:latin typeface="Noto Sans"/>
              </a:rPr>
              <a:t>02 / ARCHITECTURE</a:t>
            </a:r>
          </a:p>
        </p:txBody>
      </p:sp>
      <p:sp>
        <p:nvSpPr>
          <p:cNvPr id="5" name="Rectangle 4"/>
          <p:cNvSpPr/>
          <p:nvPr/>
        </p:nvSpPr>
        <p:spPr>
          <a:xfrm>
            <a:off x="584200" y="660400"/>
            <a:ext cx="355600" cy="38100"/>
          </a:xfrm>
          <a:prstGeom prst="rect">
            <a:avLst/>
          </a:prstGeom>
          <a:solidFill>
            <a:srgbClr val="24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84200" y="876300"/>
            <a:ext cx="11049000" cy="508380"/>
          </a:xfrm>
          <a:prstGeom prst="rect">
            <a:avLst/>
          </a:prstGeom>
          <a:noFill/>
        </p:spPr>
        <p:txBody>
          <a:bodyPr wrap="none" tIns="0" bIns="0" lIns="0" rIns="0" anchor="t">
            <a:spAutoFit/>
          </a:bodyPr>
          <a:lstStyle/>
          <a:p>
            <a:pPr>
              <a:lnSpc>
                <a:spcPts val="3502"/>
              </a:lnSpc>
              <a:spcBef>
                <a:spcPts val="0"/>
              </a:spcBef>
              <a:spcAft>
                <a:spcPts val="0"/>
              </a:spcAft>
            </a:pPr>
            <a:r>
              <a:rPr sz="3100" b="1">
                <a:solidFill>
                  <a:srgbClr val="15243A"/>
                </a:solidFill>
                <a:latin typeface="Noto Sans"/>
              </a:rPr>
              <a:t>One system. Three connected paths.</a:t>
            </a:r>
          </a:p>
        </p:txBody>
      </p:sp>
      <p:sp>
        <p:nvSpPr>
          <p:cNvPr id="7" name="TextBox 6"/>
          <p:cNvSpPr txBox="1"/>
          <p:nvPr/>
        </p:nvSpPr>
        <p:spPr>
          <a:xfrm>
            <a:off x="584200" y="1473200"/>
            <a:ext cx="10985500" cy="258572"/>
          </a:xfrm>
          <a:prstGeom prst="rect">
            <a:avLst/>
          </a:prstGeom>
          <a:noFill/>
        </p:spPr>
        <p:txBody>
          <a:bodyPr wrap="none" tIns="0" bIns="0" lIns="0" rIns="0" anchor="t">
            <a:spAutoFit/>
          </a:bodyPr>
          <a:lstStyle/>
          <a:p>
            <a:pPr>
              <a:lnSpc>
                <a:spcPts val="1536"/>
              </a:lnSpc>
              <a:spcBef>
                <a:spcPts val="0"/>
              </a:spcBef>
              <a:spcAft>
                <a:spcPts val="0"/>
              </a:spcAft>
            </a:pPr>
            <a:r>
              <a:rPr sz="1200" b="0">
                <a:solidFill>
                  <a:srgbClr val="596C80"/>
                </a:solidFill>
                <a:latin typeface="Noto Sans"/>
              </a:rPr>
              <a:t>Request serving, release delivery and observability share the same deployed application.</a:t>
            </a:r>
          </a:p>
        </p:txBody>
      </p:sp>
      <p:cxnSp>
        <p:nvCxnSpPr>
          <p:cNvPr id="8" name="Connector 7"/>
          <p:cNvCxnSpPr/>
          <p:nvPr/>
        </p:nvCxnSpPr>
        <p:spPr>
          <a:xfrm>
            <a:off x="584200" y="6438900"/>
            <a:ext cx="11023600" cy="0"/>
          </a:xfrm>
          <a:prstGeom prst="line">
            <a:avLst/>
          </a:prstGeom>
          <a:ln w="10160">
            <a:solidFill>
              <a:srgbClr val="DCE4ED"/>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84200" y="6578600"/>
            <a:ext cx="4572000" cy="193548"/>
          </a:xfrm>
          <a:prstGeom prst="rect">
            <a:avLst/>
          </a:prstGeom>
          <a:noFill/>
        </p:spPr>
        <p:txBody>
          <a:bodyPr wrap="none" tIns="0" bIns="0" lIns="0" rIns="0" anchor="t">
            <a:spAutoFit/>
          </a:bodyPr>
          <a:lstStyle/>
          <a:p>
            <a:pPr>
              <a:lnSpc>
                <a:spcPts val="1024"/>
              </a:lnSpc>
              <a:spcBef>
                <a:spcPts val="0"/>
              </a:spcBef>
              <a:spcAft>
                <a:spcPts val="0"/>
              </a:spcAft>
            </a:pPr>
            <a:r>
              <a:rPr sz="800" b="0">
                <a:solidFill>
                  <a:srgbClr val="596C80"/>
                </a:solidFill>
                <a:latin typeface="Noto Sans"/>
              </a:rPr>
              <a:t>RELEASE ENGINEERING / PLATFORM WALKTHROUGH</a:t>
            </a:r>
          </a:p>
        </p:txBody>
      </p:sp>
      <p:sp>
        <p:nvSpPr>
          <p:cNvPr id="10" name="TextBox 9"/>
          <p:cNvSpPr txBox="1"/>
          <p:nvPr/>
        </p:nvSpPr>
        <p:spPr>
          <a:xfrm>
            <a:off x="10922000" y="6553200"/>
            <a:ext cx="736600" cy="209804"/>
          </a:xfrm>
          <a:prstGeom prst="rect">
            <a:avLst/>
          </a:prstGeom>
          <a:noFill/>
        </p:spPr>
        <p:txBody>
          <a:bodyPr wrap="none" tIns="0" bIns="0" lIns="0" rIns="0" anchor="t">
            <a:spAutoFit/>
          </a:bodyPr>
          <a:lstStyle/>
          <a:p>
            <a:pPr>
              <a:lnSpc>
                <a:spcPts val="1152"/>
              </a:lnSpc>
              <a:spcBef>
                <a:spcPts val="0"/>
              </a:spcBef>
              <a:spcAft>
                <a:spcPts val="0"/>
              </a:spcAft>
            </a:pPr>
            <a:r>
              <a:rPr sz="900" b="1">
                <a:solidFill>
                  <a:srgbClr val="596C80"/>
                </a:solidFill>
                <a:latin typeface="Noto Sans"/>
              </a:rPr>
              <a:t>03 / 16</a:t>
            </a:r>
          </a:p>
        </p:txBody>
      </p:sp>
      <p:sp>
        <p:nvSpPr>
          <p:cNvPr id="11" name="TextBox 10"/>
          <p:cNvSpPr txBox="1"/>
          <p:nvPr/>
        </p:nvSpPr>
        <p:spPr>
          <a:xfrm>
            <a:off x="584200" y="6210300"/>
            <a:ext cx="10414000" cy="193548"/>
          </a:xfrm>
          <a:prstGeom prst="rect">
            <a:avLst/>
          </a:prstGeom>
          <a:noFill/>
        </p:spPr>
        <p:txBody>
          <a:bodyPr wrap="none" tIns="0" bIns="0" lIns="0" rIns="0" anchor="t">
            <a:spAutoFit/>
          </a:bodyPr>
          <a:lstStyle/>
          <a:p>
            <a:pPr>
              <a:lnSpc>
                <a:spcPts val="1024"/>
              </a:lnSpc>
              <a:spcBef>
                <a:spcPts val="0"/>
              </a:spcBef>
              <a:spcAft>
                <a:spcPts val="0"/>
              </a:spcAft>
            </a:pPr>
            <a:r>
              <a:rPr sz="800" b="0">
                <a:solidFill>
                  <a:srgbClr val="596C80"/>
                </a:solidFill>
                <a:latin typeface="Noto Sans"/>
                <a:hlinkClick r:id="rId2"/>
              </a:rPr>
              <a:t>Source · Implemented architecture and routing</a:t>
            </a:r>
          </a:p>
        </p:txBody>
      </p:sp>
      <p:sp>
        <p:nvSpPr>
          <p:cNvPr id="12" name="TextBox 11"/>
          <p:cNvSpPr txBox="1"/>
          <p:nvPr/>
        </p:nvSpPr>
        <p:spPr>
          <a:xfrm>
            <a:off x="584200" y="2044700"/>
            <a:ext cx="1270000" cy="226060"/>
          </a:xfrm>
          <a:prstGeom prst="rect">
            <a:avLst/>
          </a:prstGeom>
          <a:noFill/>
        </p:spPr>
        <p:txBody>
          <a:bodyPr wrap="none" tIns="0" bIns="0" lIns="0" rIns="0" anchor="t">
            <a:spAutoFit/>
          </a:bodyPr>
          <a:lstStyle/>
          <a:p>
            <a:pPr>
              <a:lnSpc>
                <a:spcPts val="1280"/>
              </a:lnSpc>
              <a:spcBef>
                <a:spcPts val="0"/>
              </a:spcBef>
              <a:spcAft>
                <a:spcPts val="0"/>
              </a:spcAft>
            </a:pPr>
            <a:r>
              <a:rPr sz="1000" b="1">
                <a:solidFill>
                  <a:srgbClr val="2463EB"/>
                </a:solidFill>
                <a:latin typeface="Noto Sans"/>
              </a:rPr>
              <a:t>SERVE</a:t>
            </a:r>
          </a:p>
        </p:txBody>
      </p:sp>
      <p:sp>
        <p:nvSpPr>
          <p:cNvPr id="13" name="Rounded Rectangle 12"/>
          <p:cNvSpPr/>
          <p:nvPr/>
        </p:nvSpPr>
        <p:spPr>
          <a:xfrm>
            <a:off x="584200" y="2413000"/>
            <a:ext cx="1587500" cy="825500"/>
          </a:xfrm>
          <a:prstGeom prst="roundRect">
            <a:avLst>
              <a:gd name="adj" fmla="val 9230"/>
            </a:avLst>
          </a:prstGeom>
          <a:solidFill>
            <a:srgbClr val="FFFFFF"/>
          </a:solidFill>
          <a:ln w="889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84200" y="2413000"/>
            <a:ext cx="38100" cy="825500"/>
          </a:xfrm>
          <a:prstGeom prst="rect">
            <a:avLst/>
          </a:prstGeom>
          <a:solidFill>
            <a:srgbClr val="24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300" y="2540000"/>
            <a:ext cx="1295400" cy="323596"/>
          </a:xfrm>
          <a:prstGeom prst="rect">
            <a:avLst/>
          </a:prstGeom>
          <a:noFill/>
        </p:spPr>
        <p:txBody>
          <a:bodyPr wrap="none" tIns="0" bIns="0" lIns="0" rIns="0" anchor="t">
            <a:spAutoFit/>
          </a:bodyPr>
          <a:lstStyle/>
          <a:p>
            <a:pPr>
              <a:lnSpc>
                <a:spcPts val="2048"/>
              </a:lnSpc>
              <a:spcBef>
                <a:spcPts val="0"/>
              </a:spcBef>
              <a:spcAft>
                <a:spcPts val="0"/>
              </a:spcAft>
            </a:pPr>
            <a:r>
              <a:rPr sz="1600" b="1">
                <a:solidFill>
                  <a:srgbClr val="15243A"/>
                </a:solidFill>
                <a:latin typeface="Noto Sans"/>
              </a:rPr>
              <a:t>Browser</a:t>
            </a:r>
          </a:p>
        </p:txBody>
      </p:sp>
      <p:sp>
        <p:nvSpPr>
          <p:cNvPr id="16" name="TextBox 15"/>
          <p:cNvSpPr txBox="1"/>
          <p:nvPr/>
        </p:nvSpPr>
        <p:spPr>
          <a:xfrm>
            <a:off x="749300" y="2844800"/>
            <a:ext cx="1295400" cy="242315"/>
          </a:xfrm>
          <a:prstGeom prst="rect">
            <a:avLst/>
          </a:prstGeom>
          <a:noFill/>
        </p:spPr>
        <p:txBody>
          <a:bodyPr wrap="none" tIns="0" bIns="0" lIns="0" rIns="0" anchor="t">
            <a:spAutoFit/>
          </a:bodyPr>
          <a:lstStyle/>
          <a:p>
            <a:pPr>
              <a:lnSpc>
                <a:spcPts val="1408"/>
              </a:lnSpc>
              <a:spcBef>
                <a:spcPts val="0"/>
              </a:spcBef>
              <a:spcAft>
                <a:spcPts val="0"/>
              </a:spcAft>
            </a:pPr>
            <a:r>
              <a:rPr sz="1100" b="0">
                <a:solidFill>
                  <a:srgbClr val="596C80"/>
                </a:solidFill>
                <a:latin typeface="Noto Sans"/>
              </a:rPr>
              <a:t>Same origin</a:t>
            </a:r>
          </a:p>
        </p:txBody>
      </p:sp>
      <p:sp>
        <p:nvSpPr>
          <p:cNvPr id="17" name="Rounded Rectangle 16"/>
          <p:cNvSpPr/>
          <p:nvPr/>
        </p:nvSpPr>
        <p:spPr>
          <a:xfrm>
            <a:off x="2679700" y="2413000"/>
            <a:ext cx="2032000" cy="825500"/>
          </a:xfrm>
          <a:prstGeom prst="roundRect">
            <a:avLst>
              <a:gd name="adj" fmla="val 9230"/>
            </a:avLst>
          </a:prstGeom>
          <a:solidFill>
            <a:srgbClr val="FFFFFF"/>
          </a:solidFill>
          <a:ln w="889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679700" y="2413000"/>
            <a:ext cx="38100" cy="825500"/>
          </a:xfrm>
          <a:prstGeom prst="rect">
            <a:avLst/>
          </a:prstGeom>
          <a:solidFill>
            <a:srgbClr val="24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844800" y="2540000"/>
            <a:ext cx="1739900" cy="323596"/>
          </a:xfrm>
          <a:prstGeom prst="rect">
            <a:avLst/>
          </a:prstGeom>
          <a:noFill/>
        </p:spPr>
        <p:txBody>
          <a:bodyPr wrap="none" tIns="0" bIns="0" lIns="0" rIns="0" anchor="t">
            <a:spAutoFit/>
          </a:bodyPr>
          <a:lstStyle/>
          <a:p>
            <a:pPr>
              <a:lnSpc>
                <a:spcPts val="2048"/>
              </a:lnSpc>
              <a:spcBef>
                <a:spcPts val="0"/>
              </a:spcBef>
              <a:spcAft>
                <a:spcPts val="0"/>
              </a:spcAft>
            </a:pPr>
            <a:r>
              <a:rPr sz="1600" b="1">
                <a:solidFill>
                  <a:srgbClr val="15243A"/>
                </a:solidFill>
                <a:latin typeface="Noto Sans"/>
              </a:rPr>
              <a:t>AWS ALB</a:t>
            </a:r>
          </a:p>
        </p:txBody>
      </p:sp>
      <p:sp>
        <p:nvSpPr>
          <p:cNvPr id="20" name="TextBox 19"/>
          <p:cNvSpPr txBox="1"/>
          <p:nvPr/>
        </p:nvSpPr>
        <p:spPr>
          <a:xfrm>
            <a:off x="2844800" y="2844800"/>
            <a:ext cx="1739900" cy="242315"/>
          </a:xfrm>
          <a:prstGeom prst="rect">
            <a:avLst/>
          </a:prstGeom>
          <a:noFill/>
        </p:spPr>
        <p:txBody>
          <a:bodyPr wrap="none" tIns="0" bIns="0" lIns="0" rIns="0" anchor="t">
            <a:spAutoFit/>
          </a:bodyPr>
          <a:lstStyle/>
          <a:p>
            <a:pPr>
              <a:lnSpc>
                <a:spcPts val="1408"/>
              </a:lnSpc>
              <a:spcBef>
                <a:spcPts val="0"/>
              </a:spcBef>
              <a:spcAft>
                <a:spcPts val="0"/>
              </a:spcAft>
            </a:pPr>
            <a:r>
              <a:rPr sz="1100" b="0">
                <a:solidFill>
                  <a:srgbClr val="596C80"/>
                </a:solidFill>
                <a:latin typeface="Noto Sans"/>
              </a:rPr>
              <a:t>Ingress controller</a:t>
            </a:r>
          </a:p>
        </p:txBody>
      </p:sp>
      <p:sp>
        <p:nvSpPr>
          <p:cNvPr id="21" name="Rounded Rectangle 20"/>
          <p:cNvSpPr/>
          <p:nvPr/>
        </p:nvSpPr>
        <p:spPr>
          <a:xfrm>
            <a:off x="5283200" y="2019300"/>
            <a:ext cx="2514600" cy="825500"/>
          </a:xfrm>
          <a:prstGeom prst="roundRect">
            <a:avLst>
              <a:gd name="adj" fmla="val 9230"/>
            </a:avLst>
          </a:prstGeom>
          <a:solidFill>
            <a:srgbClr val="FFFFFF"/>
          </a:solidFill>
          <a:ln w="889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283200" y="2019300"/>
            <a:ext cx="38100" cy="825500"/>
          </a:xfrm>
          <a:prstGeom prst="rect">
            <a:avLst/>
          </a:prstGeom>
          <a:solidFill>
            <a:srgbClr val="24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48300" y="2146300"/>
            <a:ext cx="2222500" cy="323596"/>
          </a:xfrm>
          <a:prstGeom prst="rect">
            <a:avLst/>
          </a:prstGeom>
          <a:noFill/>
        </p:spPr>
        <p:txBody>
          <a:bodyPr wrap="none" tIns="0" bIns="0" lIns="0" rIns="0" anchor="t">
            <a:spAutoFit/>
          </a:bodyPr>
          <a:lstStyle/>
          <a:p>
            <a:pPr>
              <a:lnSpc>
                <a:spcPts val="2048"/>
              </a:lnSpc>
              <a:spcBef>
                <a:spcPts val="0"/>
              </a:spcBef>
              <a:spcAft>
                <a:spcPts val="0"/>
              </a:spcAft>
            </a:pPr>
            <a:r>
              <a:rPr sz="1600" b="1">
                <a:solidFill>
                  <a:srgbClr val="15243A"/>
                </a:solidFill>
                <a:latin typeface="Noto Sans"/>
              </a:rPr>
              <a:t>React / Nginx</a:t>
            </a:r>
          </a:p>
        </p:txBody>
      </p:sp>
      <p:sp>
        <p:nvSpPr>
          <p:cNvPr id="24" name="TextBox 23"/>
          <p:cNvSpPr txBox="1"/>
          <p:nvPr/>
        </p:nvSpPr>
        <p:spPr>
          <a:xfrm>
            <a:off x="5448300" y="2451100"/>
            <a:ext cx="2222500" cy="242315"/>
          </a:xfrm>
          <a:prstGeom prst="rect">
            <a:avLst/>
          </a:prstGeom>
          <a:noFill/>
        </p:spPr>
        <p:txBody>
          <a:bodyPr wrap="none" tIns="0" bIns="0" lIns="0" rIns="0" anchor="t">
            <a:spAutoFit/>
          </a:bodyPr>
          <a:lstStyle/>
          <a:p>
            <a:pPr>
              <a:lnSpc>
                <a:spcPts val="1408"/>
              </a:lnSpc>
              <a:spcBef>
                <a:spcPts val="0"/>
              </a:spcBef>
              <a:spcAft>
                <a:spcPts val="0"/>
              </a:spcAft>
            </a:pPr>
            <a:r>
              <a:rPr sz="1100" b="0">
                <a:solidFill>
                  <a:srgbClr val="596C80"/>
                </a:solidFill>
                <a:latin typeface="Noto Sans"/>
              </a:rPr>
              <a:t>2 frontend replicas</a:t>
            </a:r>
          </a:p>
        </p:txBody>
      </p:sp>
      <p:sp>
        <p:nvSpPr>
          <p:cNvPr id="25" name="Rounded Rectangle 24"/>
          <p:cNvSpPr/>
          <p:nvPr/>
        </p:nvSpPr>
        <p:spPr>
          <a:xfrm>
            <a:off x="5283200" y="3225800"/>
            <a:ext cx="2514600" cy="825500"/>
          </a:xfrm>
          <a:prstGeom prst="roundRect">
            <a:avLst>
              <a:gd name="adj" fmla="val 9230"/>
            </a:avLst>
          </a:prstGeom>
          <a:solidFill>
            <a:srgbClr val="FFFFFF"/>
          </a:solidFill>
          <a:ln w="889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283200" y="3225800"/>
            <a:ext cx="38100" cy="825500"/>
          </a:xfrm>
          <a:prstGeom prst="rect">
            <a:avLst/>
          </a:prstGeom>
          <a:solidFill>
            <a:srgbClr val="24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48300" y="3352800"/>
            <a:ext cx="2222500" cy="323596"/>
          </a:xfrm>
          <a:prstGeom prst="rect">
            <a:avLst/>
          </a:prstGeom>
          <a:noFill/>
        </p:spPr>
        <p:txBody>
          <a:bodyPr wrap="none" tIns="0" bIns="0" lIns="0" rIns="0" anchor="t">
            <a:spAutoFit/>
          </a:bodyPr>
          <a:lstStyle/>
          <a:p>
            <a:pPr>
              <a:lnSpc>
                <a:spcPts val="2048"/>
              </a:lnSpc>
              <a:spcBef>
                <a:spcPts val="0"/>
              </a:spcBef>
              <a:spcAft>
                <a:spcPts val="0"/>
              </a:spcAft>
            </a:pPr>
            <a:r>
              <a:rPr sz="1600" b="1">
                <a:solidFill>
                  <a:srgbClr val="15243A"/>
                </a:solidFill>
                <a:latin typeface="Noto Sans"/>
              </a:rPr>
              <a:t>FastAPI</a:t>
            </a:r>
          </a:p>
        </p:txBody>
      </p:sp>
      <p:sp>
        <p:nvSpPr>
          <p:cNvPr id="28" name="TextBox 27"/>
          <p:cNvSpPr txBox="1"/>
          <p:nvPr/>
        </p:nvSpPr>
        <p:spPr>
          <a:xfrm>
            <a:off x="5448300" y="3657600"/>
            <a:ext cx="2222500" cy="242315"/>
          </a:xfrm>
          <a:prstGeom prst="rect">
            <a:avLst/>
          </a:prstGeom>
          <a:noFill/>
        </p:spPr>
        <p:txBody>
          <a:bodyPr wrap="none" tIns="0" bIns="0" lIns="0" rIns="0" anchor="t">
            <a:spAutoFit/>
          </a:bodyPr>
          <a:lstStyle/>
          <a:p>
            <a:pPr>
              <a:lnSpc>
                <a:spcPts val="1408"/>
              </a:lnSpc>
              <a:spcBef>
                <a:spcPts val="0"/>
              </a:spcBef>
              <a:spcAft>
                <a:spcPts val="0"/>
              </a:spcAft>
            </a:pPr>
            <a:r>
              <a:rPr sz="1100" b="0">
                <a:solidFill>
                  <a:srgbClr val="596C80"/>
                </a:solidFill>
                <a:latin typeface="Noto Sans"/>
              </a:rPr>
              <a:t>2–4 backend replicas</a:t>
            </a:r>
          </a:p>
        </p:txBody>
      </p:sp>
      <p:sp>
        <p:nvSpPr>
          <p:cNvPr id="29" name="Rounded Rectangle 28"/>
          <p:cNvSpPr/>
          <p:nvPr/>
        </p:nvSpPr>
        <p:spPr>
          <a:xfrm>
            <a:off x="9029700" y="3225800"/>
            <a:ext cx="2578100" cy="825500"/>
          </a:xfrm>
          <a:prstGeom prst="roundRect">
            <a:avLst>
              <a:gd name="adj" fmla="val 9230"/>
            </a:avLst>
          </a:prstGeom>
          <a:solidFill>
            <a:srgbClr val="FFFFFF"/>
          </a:solidFill>
          <a:ln w="889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029700" y="3225800"/>
            <a:ext cx="38100" cy="825500"/>
          </a:xfrm>
          <a:prstGeom prst="rect">
            <a:avLst/>
          </a:prstGeom>
          <a:solidFill>
            <a:srgbClr val="24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94800" y="3352800"/>
            <a:ext cx="2286000" cy="323596"/>
          </a:xfrm>
          <a:prstGeom prst="rect">
            <a:avLst/>
          </a:prstGeom>
          <a:noFill/>
        </p:spPr>
        <p:txBody>
          <a:bodyPr wrap="none" tIns="0" bIns="0" lIns="0" rIns="0" anchor="t">
            <a:spAutoFit/>
          </a:bodyPr>
          <a:lstStyle/>
          <a:p>
            <a:pPr>
              <a:lnSpc>
                <a:spcPts val="2048"/>
              </a:lnSpc>
              <a:spcBef>
                <a:spcPts val="0"/>
              </a:spcBef>
              <a:spcAft>
                <a:spcPts val="0"/>
              </a:spcAft>
            </a:pPr>
            <a:r>
              <a:rPr sz="1600" b="1">
                <a:solidFill>
                  <a:srgbClr val="15243A"/>
                </a:solidFill>
                <a:latin typeface="Noto Sans"/>
              </a:rPr>
              <a:t>PostgreSQL 16</a:t>
            </a:r>
          </a:p>
        </p:txBody>
      </p:sp>
      <p:sp>
        <p:nvSpPr>
          <p:cNvPr id="32" name="TextBox 31"/>
          <p:cNvSpPr txBox="1"/>
          <p:nvPr/>
        </p:nvSpPr>
        <p:spPr>
          <a:xfrm>
            <a:off x="9194800" y="3657600"/>
            <a:ext cx="2286000" cy="242315"/>
          </a:xfrm>
          <a:prstGeom prst="rect">
            <a:avLst/>
          </a:prstGeom>
          <a:noFill/>
        </p:spPr>
        <p:txBody>
          <a:bodyPr wrap="none" tIns="0" bIns="0" lIns="0" rIns="0" anchor="t">
            <a:spAutoFit/>
          </a:bodyPr>
          <a:lstStyle/>
          <a:p>
            <a:pPr>
              <a:lnSpc>
                <a:spcPts val="1408"/>
              </a:lnSpc>
              <a:spcBef>
                <a:spcPts val="0"/>
              </a:spcBef>
              <a:spcAft>
                <a:spcPts val="0"/>
              </a:spcAft>
            </a:pPr>
            <a:r>
              <a:rPr sz="1100" b="0">
                <a:solidFill>
                  <a:srgbClr val="596C80"/>
                </a:solidFill>
                <a:latin typeface="Noto Sans"/>
              </a:rPr>
              <a:t>5 GiB gp3 PVC</a:t>
            </a:r>
          </a:p>
        </p:txBody>
      </p:sp>
      <p:cxnSp>
        <p:nvCxnSpPr>
          <p:cNvPr id="33" name="Connector 32"/>
          <p:cNvCxnSpPr/>
          <p:nvPr/>
        </p:nvCxnSpPr>
        <p:spPr>
          <a:xfrm>
            <a:off x="2171700" y="2819400"/>
            <a:ext cx="508000" cy="0"/>
          </a:xfrm>
          <a:prstGeom prst="line">
            <a:avLst/>
          </a:prstGeom>
          <a:ln w="22860">
            <a:solidFill>
              <a:srgbClr val="2463EB"/>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a:off x="2600846" y="2819400"/>
            <a:ext cx="78854" cy="41052"/>
          </a:xfrm>
          <a:prstGeom prst="line">
            <a:avLst/>
          </a:prstGeom>
          <a:ln w="22860">
            <a:solidFill>
              <a:srgbClr val="2463EB"/>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00846" y="2778347"/>
            <a:ext cx="78854" cy="41053"/>
          </a:xfrm>
          <a:prstGeom prst="line">
            <a:avLst/>
          </a:prstGeom>
          <a:ln w="22860">
            <a:solidFill>
              <a:srgbClr val="2463EB"/>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4711700" y="2819400"/>
            <a:ext cx="292100" cy="0"/>
          </a:xfrm>
          <a:prstGeom prst="line">
            <a:avLst/>
          </a:prstGeom>
          <a:ln w="22860">
            <a:solidFill>
              <a:srgbClr val="2463EB"/>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5003800" y="2425700"/>
            <a:ext cx="0" cy="393700"/>
          </a:xfrm>
          <a:prstGeom prst="line">
            <a:avLst/>
          </a:prstGeom>
          <a:ln w="22860">
            <a:solidFill>
              <a:srgbClr val="2463EB"/>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5003800" y="2425700"/>
            <a:ext cx="279400" cy="0"/>
          </a:xfrm>
          <a:prstGeom prst="line">
            <a:avLst/>
          </a:prstGeom>
          <a:ln w="22860">
            <a:solidFill>
              <a:srgbClr val="2463EB"/>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a:off x="5204346" y="2425700"/>
            <a:ext cx="78854" cy="41052"/>
          </a:xfrm>
          <a:prstGeom prst="line">
            <a:avLst/>
          </a:prstGeom>
          <a:ln w="22860">
            <a:solidFill>
              <a:srgbClr val="2463EB"/>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5204346" y="2384647"/>
            <a:ext cx="78854" cy="41053"/>
          </a:xfrm>
          <a:prstGeom prst="line">
            <a:avLst/>
          </a:prstGeom>
          <a:ln w="22860">
            <a:solidFill>
              <a:srgbClr val="2463EB"/>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5003800" y="2819400"/>
            <a:ext cx="0" cy="812800"/>
          </a:xfrm>
          <a:prstGeom prst="line">
            <a:avLst/>
          </a:prstGeom>
          <a:ln w="22860">
            <a:solidFill>
              <a:srgbClr val="2463EB"/>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5003800" y="3632200"/>
            <a:ext cx="279400" cy="0"/>
          </a:xfrm>
          <a:prstGeom prst="line">
            <a:avLst/>
          </a:prstGeom>
          <a:ln w="22860">
            <a:solidFill>
              <a:srgbClr val="2463EB"/>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a:off x="5204346" y="3632200"/>
            <a:ext cx="78854" cy="41052"/>
          </a:xfrm>
          <a:prstGeom prst="line">
            <a:avLst/>
          </a:prstGeom>
          <a:ln w="22860">
            <a:solidFill>
              <a:srgbClr val="2463EB"/>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5204346" y="3591147"/>
            <a:ext cx="78854" cy="41053"/>
          </a:xfrm>
          <a:prstGeom prst="line">
            <a:avLst/>
          </a:prstGeom>
          <a:ln w="22860">
            <a:solidFill>
              <a:srgbClr val="2463EB"/>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4851400" y="2108200"/>
            <a:ext cx="355600" cy="242315"/>
          </a:xfrm>
          <a:prstGeom prst="rect">
            <a:avLst/>
          </a:prstGeom>
          <a:noFill/>
        </p:spPr>
        <p:txBody>
          <a:bodyPr wrap="none" tIns="0" bIns="0" lIns="0" rIns="0" anchor="t">
            <a:spAutoFit/>
          </a:bodyPr>
          <a:lstStyle/>
          <a:p>
            <a:pPr>
              <a:lnSpc>
                <a:spcPts val="1408"/>
              </a:lnSpc>
              <a:spcBef>
                <a:spcPts val="0"/>
              </a:spcBef>
              <a:spcAft>
                <a:spcPts val="0"/>
              </a:spcAft>
            </a:pPr>
            <a:r>
              <a:rPr sz="1100" b="1">
                <a:solidFill>
                  <a:srgbClr val="2463EB"/>
                </a:solidFill>
                <a:latin typeface="Noto Sans"/>
              </a:rPr>
              <a:t>/</a:t>
            </a:r>
          </a:p>
        </p:txBody>
      </p:sp>
      <p:sp>
        <p:nvSpPr>
          <p:cNvPr id="46" name="TextBox 45"/>
          <p:cNvSpPr txBox="1"/>
          <p:nvPr/>
        </p:nvSpPr>
        <p:spPr>
          <a:xfrm>
            <a:off x="4775200" y="3340100"/>
            <a:ext cx="571500" cy="226060"/>
          </a:xfrm>
          <a:prstGeom prst="rect">
            <a:avLst/>
          </a:prstGeom>
          <a:noFill/>
        </p:spPr>
        <p:txBody>
          <a:bodyPr wrap="none" tIns="0" bIns="0" lIns="0" rIns="0" anchor="t">
            <a:spAutoFit/>
          </a:bodyPr>
          <a:lstStyle/>
          <a:p>
            <a:pPr>
              <a:lnSpc>
                <a:spcPts val="1280"/>
              </a:lnSpc>
              <a:spcBef>
                <a:spcPts val="0"/>
              </a:spcBef>
              <a:spcAft>
                <a:spcPts val="0"/>
              </a:spcAft>
            </a:pPr>
            <a:r>
              <a:rPr sz="1000" b="1">
                <a:solidFill>
                  <a:srgbClr val="2463EB"/>
                </a:solidFill>
                <a:latin typeface="Noto Sans"/>
              </a:rPr>
              <a:t>/api</a:t>
            </a:r>
          </a:p>
        </p:txBody>
      </p:sp>
      <p:cxnSp>
        <p:nvCxnSpPr>
          <p:cNvPr id="47" name="Connector 46"/>
          <p:cNvCxnSpPr/>
          <p:nvPr/>
        </p:nvCxnSpPr>
        <p:spPr>
          <a:xfrm>
            <a:off x="7797800" y="3632200"/>
            <a:ext cx="1231900" cy="0"/>
          </a:xfrm>
          <a:prstGeom prst="line">
            <a:avLst/>
          </a:prstGeom>
          <a:ln w="22860">
            <a:solidFill>
              <a:srgbClr val="2463EB"/>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a:off x="8950846" y="3632200"/>
            <a:ext cx="78854" cy="41052"/>
          </a:xfrm>
          <a:prstGeom prst="line">
            <a:avLst/>
          </a:prstGeom>
          <a:ln w="22860">
            <a:solidFill>
              <a:srgbClr val="2463EB"/>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8950846" y="3591147"/>
            <a:ext cx="78854" cy="41053"/>
          </a:xfrm>
          <a:prstGeom prst="line">
            <a:avLst/>
          </a:prstGeom>
          <a:ln w="22860">
            <a:solidFill>
              <a:srgbClr val="2463EB"/>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7912100" y="3378200"/>
            <a:ext cx="1079500" cy="226060"/>
          </a:xfrm>
          <a:prstGeom prst="rect">
            <a:avLst/>
          </a:prstGeom>
          <a:noFill/>
        </p:spPr>
        <p:txBody>
          <a:bodyPr wrap="none" tIns="0" bIns="0" lIns="0" rIns="0" anchor="t">
            <a:spAutoFit/>
          </a:bodyPr>
          <a:lstStyle/>
          <a:p>
            <a:pPr>
              <a:lnSpc>
                <a:spcPts val="1280"/>
              </a:lnSpc>
              <a:spcBef>
                <a:spcPts val="0"/>
              </a:spcBef>
              <a:spcAft>
                <a:spcPts val="0"/>
              </a:spcAft>
            </a:pPr>
            <a:r>
              <a:rPr sz="1000" b="0">
                <a:solidFill>
                  <a:srgbClr val="596C80"/>
                </a:solidFill>
                <a:latin typeface="Noto Sans"/>
              </a:rPr>
              <a:t>SQLAlchemy</a:t>
            </a:r>
          </a:p>
        </p:txBody>
      </p:sp>
      <p:sp>
        <p:nvSpPr>
          <p:cNvPr id="51" name="TextBox 50"/>
          <p:cNvSpPr txBox="1"/>
          <p:nvPr/>
        </p:nvSpPr>
        <p:spPr>
          <a:xfrm>
            <a:off x="584200" y="4445000"/>
            <a:ext cx="1270000" cy="226060"/>
          </a:xfrm>
          <a:prstGeom prst="rect">
            <a:avLst/>
          </a:prstGeom>
          <a:noFill/>
        </p:spPr>
        <p:txBody>
          <a:bodyPr wrap="none" tIns="0" bIns="0" lIns="0" rIns="0" anchor="t">
            <a:spAutoFit/>
          </a:bodyPr>
          <a:lstStyle/>
          <a:p>
            <a:pPr>
              <a:lnSpc>
                <a:spcPts val="1280"/>
              </a:lnSpc>
              <a:spcBef>
                <a:spcPts val="0"/>
              </a:spcBef>
              <a:spcAft>
                <a:spcPts val="0"/>
              </a:spcAft>
            </a:pPr>
            <a:r>
              <a:rPr sz="1000" b="1">
                <a:solidFill>
                  <a:srgbClr val="087F76"/>
                </a:solidFill>
                <a:latin typeface="Noto Sans"/>
              </a:rPr>
              <a:t>DELIVER</a:t>
            </a:r>
          </a:p>
        </p:txBody>
      </p:sp>
      <p:sp>
        <p:nvSpPr>
          <p:cNvPr id="52" name="Rounded Rectangle 51"/>
          <p:cNvSpPr/>
          <p:nvPr/>
        </p:nvSpPr>
        <p:spPr>
          <a:xfrm>
            <a:off x="584200" y="4749800"/>
            <a:ext cx="1993900" cy="812800"/>
          </a:xfrm>
          <a:prstGeom prst="roundRect">
            <a:avLst>
              <a:gd name="adj" fmla="val 9375"/>
            </a:avLst>
          </a:prstGeom>
          <a:solidFill>
            <a:srgbClr val="FFFFFF"/>
          </a:solidFill>
          <a:ln w="889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584200" y="4749800"/>
            <a:ext cx="38100" cy="81280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49300" y="4876800"/>
            <a:ext cx="1701800" cy="323596"/>
          </a:xfrm>
          <a:prstGeom prst="rect">
            <a:avLst/>
          </a:prstGeom>
          <a:noFill/>
        </p:spPr>
        <p:txBody>
          <a:bodyPr wrap="none" tIns="0" bIns="0" lIns="0" rIns="0" anchor="t">
            <a:spAutoFit/>
          </a:bodyPr>
          <a:lstStyle/>
          <a:p>
            <a:pPr>
              <a:lnSpc>
                <a:spcPts val="2048"/>
              </a:lnSpc>
              <a:spcBef>
                <a:spcPts val="0"/>
              </a:spcBef>
              <a:spcAft>
                <a:spcPts val="0"/>
              </a:spcAft>
            </a:pPr>
            <a:r>
              <a:rPr sz="1600" b="1">
                <a:solidFill>
                  <a:srgbClr val="15243A"/>
                </a:solidFill>
                <a:latin typeface="Noto Sans"/>
              </a:rPr>
              <a:t>GitHub</a:t>
            </a:r>
          </a:p>
        </p:txBody>
      </p:sp>
      <p:sp>
        <p:nvSpPr>
          <p:cNvPr id="55" name="TextBox 54"/>
          <p:cNvSpPr txBox="1"/>
          <p:nvPr/>
        </p:nvSpPr>
        <p:spPr>
          <a:xfrm>
            <a:off x="749300" y="5181600"/>
            <a:ext cx="1701800" cy="242315"/>
          </a:xfrm>
          <a:prstGeom prst="rect">
            <a:avLst/>
          </a:prstGeom>
          <a:noFill/>
        </p:spPr>
        <p:txBody>
          <a:bodyPr wrap="none" tIns="0" bIns="0" lIns="0" rIns="0" anchor="t">
            <a:spAutoFit/>
          </a:bodyPr>
          <a:lstStyle/>
          <a:p>
            <a:pPr>
              <a:lnSpc>
                <a:spcPts val="1408"/>
              </a:lnSpc>
              <a:spcBef>
                <a:spcPts val="0"/>
              </a:spcBef>
              <a:spcAft>
                <a:spcPts val="0"/>
              </a:spcAft>
            </a:pPr>
            <a:r>
              <a:rPr sz="1100" b="0">
                <a:solidFill>
                  <a:srgbClr val="596C80"/>
                </a:solidFill>
                <a:latin typeface="Noto Sans"/>
              </a:rPr>
              <a:t>Commit SHA</a:t>
            </a:r>
          </a:p>
        </p:txBody>
      </p:sp>
      <p:cxnSp>
        <p:nvCxnSpPr>
          <p:cNvPr id="56" name="Connector 55"/>
          <p:cNvCxnSpPr/>
          <p:nvPr/>
        </p:nvCxnSpPr>
        <p:spPr>
          <a:xfrm>
            <a:off x="2578100" y="5156200"/>
            <a:ext cx="254000" cy="0"/>
          </a:xfrm>
          <a:prstGeom prst="line">
            <a:avLst/>
          </a:prstGeom>
          <a:ln w="20320">
            <a:solidFill>
              <a:srgbClr val="087F76"/>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a:off x="2753246" y="5156200"/>
            <a:ext cx="78854" cy="41052"/>
          </a:xfrm>
          <a:prstGeom prst="line">
            <a:avLst/>
          </a:prstGeom>
          <a:ln w="20320">
            <a:solidFill>
              <a:srgbClr val="087F76"/>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753246" y="5115147"/>
            <a:ext cx="78854" cy="41053"/>
          </a:xfrm>
          <a:prstGeom prst="line">
            <a:avLst/>
          </a:prstGeom>
          <a:ln w="20320">
            <a:solidFill>
              <a:srgbClr val="087F76"/>
            </a:solidFill>
          </a:ln>
        </p:spPr>
        <p:style>
          <a:lnRef idx="2">
            <a:schemeClr val="accent1"/>
          </a:lnRef>
          <a:fillRef idx="0">
            <a:schemeClr val="accent1"/>
          </a:fillRef>
          <a:effectRef idx="1">
            <a:schemeClr val="accent1"/>
          </a:effectRef>
          <a:fontRef idx="minor">
            <a:schemeClr val="tx1"/>
          </a:fontRef>
        </p:style>
      </p:cxnSp>
      <p:sp>
        <p:nvSpPr>
          <p:cNvPr id="59" name="Rounded Rectangle 58"/>
          <p:cNvSpPr/>
          <p:nvPr/>
        </p:nvSpPr>
        <p:spPr>
          <a:xfrm>
            <a:off x="2832100" y="4749800"/>
            <a:ext cx="1993900" cy="812800"/>
          </a:xfrm>
          <a:prstGeom prst="roundRect">
            <a:avLst>
              <a:gd name="adj" fmla="val 9375"/>
            </a:avLst>
          </a:prstGeom>
          <a:solidFill>
            <a:srgbClr val="FFFFFF"/>
          </a:solidFill>
          <a:ln w="889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2832100" y="4749800"/>
            <a:ext cx="38100" cy="81280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997200" y="4876800"/>
            <a:ext cx="1701800" cy="323596"/>
          </a:xfrm>
          <a:prstGeom prst="rect">
            <a:avLst/>
          </a:prstGeom>
          <a:noFill/>
        </p:spPr>
        <p:txBody>
          <a:bodyPr wrap="none" tIns="0" bIns="0" lIns="0" rIns="0" anchor="t">
            <a:spAutoFit/>
          </a:bodyPr>
          <a:lstStyle/>
          <a:p>
            <a:pPr>
              <a:lnSpc>
                <a:spcPts val="2048"/>
              </a:lnSpc>
              <a:spcBef>
                <a:spcPts val="0"/>
              </a:spcBef>
              <a:spcAft>
                <a:spcPts val="0"/>
              </a:spcAft>
            </a:pPr>
            <a:r>
              <a:rPr sz="1600" b="1">
                <a:solidFill>
                  <a:srgbClr val="15243A"/>
                </a:solidFill>
                <a:latin typeface="Noto Sans"/>
              </a:rPr>
              <a:t>Actions</a:t>
            </a:r>
          </a:p>
        </p:txBody>
      </p:sp>
      <p:sp>
        <p:nvSpPr>
          <p:cNvPr id="62" name="TextBox 61"/>
          <p:cNvSpPr txBox="1"/>
          <p:nvPr/>
        </p:nvSpPr>
        <p:spPr>
          <a:xfrm>
            <a:off x="2997200" y="5181600"/>
            <a:ext cx="1701800" cy="242315"/>
          </a:xfrm>
          <a:prstGeom prst="rect">
            <a:avLst/>
          </a:prstGeom>
          <a:noFill/>
        </p:spPr>
        <p:txBody>
          <a:bodyPr wrap="none" tIns="0" bIns="0" lIns="0" rIns="0" anchor="t">
            <a:spAutoFit/>
          </a:bodyPr>
          <a:lstStyle/>
          <a:p>
            <a:pPr>
              <a:lnSpc>
                <a:spcPts val="1408"/>
              </a:lnSpc>
              <a:spcBef>
                <a:spcPts val="0"/>
              </a:spcBef>
              <a:spcAft>
                <a:spcPts val="0"/>
              </a:spcAft>
            </a:pPr>
            <a:r>
              <a:rPr sz="1100" b="0">
                <a:solidFill>
                  <a:srgbClr val="596C80"/>
                </a:solidFill>
                <a:latin typeface="Noto Sans"/>
              </a:rPr>
              <a:t>Test + build + scan</a:t>
            </a:r>
          </a:p>
        </p:txBody>
      </p:sp>
      <p:cxnSp>
        <p:nvCxnSpPr>
          <p:cNvPr id="63" name="Connector 62"/>
          <p:cNvCxnSpPr/>
          <p:nvPr/>
        </p:nvCxnSpPr>
        <p:spPr>
          <a:xfrm>
            <a:off x="4826000" y="5156200"/>
            <a:ext cx="254000" cy="0"/>
          </a:xfrm>
          <a:prstGeom prst="line">
            <a:avLst/>
          </a:prstGeom>
          <a:ln w="20320">
            <a:solidFill>
              <a:srgbClr val="087F76"/>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a:off x="5001146" y="5156200"/>
            <a:ext cx="78854" cy="41052"/>
          </a:xfrm>
          <a:prstGeom prst="line">
            <a:avLst/>
          </a:prstGeom>
          <a:ln w="20320">
            <a:solidFill>
              <a:srgbClr val="087F76"/>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5001146" y="5115147"/>
            <a:ext cx="78854" cy="41053"/>
          </a:xfrm>
          <a:prstGeom prst="line">
            <a:avLst/>
          </a:prstGeom>
          <a:ln w="20320">
            <a:solidFill>
              <a:srgbClr val="087F76"/>
            </a:solidFill>
          </a:ln>
        </p:spPr>
        <p:style>
          <a:lnRef idx="2">
            <a:schemeClr val="accent1"/>
          </a:lnRef>
          <a:fillRef idx="0">
            <a:schemeClr val="accent1"/>
          </a:fillRef>
          <a:effectRef idx="1">
            <a:schemeClr val="accent1"/>
          </a:effectRef>
          <a:fontRef idx="minor">
            <a:schemeClr val="tx1"/>
          </a:fontRef>
        </p:style>
      </p:cxnSp>
      <p:sp>
        <p:nvSpPr>
          <p:cNvPr id="66" name="Rounded Rectangle 65"/>
          <p:cNvSpPr/>
          <p:nvPr/>
        </p:nvSpPr>
        <p:spPr>
          <a:xfrm>
            <a:off x="5080000" y="4749800"/>
            <a:ext cx="1993900" cy="812800"/>
          </a:xfrm>
          <a:prstGeom prst="roundRect">
            <a:avLst>
              <a:gd name="adj" fmla="val 9375"/>
            </a:avLst>
          </a:prstGeom>
          <a:solidFill>
            <a:srgbClr val="FFFFFF"/>
          </a:solidFill>
          <a:ln w="889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5080000" y="4749800"/>
            <a:ext cx="38100" cy="81280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5245100" y="4876800"/>
            <a:ext cx="1701800" cy="323596"/>
          </a:xfrm>
          <a:prstGeom prst="rect">
            <a:avLst/>
          </a:prstGeom>
          <a:noFill/>
        </p:spPr>
        <p:txBody>
          <a:bodyPr wrap="none" tIns="0" bIns="0" lIns="0" rIns="0" anchor="t">
            <a:spAutoFit/>
          </a:bodyPr>
          <a:lstStyle/>
          <a:p>
            <a:pPr>
              <a:lnSpc>
                <a:spcPts val="2048"/>
              </a:lnSpc>
              <a:spcBef>
                <a:spcPts val="0"/>
              </a:spcBef>
              <a:spcAft>
                <a:spcPts val="0"/>
              </a:spcAft>
            </a:pPr>
            <a:r>
              <a:rPr sz="1600" b="1">
                <a:solidFill>
                  <a:srgbClr val="15243A"/>
                </a:solidFill>
                <a:latin typeface="Noto Sans"/>
              </a:rPr>
              <a:t>GHCR</a:t>
            </a:r>
          </a:p>
        </p:txBody>
      </p:sp>
      <p:sp>
        <p:nvSpPr>
          <p:cNvPr id="69" name="TextBox 68"/>
          <p:cNvSpPr txBox="1"/>
          <p:nvPr/>
        </p:nvSpPr>
        <p:spPr>
          <a:xfrm>
            <a:off x="5245100" y="5181600"/>
            <a:ext cx="1701800" cy="242315"/>
          </a:xfrm>
          <a:prstGeom prst="rect">
            <a:avLst/>
          </a:prstGeom>
          <a:noFill/>
        </p:spPr>
        <p:txBody>
          <a:bodyPr wrap="none" tIns="0" bIns="0" lIns="0" rIns="0" anchor="t">
            <a:spAutoFit/>
          </a:bodyPr>
          <a:lstStyle/>
          <a:p>
            <a:pPr>
              <a:lnSpc>
                <a:spcPts val="1408"/>
              </a:lnSpc>
              <a:spcBef>
                <a:spcPts val="0"/>
              </a:spcBef>
              <a:spcAft>
                <a:spcPts val="0"/>
              </a:spcAft>
            </a:pPr>
            <a:r>
              <a:rPr sz="1100" b="0">
                <a:solidFill>
                  <a:srgbClr val="596C80"/>
                </a:solidFill>
                <a:latin typeface="Noto Sans"/>
              </a:rPr>
              <a:t>SHA-tagged images</a:t>
            </a:r>
          </a:p>
        </p:txBody>
      </p:sp>
      <p:cxnSp>
        <p:nvCxnSpPr>
          <p:cNvPr id="70" name="Connector 69"/>
          <p:cNvCxnSpPr/>
          <p:nvPr/>
        </p:nvCxnSpPr>
        <p:spPr>
          <a:xfrm>
            <a:off x="7073900" y="5156200"/>
            <a:ext cx="254000" cy="0"/>
          </a:xfrm>
          <a:prstGeom prst="line">
            <a:avLst/>
          </a:prstGeom>
          <a:ln w="20320">
            <a:solidFill>
              <a:srgbClr val="087F76"/>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a:off x="7249046" y="5156200"/>
            <a:ext cx="78854" cy="41052"/>
          </a:xfrm>
          <a:prstGeom prst="line">
            <a:avLst/>
          </a:prstGeom>
          <a:ln w="20320">
            <a:solidFill>
              <a:srgbClr val="087F76"/>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7249046" y="5115147"/>
            <a:ext cx="78854" cy="41053"/>
          </a:xfrm>
          <a:prstGeom prst="line">
            <a:avLst/>
          </a:prstGeom>
          <a:ln w="20320">
            <a:solidFill>
              <a:srgbClr val="087F76"/>
            </a:solidFill>
          </a:ln>
        </p:spPr>
        <p:style>
          <a:lnRef idx="2">
            <a:schemeClr val="accent1"/>
          </a:lnRef>
          <a:fillRef idx="0">
            <a:schemeClr val="accent1"/>
          </a:fillRef>
          <a:effectRef idx="1">
            <a:schemeClr val="accent1"/>
          </a:effectRef>
          <a:fontRef idx="minor">
            <a:schemeClr val="tx1"/>
          </a:fontRef>
        </p:style>
      </p:cxnSp>
      <p:sp>
        <p:nvSpPr>
          <p:cNvPr id="73" name="Rounded Rectangle 72"/>
          <p:cNvSpPr/>
          <p:nvPr/>
        </p:nvSpPr>
        <p:spPr>
          <a:xfrm>
            <a:off x="7327900" y="4749800"/>
            <a:ext cx="1993900" cy="812800"/>
          </a:xfrm>
          <a:prstGeom prst="roundRect">
            <a:avLst>
              <a:gd name="adj" fmla="val 9375"/>
            </a:avLst>
          </a:prstGeom>
          <a:solidFill>
            <a:srgbClr val="FFFFFF"/>
          </a:solidFill>
          <a:ln w="889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7327900" y="4749800"/>
            <a:ext cx="38100" cy="81280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7493000" y="4876800"/>
            <a:ext cx="1701800" cy="323596"/>
          </a:xfrm>
          <a:prstGeom prst="rect">
            <a:avLst/>
          </a:prstGeom>
          <a:noFill/>
        </p:spPr>
        <p:txBody>
          <a:bodyPr wrap="none" tIns="0" bIns="0" lIns="0" rIns="0" anchor="t">
            <a:spAutoFit/>
          </a:bodyPr>
          <a:lstStyle/>
          <a:p>
            <a:pPr>
              <a:lnSpc>
                <a:spcPts val="2048"/>
              </a:lnSpc>
              <a:spcBef>
                <a:spcPts val="0"/>
              </a:spcBef>
              <a:spcAft>
                <a:spcPts val="0"/>
              </a:spcAft>
            </a:pPr>
            <a:r>
              <a:rPr sz="1600" b="1">
                <a:solidFill>
                  <a:srgbClr val="15243A"/>
                </a:solidFill>
                <a:latin typeface="Noto Sans"/>
              </a:rPr>
              <a:t>Helm + Flux</a:t>
            </a:r>
          </a:p>
        </p:txBody>
      </p:sp>
      <p:sp>
        <p:nvSpPr>
          <p:cNvPr id="76" name="TextBox 75"/>
          <p:cNvSpPr txBox="1"/>
          <p:nvPr/>
        </p:nvSpPr>
        <p:spPr>
          <a:xfrm>
            <a:off x="7493000" y="5181600"/>
            <a:ext cx="1701800" cy="242315"/>
          </a:xfrm>
          <a:prstGeom prst="rect">
            <a:avLst/>
          </a:prstGeom>
          <a:noFill/>
        </p:spPr>
        <p:txBody>
          <a:bodyPr wrap="none" tIns="0" bIns="0" lIns="0" rIns="0" anchor="t">
            <a:spAutoFit/>
          </a:bodyPr>
          <a:lstStyle/>
          <a:p>
            <a:pPr>
              <a:lnSpc>
                <a:spcPts val="1408"/>
              </a:lnSpc>
              <a:spcBef>
                <a:spcPts val="0"/>
              </a:spcBef>
              <a:spcAft>
                <a:spcPts val="0"/>
              </a:spcAft>
            </a:pPr>
            <a:r>
              <a:rPr sz="1100" b="0">
                <a:solidFill>
                  <a:srgbClr val="596C80"/>
                </a:solidFill>
                <a:latin typeface="Noto Sans"/>
              </a:rPr>
              <a:t>Reconciled release</a:t>
            </a:r>
          </a:p>
        </p:txBody>
      </p:sp>
      <p:sp>
        <p:nvSpPr>
          <p:cNvPr id="77" name="Rounded Rectangle 76"/>
          <p:cNvSpPr/>
          <p:nvPr/>
        </p:nvSpPr>
        <p:spPr>
          <a:xfrm>
            <a:off x="9804400" y="4635500"/>
            <a:ext cx="1803400" cy="1028700"/>
          </a:xfrm>
          <a:prstGeom prst="roundRect">
            <a:avLst>
              <a:gd name="adj" fmla="val 7407"/>
            </a:avLst>
          </a:prstGeom>
          <a:solidFill>
            <a:srgbClr val="E3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9982200" y="4762500"/>
            <a:ext cx="1460500" cy="209804"/>
          </a:xfrm>
          <a:prstGeom prst="rect">
            <a:avLst/>
          </a:prstGeom>
          <a:noFill/>
        </p:spPr>
        <p:txBody>
          <a:bodyPr wrap="none" tIns="0" bIns="0" lIns="0" rIns="0" anchor="t">
            <a:spAutoFit/>
          </a:bodyPr>
          <a:lstStyle/>
          <a:p>
            <a:pPr>
              <a:lnSpc>
                <a:spcPts val="1152"/>
              </a:lnSpc>
              <a:spcBef>
                <a:spcPts val="0"/>
              </a:spcBef>
              <a:spcAft>
                <a:spcPts val="0"/>
              </a:spcAft>
            </a:pPr>
            <a:r>
              <a:rPr sz="900" b="1">
                <a:solidFill>
                  <a:srgbClr val="087F76"/>
                </a:solidFill>
                <a:latin typeface="Noto Sans"/>
              </a:rPr>
              <a:t>OBSERVE</a:t>
            </a:r>
          </a:p>
        </p:txBody>
      </p:sp>
      <p:sp>
        <p:nvSpPr>
          <p:cNvPr id="79" name="TextBox 78"/>
          <p:cNvSpPr txBox="1"/>
          <p:nvPr/>
        </p:nvSpPr>
        <p:spPr>
          <a:xfrm>
            <a:off x="9982200" y="4991100"/>
            <a:ext cx="1460500" cy="486156"/>
          </a:xfrm>
          <a:prstGeom prst="rect">
            <a:avLst/>
          </a:prstGeom>
          <a:noFill/>
        </p:spPr>
        <p:txBody>
          <a:bodyPr wrap="none" tIns="0" bIns="0" lIns="0" rIns="0" anchor="t">
            <a:spAutoFit/>
          </a:bodyPr>
          <a:lstStyle/>
          <a:p>
            <a:pPr>
              <a:lnSpc>
                <a:spcPts val="1664"/>
              </a:lnSpc>
              <a:spcBef>
                <a:spcPts val="0"/>
              </a:spcBef>
              <a:spcAft>
                <a:spcPts val="0"/>
              </a:spcAft>
            </a:pPr>
            <a:r>
              <a:rPr sz="1300" b="1">
                <a:solidFill>
                  <a:srgbClr val="15243A"/>
                </a:solidFill>
                <a:latin typeface="Noto Sans"/>
              </a:rPr>
              <a:t>Prometheus</a:t>
            </a:r>
          </a:p>
          <a:p>
            <a:pPr>
              <a:lnSpc>
                <a:spcPts val="1664"/>
              </a:lnSpc>
              <a:spcBef>
                <a:spcPts val="0"/>
              </a:spcBef>
              <a:spcAft>
                <a:spcPts val="0"/>
              </a:spcAft>
            </a:pPr>
            <a:r>
              <a:rPr sz="1300" b="1">
                <a:solidFill>
                  <a:srgbClr val="15243A"/>
                </a:solidFill>
                <a:latin typeface="DejaVu Sans"/>
              </a:rPr>
              <a:t>→</a:t>
            </a:r>
            <a:r>
              <a:rPr sz="1300" b="1">
                <a:solidFill>
                  <a:srgbClr val="15243A"/>
                </a:solidFill>
                <a:latin typeface="Noto Sans"/>
              </a:rPr>
              <a:t> Grafana</a:t>
            </a:r>
          </a:p>
        </p:txBody>
      </p:sp>
      <p:cxnSp>
        <p:nvCxnSpPr>
          <p:cNvPr id="80" name="Connector 79"/>
          <p:cNvCxnSpPr/>
          <p:nvPr/>
        </p:nvCxnSpPr>
        <p:spPr>
          <a:xfrm>
            <a:off x="8255000" y="4051300"/>
            <a:ext cx="0" cy="292100"/>
          </a:xfrm>
          <a:prstGeom prst="line">
            <a:avLst/>
          </a:prstGeom>
          <a:ln w="12700">
            <a:solidFill>
              <a:srgbClr val="087F76"/>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8255000" y="4343400"/>
            <a:ext cx="2413000" cy="0"/>
          </a:xfrm>
          <a:prstGeom prst="line">
            <a:avLst/>
          </a:prstGeom>
          <a:ln w="12700">
            <a:solidFill>
              <a:srgbClr val="087F76"/>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10668000" y="4343400"/>
            <a:ext cx="0" cy="292100"/>
          </a:xfrm>
          <a:prstGeom prst="line">
            <a:avLst/>
          </a:prstGeom>
          <a:ln w="12700">
            <a:solidFill>
              <a:srgbClr val="087F76"/>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H="1" flipV="1">
            <a:off x="10626947" y="4556646"/>
            <a:ext cx="41053" cy="78854"/>
          </a:xfrm>
          <a:prstGeom prst="line">
            <a:avLst/>
          </a:prstGeom>
          <a:ln w="12700">
            <a:solidFill>
              <a:srgbClr val="087F76"/>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10668000" y="4556646"/>
            <a:ext cx="41052" cy="78854"/>
          </a:xfrm>
          <a:prstGeom prst="line">
            <a:avLst/>
          </a:prstGeom>
          <a:ln w="12700">
            <a:solidFill>
              <a:srgbClr val="087F76"/>
            </a:solidFill>
          </a:ln>
        </p:spPr>
        <p:style>
          <a:lnRef idx="2">
            <a:schemeClr val="accent1"/>
          </a:lnRef>
          <a:fillRef idx="0">
            <a:schemeClr val="accent1"/>
          </a:fillRef>
          <a:effectRef idx="1">
            <a:schemeClr val="accent1"/>
          </a:effectRef>
          <a:fontRef idx="minor">
            <a:schemeClr val="tx1"/>
          </a:fontRef>
        </p:style>
      </p:cxnSp>
      <p:sp>
        <p:nvSpPr>
          <p:cNvPr id="85" name="TextBox 84"/>
          <p:cNvSpPr txBox="1"/>
          <p:nvPr/>
        </p:nvSpPr>
        <p:spPr>
          <a:xfrm>
            <a:off x="9144000" y="4114800"/>
            <a:ext cx="1143000" cy="209804"/>
          </a:xfrm>
          <a:prstGeom prst="rect">
            <a:avLst/>
          </a:prstGeom>
          <a:noFill/>
        </p:spPr>
        <p:txBody>
          <a:bodyPr wrap="none" tIns="0" bIns="0" lIns="0" rIns="0" anchor="t">
            <a:spAutoFit/>
          </a:bodyPr>
          <a:lstStyle/>
          <a:p>
            <a:pPr>
              <a:lnSpc>
                <a:spcPts val="1152"/>
              </a:lnSpc>
              <a:spcBef>
                <a:spcPts val="0"/>
              </a:spcBef>
              <a:spcAft>
                <a:spcPts val="0"/>
              </a:spcAft>
            </a:pPr>
            <a:r>
              <a:rPr sz="900" b="0">
                <a:solidFill>
                  <a:srgbClr val="087F76"/>
                </a:solidFill>
                <a:latin typeface="Noto Sans"/>
              </a:rPr>
              <a:t>/metrics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79400"/>
            <a:ext cx="4445000" cy="209804"/>
          </a:xfrm>
          <a:prstGeom prst="rect">
            <a:avLst/>
          </a:prstGeom>
          <a:noFill/>
        </p:spPr>
        <p:txBody>
          <a:bodyPr wrap="none" tIns="0" bIns="0" lIns="0" rIns="0" anchor="t">
            <a:spAutoFit/>
          </a:bodyPr>
          <a:lstStyle/>
          <a:p>
            <a:pPr>
              <a:lnSpc>
                <a:spcPts val="1152"/>
              </a:lnSpc>
              <a:spcBef>
                <a:spcPts val="0"/>
              </a:spcBef>
              <a:spcAft>
                <a:spcPts val="0"/>
              </a:spcAft>
            </a:pPr>
            <a:r>
              <a:rPr sz="900" b="1">
                <a:solidFill>
                  <a:srgbClr val="596C80"/>
                </a:solidFill>
                <a:latin typeface="Noto Sans"/>
              </a:rPr>
              <a:t>RH / RELEASE HELPDESK</a:t>
            </a:r>
          </a:p>
        </p:txBody>
      </p:sp>
      <p:sp>
        <p:nvSpPr>
          <p:cNvPr id="4" name="TextBox 3"/>
          <p:cNvSpPr txBox="1"/>
          <p:nvPr/>
        </p:nvSpPr>
        <p:spPr>
          <a:xfrm>
            <a:off x="8763000" y="279400"/>
            <a:ext cx="2857500" cy="209804"/>
          </a:xfrm>
          <a:prstGeom prst="rect">
            <a:avLst/>
          </a:prstGeom>
          <a:noFill/>
        </p:spPr>
        <p:txBody>
          <a:bodyPr wrap="none" tIns="0" bIns="0" lIns="0" rIns="0" anchor="t">
            <a:spAutoFit/>
          </a:bodyPr>
          <a:lstStyle/>
          <a:p>
            <a:pPr>
              <a:lnSpc>
                <a:spcPts val="1152"/>
              </a:lnSpc>
              <a:spcBef>
                <a:spcPts val="0"/>
              </a:spcBef>
              <a:spcAft>
                <a:spcPts val="0"/>
              </a:spcAft>
            </a:pPr>
            <a:r>
              <a:rPr sz="900" b="1">
                <a:solidFill>
                  <a:srgbClr val="596C80"/>
                </a:solidFill>
                <a:latin typeface="Noto Sans"/>
              </a:rPr>
              <a:t>03 / API, TESTS &amp; DATA</a:t>
            </a:r>
          </a:p>
        </p:txBody>
      </p:sp>
      <p:sp>
        <p:nvSpPr>
          <p:cNvPr id="5" name="Rectangle 4"/>
          <p:cNvSpPr/>
          <p:nvPr/>
        </p:nvSpPr>
        <p:spPr>
          <a:xfrm>
            <a:off x="584200" y="660400"/>
            <a:ext cx="355600" cy="38100"/>
          </a:xfrm>
          <a:prstGeom prst="rect">
            <a:avLst/>
          </a:prstGeom>
          <a:solidFill>
            <a:srgbClr val="24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84200" y="876300"/>
            <a:ext cx="11049000" cy="508380"/>
          </a:xfrm>
          <a:prstGeom prst="rect">
            <a:avLst/>
          </a:prstGeom>
          <a:noFill/>
        </p:spPr>
        <p:txBody>
          <a:bodyPr wrap="none" tIns="0" bIns="0" lIns="0" rIns="0" anchor="t">
            <a:spAutoFit/>
          </a:bodyPr>
          <a:lstStyle/>
          <a:p>
            <a:pPr>
              <a:lnSpc>
                <a:spcPts val="3502"/>
              </a:lnSpc>
              <a:spcBef>
                <a:spcPts val="0"/>
              </a:spcBef>
              <a:spcAft>
                <a:spcPts val="0"/>
              </a:spcAft>
            </a:pPr>
            <a:r>
              <a:rPr sz="3100" b="1">
                <a:solidFill>
                  <a:srgbClr val="15243A"/>
                </a:solidFill>
                <a:latin typeface="Noto Sans"/>
              </a:rPr>
              <a:t>Correctness starts before deployment.</a:t>
            </a:r>
          </a:p>
        </p:txBody>
      </p:sp>
      <p:sp>
        <p:nvSpPr>
          <p:cNvPr id="7" name="TextBox 6"/>
          <p:cNvSpPr txBox="1"/>
          <p:nvPr/>
        </p:nvSpPr>
        <p:spPr>
          <a:xfrm>
            <a:off x="584200" y="1473200"/>
            <a:ext cx="10985500" cy="258572"/>
          </a:xfrm>
          <a:prstGeom prst="rect">
            <a:avLst/>
          </a:prstGeom>
          <a:noFill/>
        </p:spPr>
        <p:txBody>
          <a:bodyPr wrap="none" tIns="0" bIns="0" lIns="0" rIns="0" anchor="t">
            <a:spAutoFit/>
          </a:bodyPr>
          <a:lstStyle/>
          <a:p>
            <a:pPr>
              <a:lnSpc>
                <a:spcPts val="1536"/>
              </a:lnSpc>
              <a:spcBef>
                <a:spcPts val="0"/>
              </a:spcBef>
              <a:spcAft>
                <a:spcPts val="0"/>
              </a:spcAft>
            </a:pPr>
            <a:r>
              <a:rPr sz="1200" b="0">
                <a:solidFill>
                  <a:srgbClr val="596C80"/>
                </a:solidFill>
                <a:latin typeface="Noto Sans"/>
              </a:rPr>
              <a:t>A tested API contract and one migration authority protect the data layer.</a:t>
            </a:r>
          </a:p>
        </p:txBody>
      </p:sp>
      <p:cxnSp>
        <p:nvCxnSpPr>
          <p:cNvPr id="8" name="Connector 7"/>
          <p:cNvCxnSpPr/>
          <p:nvPr/>
        </p:nvCxnSpPr>
        <p:spPr>
          <a:xfrm>
            <a:off x="584200" y="6438900"/>
            <a:ext cx="11023600" cy="0"/>
          </a:xfrm>
          <a:prstGeom prst="line">
            <a:avLst/>
          </a:prstGeom>
          <a:ln w="10160">
            <a:solidFill>
              <a:srgbClr val="DCE4ED"/>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84200" y="6578600"/>
            <a:ext cx="4572000" cy="193548"/>
          </a:xfrm>
          <a:prstGeom prst="rect">
            <a:avLst/>
          </a:prstGeom>
          <a:noFill/>
        </p:spPr>
        <p:txBody>
          <a:bodyPr wrap="none" tIns="0" bIns="0" lIns="0" rIns="0" anchor="t">
            <a:spAutoFit/>
          </a:bodyPr>
          <a:lstStyle/>
          <a:p>
            <a:pPr>
              <a:lnSpc>
                <a:spcPts val="1024"/>
              </a:lnSpc>
              <a:spcBef>
                <a:spcPts val="0"/>
              </a:spcBef>
              <a:spcAft>
                <a:spcPts val="0"/>
              </a:spcAft>
            </a:pPr>
            <a:r>
              <a:rPr sz="800" b="0">
                <a:solidFill>
                  <a:srgbClr val="596C80"/>
                </a:solidFill>
                <a:latin typeface="Noto Sans"/>
              </a:rPr>
              <a:t>RELEASE ENGINEERING / PLATFORM WALKTHROUGH</a:t>
            </a:r>
          </a:p>
        </p:txBody>
      </p:sp>
      <p:sp>
        <p:nvSpPr>
          <p:cNvPr id="10" name="TextBox 9"/>
          <p:cNvSpPr txBox="1"/>
          <p:nvPr/>
        </p:nvSpPr>
        <p:spPr>
          <a:xfrm>
            <a:off x="10922000" y="6553200"/>
            <a:ext cx="736600" cy="209804"/>
          </a:xfrm>
          <a:prstGeom prst="rect">
            <a:avLst/>
          </a:prstGeom>
          <a:noFill/>
        </p:spPr>
        <p:txBody>
          <a:bodyPr wrap="none" tIns="0" bIns="0" lIns="0" rIns="0" anchor="t">
            <a:spAutoFit/>
          </a:bodyPr>
          <a:lstStyle/>
          <a:p>
            <a:pPr>
              <a:lnSpc>
                <a:spcPts val="1152"/>
              </a:lnSpc>
              <a:spcBef>
                <a:spcPts val="0"/>
              </a:spcBef>
              <a:spcAft>
                <a:spcPts val="0"/>
              </a:spcAft>
            </a:pPr>
            <a:r>
              <a:rPr sz="900" b="1">
                <a:solidFill>
                  <a:srgbClr val="596C80"/>
                </a:solidFill>
                <a:latin typeface="Noto Sans"/>
              </a:rPr>
              <a:t>04 / 16</a:t>
            </a:r>
          </a:p>
        </p:txBody>
      </p:sp>
      <p:sp>
        <p:nvSpPr>
          <p:cNvPr id="11" name="TextBox 10"/>
          <p:cNvSpPr txBox="1"/>
          <p:nvPr/>
        </p:nvSpPr>
        <p:spPr>
          <a:xfrm>
            <a:off x="584200" y="6210300"/>
            <a:ext cx="10414000" cy="193548"/>
          </a:xfrm>
          <a:prstGeom prst="rect">
            <a:avLst/>
          </a:prstGeom>
          <a:noFill/>
        </p:spPr>
        <p:txBody>
          <a:bodyPr wrap="none" tIns="0" bIns="0" lIns="0" rIns="0" anchor="t">
            <a:spAutoFit/>
          </a:bodyPr>
          <a:lstStyle/>
          <a:p>
            <a:pPr>
              <a:lnSpc>
                <a:spcPts val="1024"/>
              </a:lnSpc>
              <a:spcBef>
                <a:spcPts val="0"/>
              </a:spcBef>
              <a:spcAft>
                <a:spcPts val="0"/>
              </a:spcAft>
            </a:pPr>
            <a:r>
              <a:rPr sz="800" b="0">
                <a:solidFill>
                  <a:srgbClr val="596C80"/>
                </a:solidFill>
                <a:latin typeface="Noto Sans"/>
                <a:hlinkClick r:id="rId2"/>
              </a:rPr>
              <a:t>Evidence · PostgreSQL tests, migration and restart persistence</a:t>
            </a:r>
          </a:p>
        </p:txBody>
      </p:sp>
      <p:sp>
        <p:nvSpPr>
          <p:cNvPr id="12" name="Rounded Rectangle 11"/>
          <p:cNvSpPr/>
          <p:nvPr/>
        </p:nvSpPr>
        <p:spPr>
          <a:xfrm>
            <a:off x="584200" y="2006600"/>
            <a:ext cx="3492500" cy="1841500"/>
          </a:xfrm>
          <a:prstGeom prst="roundRect">
            <a:avLst>
              <a:gd name="adj" fmla="val 4827"/>
            </a:avLst>
          </a:prstGeom>
          <a:solidFill>
            <a:srgbClr val="101E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2800" y="2171700"/>
            <a:ext cx="2921000" cy="990092"/>
          </a:xfrm>
          <a:prstGeom prst="rect">
            <a:avLst/>
          </a:prstGeom>
          <a:noFill/>
        </p:spPr>
        <p:txBody>
          <a:bodyPr wrap="none" tIns="0" bIns="0" lIns="0" rIns="0" anchor="t">
            <a:spAutoFit/>
          </a:bodyPr>
          <a:lstStyle/>
          <a:p>
            <a:pPr>
              <a:lnSpc>
                <a:spcPts val="7296"/>
              </a:lnSpc>
              <a:spcBef>
                <a:spcPts val="0"/>
              </a:spcBef>
              <a:spcAft>
                <a:spcPts val="0"/>
              </a:spcAft>
            </a:pPr>
            <a:r>
              <a:rPr sz="5700" b="1">
                <a:solidFill>
                  <a:srgbClr val="67DBCC"/>
                </a:solidFill>
                <a:latin typeface="Noto Sans"/>
              </a:rPr>
              <a:t>19</a:t>
            </a:r>
          </a:p>
        </p:txBody>
      </p:sp>
      <p:sp>
        <p:nvSpPr>
          <p:cNvPr id="14" name="TextBox 13"/>
          <p:cNvSpPr txBox="1"/>
          <p:nvPr/>
        </p:nvSpPr>
        <p:spPr>
          <a:xfrm>
            <a:off x="825500" y="3086100"/>
            <a:ext cx="2921000" cy="323596"/>
          </a:xfrm>
          <a:prstGeom prst="rect">
            <a:avLst/>
          </a:prstGeom>
          <a:noFill/>
        </p:spPr>
        <p:txBody>
          <a:bodyPr wrap="none" tIns="0" bIns="0" lIns="0" rIns="0" anchor="t">
            <a:spAutoFit/>
          </a:bodyPr>
          <a:lstStyle/>
          <a:p>
            <a:pPr>
              <a:lnSpc>
                <a:spcPts val="2048"/>
              </a:lnSpc>
              <a:spcBef>
                <a:spcPts val="0"/>
              </a:spcBef>
              <a:spcAft>
                <a:spcPts val="0"/>
              </a:spcAft>
            </a:pPr>
            <a:r>
              <a:rPr sz="1600" b="1">
                <a:solidFill>
                  <a:srgbClr val="FFFFFF"/>
                </a:solidFill>
                <a:latin typeface="Noto Sans"/>
              </a:rPr>
              <a:t>passing API test cases</a:t>
            </a:r>
          </a:p>
        </p:txBody>
      </p:sp>
      <p:sp>
        <p:nvSpPr>
          <p:cNvPr id="15" name="TextBox 14"/>
          <p:cNvSpPr txBox="1"/>
          <p:nvPr/>
        </p:nvSpPr>
        <p:spPr>
          <a:xfrm>
            <a:off x="825500" y="3467100"/>
            <a:ext cx="2921000" cy="242315"/>
          </a:xfrm>
          <a:prstGeom prst="rect">
            <a:avLst/>
          </a:prstGeom>
          <a:noFill/>
        </p:spPr>
        <p:txBody>
          <a:bodyPr wrap="none" tIns="0" bIns="0" lIns="0" rIns="0" anchor="t">
            <a:spAutoFit/>
          </a:bodyPr>
          <a:lstStyle/>
          <a:p>
            <a:pPr>
              <a:lnSpc>
                <a:spcPts val="1408"/>
              </a:lnSpc>
              <a:spcBef>
                <a:spcPts val="0"/>
              </a:spcBef>
              <a:spcAft>
                <a:spcPts val="0"/>
              </a:spcAft>
            </a:pPr>
            <a:r>
              <a:rPr sz="1100" b="0">
                <a:solidFill>
                  <a:srgbClr val="B7CAE1"/>
                </a:solidFill>
                <a:latin typeface="Noto Sans"/>
              </a:rPr>
              <a:t>Isolated test database</a:t>
            </a:r>
          </a:p>
        </p:txBody>
      </p:sp>
      <p:sp>
        <p:nvSpPr>
          <p:cNvPr id="16" name="TextBox 15"/>
          <p:cNvSpPr txBox="1"/>
          <p:nvPr/>
        </p:nvSpPr>
        <p:spPr>
          <a:xfrm>
            <a:off x="4470400" y="2019300"/>
            <a:ext cx="3556000" cy="226060"/>
          </a:xfrm>
          <a:prstGeom prst="rect">
            <a:avLst/>
          </a:prstGeom>
          <a:noFill/>
        </p:spPr>
        <p:txBody>
          <a:bodyPr wrap="none" tIns="0" bIns="0" lIns="0" rIns="0" anchor="t">
            <a:spAutoFit/>
          </a:bodyPr>
          <a:lstStyle/>
          <a:p>
            <a:pPr>
              <a:lnSpc>
                <a:spcPts val="1280"/>
              </a:lnSpc>
              <a:spcBef>
                <a:spcPts val="0"/>
              </a:spcBef>
              <a:spcAft>
                <a:spcPts val="0"/>
              </a:spcAft>
            </a:pPr>
            <a:r>
              <a:rPr sz="1000" b="1">
                <a:solidFill>
                  <a:srgbClr val="2463EB"/>
                </a:solidFill>
                <a:latin typeface="Noto Sans"/>
              </a:rPr>
              <a:t>SIX REST OPERATIONS</a:t>
            </a:r>
          </a:p>
        </p:txBody>
      </p:sp>
      <p:sp>
        <p:nvSpPr>
          <p:cNvPr id="17" name="TextBox 16"/>
          <p:cNvSpPr txBox="1"/>
          <p:nvPr/>
        </p:nvSpPr>
        <p:spPr>
          <a:xfrm>
            <a:off x="4470400" y="2387600"/>
            <a:ext cx="4191000" cy="258572"/>
          </a:xfrm>
          <a:prstGeom prst="rect">
            <a:avLst/>
          </a:prstGeom>
          <a:noFill/>
        </p:spPr>
        <p:txBody>
          <a:bodyPr wrap="none" tIns="0" bIns="0" lIns="0" rIns="0" anchor="t">
            <a:spAutoFit/>
          </a:bodyPr>
          <a:lstStyle/>
          <a:p>
            <a:pPr>
              <a:lnSpc>
                <a:spcPts val="1536"/>
              </a:lnSpc>
              <a:spcBef>
                <a:spcPts val="0"/>
              </a:spcBef>
              <a:spcAft>
                <a:spcPts val="0"/>
              </a:spcAft>
            </a:pPr>
            <a:r>
              <a:rPr sz="1200" b="0">
                <a:solidFill>
                  <a:srgbClr val="15243A"/>
                </a:solidFill>
                <a:latin typeface="DejaVu Sans Mono"/>
              </a:rPr>
              <a:t>GET /api/tasks</a:t>
            </a:r>
          </a:p>
        </p:txBody>
      </p:sp>
      <p:sp>
        <p:nvSpPr>
          <p:cNvPr id="18" name="TextBox 17"/>
          <p:cNvSpPr txBox="1"/>
          <p:nvPr/>
        </p:nvSpPr>
        <p:spPr>
          <a:xfrm>
            <a:off x="4470400" y="2730500"/>
            <a:ext cx="4191000" cy="258572"/>
          </a:xfrm>
          <a:prstGeom prst="rect">
            <a:avLst/>
          </a:prstGeom>
          <a:noFill/>
        </p:spPr>
        <p:txBody>
          <a:bodyPr wrap="none" tIns="0" bIns="0" lIns="0" rIns="0" anchor="t">
            <a:spAutoFit/>
          </a:bodyPr>
          <a:lstStyle/>
          <a:p>
            <a:pPr>
              <a:lnSpc>
                <a:spcPts val="1536"/>
              </a:lnSpc>
              <a:spcBef>
                <a:spcPts val="0"/>
              </a:spcBef>
              <a:spcAft>
                <a:spcPts val="0"/>
              </a:spcAft>
            </a:pPr>
            <a:r>
              <a:rPr sz="1200" b="0">
                <a:solidFill>
                  <a:srgbClr val="15243A"/>
                </a:solidFill>
                <a:latin typeface="DejaVu Sans Mono"/>
              </a:rPr>
              <a:t>GET /api/tasks/{id}</a:t>
            </a:r>
          </a:p>
        </p:txBody>
      </p:sp>
      <p:sp>
        <p:nvSpPr>
          <p:cNvPr id="19" name="TextBox 18"/>
          <p:cNvSpPr txBox="1"/>
          <p:nvPr/>
        </p:nvSpPr>
        <p:spPr>
          <a:xfrm>
            <a:off x="4470400" y="3073400"/>
            <a:ext cx="4191000" cy="258572"/>
          </a:xfrm>
          <a:prstGeom prst="rect">
            <a:avLst/>
          </a:prstGeom>
          <a:noFill/>
        </p:spPr>
        <p:txBody>
          <a:bodyPr wrap="none" tIns="0" bIns="0" lIns="0" rIns="0" anchor="t">
            <a:spAutoFit/>
          </a:bodyPr>
          <a:lstStyle/>
          <a:p>
            <a:pPr>
              <a:lnSpc>
                <a:spcPts val="1536"/>
              </a:lnSpc>
              <a:spcBef>
                <a:spcPts val="0"/>
              </a:spcBef>
              <a:spcAft>
                <a:spcPts val="0"/>
              </a:spcAft>
            </a:pPr>
            <a:r>
              <a:rPr sz="1200" b="0">
                <a:solidFill>
                  <a:srgbClr val="15243A"/>
                </a:solidFill>
                <a:latin typeface="DejaVu Sans Mono"/>
              </a:rPr>
              <a:t>GET /api/tasks/stats</a:t>
            </a:r>
          </a:p>
        </p:txBody>
      </p:sp>
      <p:sp>
        <p:nvSpPr>
          <p:cNvPr id="20" name="TextBox 19"/>
          <p:cNvSpPr txBox="1"/>
          <p:nvPr/>
        </p:nvSpPr>
        <p:spPr>
          <a:xfrm>
            <a:off x="4470400" y="3416300"/>
            <a:ext cx="4191000" cy="258572"/>
          </a:xfrm>
          <a:prstGeom prst="rect">
            <a:avLst/>
          </a:prstGeom>
          <a:noFill/>
        </p:spPr>
        <p:txBody>
          <a:bodyPr wrap="none" tIns="0" bIns="0" lIns="0" rIns="0" anchor="t">
            <a:spAutoFit/>
          </a:bodyPr>
          <a:lstStyle/>
          <a:p>
            <a:pPr>
              <a:lnSpc>
                <a:spcPts val="1536"/>
              </a:lnSpc>
              <a:spcBef>
                <a:spcPts val="0"/>
              </a:spcBef>
              <a:spcAft>
                <a:spcPts val="0"/>
              </a:spcAft>
            </a:pPr>
            <a:r>
              <a:rPr sz="1200" b="0">
                <a:solidFill>
                  <a:srgbClr val="15243A"/>
                </a:solidFill>
                <a:latin typeface="DejaVu Sans Mono"/>
              </a:rPr>
              <a:t>POST /api/tasks</a:t>
            </a:r>
          </a:p>
        </p:txBody>
      </p:sp>
      <p:sp>
        <p:nvSpPr>
          <p:cNvPr id="21" name="TextBox 20"/>
          <p:cNvSpPr txBox="1"/>
          <p:nvPr/>
        </p:nvSpPr>
        <p:spPr>
          <a:xfrm>
            <a:off x="4470400" y="3759200"/>
            <a:ext cx="4191000" cy="258572"/>
          </a:xfrm>
          <a:prstGeom prst="rect">
            <a:avLst/>
          </a:prstGeom>
          <a:noFill/>
        </p:spPr>
        <p:txBody>
          <a:bodyPr wrap="none" tIns="0" bIns="0" lIns="0" rIns="0" anchor="t">
            <a:spAutoFit/>
          </a:bodyPr>
          <a:lstStyle/>
          <a:p>
            <a:pPr>
              <a:lnSpc>
                <a:spcPts val="1536"/>
              </a:lnSpc>
              <a:spcBef>
                <a:spcPts val="0"/>
              </a:spcBef>
              <a:spcAft>
                <a:spcPts val="0"/>
              </a:spcAft>
            </a:pPr>
            <a:r>
              <a:rPr sz="1200" b="0">
                <a:solidFill>
                  <a:srgbClr val="15243A"/>
                </a:solidFill>
                <a:latin typeface="DejaVu Sans Mono"/>
              </a:rPr>
              <a:t>PUT /api/tasks/{id}</a:t>
            </a:r>
          </a:p>
        </p:txBody>
      </p:sp>
      <p:sp>
        <p:nvSpPr>
          <p:cNvPr id="22" name="TextBox 21"/>
          <p:cNvSpPr txBox="1"/>
          <p:nvPr/>
        </p:nvSpPr>
        <p:spPr>
          <a:xfrm>
            <a:off x="4470400" y="4102100"/>
            <a:ext cx="4191000" cy="258572"/>
          </a:xfrm>
          <a:prstGeom prst="rect">
            <a:avLst/>
          </a:prstGeom>
          <a:noFill/>
        </p:spPr>
        <p:txBody>
          <a:bodyPr wrap="none" tIns="0" bIns="0" lIns="0" rIns="0" anchor="t">
            <a:spAutoFit/>
          </a:bodyPr>
          <a:lstStyle/>
          <a:p>
            <a:pPr>
              <a:lnSpc>
                <a:spcPts val="1536"/>
              </a:lnSpc>
              <a:spcBef>
                <a:spcPts val="0"/>
              </a:spcBef>
              <a:spcAft>
                <a:spcPts val="0"/>
              </a:spcAft>
            </a:pPr>
            <a:r>
              <a:rPr sz="1200" b="0">
                <a:solidFill>
                  <a:srgbClr val="15243A"/>
                </a:solidFill>
                <a:latin typeface="DejaVu Sans Mono"/>
              </a:rPr>
              <a:t>DELETE /api/tasks/{id}</a:t>
            </a:r>
          </a:p>
        </p:txBody>
      </p:sp>
      <p:sp>
        <p:nvSpPr>
          <p:cNvPr id="23" name="TextBox 22"/>
          <p:cNvSpPr txBox="1"/>
          <p:nvPr/>
        </p:nvSpPr>
        <p:spPr>
          <a:xfrm>
            <a:off x="8890000" y="2108200"/>
            <a:ext cx="381000" cy="258572"/>
          </a:xfrm>
          <a:prstGeom prst="rect">
            <a:avLst/>
          </a:prstGeom>
          <a:noFill/>
        </p:spPr>
        <p:txBody>
          <a:bodyPr wrap="none" tIns="0" bIns="0" lIns="0" rIns="0" anchor="t">
            <a:spAutoFit/>
          </a:bodyPr>
          <a:lstStyle/>
          <a:p>
            <a:pPr>
              <a:lnSpc>
                <a:spcPts val="1536"/>
              </a:lnSpc>
              <a:spcBef>
                <a:spcPts val="0"/>
              </a:spcBef>
              <a:spcAft>
                <a:spcPts val="0"/>
              </a:spcAft>
            </a:pPr>
            <a:r>
              <a:rPr sz="1200" b="1">
                <a:solidFill>
                  <a:srgbClr val="087F76"/>
                </a:solidFill>
                <a:latin typeface="Noto Sans"/>
              </a:rPr>
              <a:t>DB</a:t>
            </a:r>
          </a:p>
        </p:txBody>
      </p:sp>
      <p:sp>
        <p:nvSpPr>
          <p:cNvPr id="24" name="TextBox 23"/>
          <p:cNvSpPr txBox="1"/>
          <p:nvPr/>
        </p:nvSpPr>
        <p:spPr>
          <a:xfrm>
            <a:off x="9372600" y="2070100"/>
            <a:ext cx="2273300" cy="339852"/>
          </a:xfrm>
          <a:prstGeom prst="rect">
            <a:avLst/>
          </a:prstGeom>
          <a:noFill/>
        </p:spPr>
        <p:txBody>
          <a:bodyPr wrap="none" tIns="0" bIns="0" lIns="0" rIns="0" anchor="t">
            <a:spAutoFit/>
          </a:bodyPr>
          <a:lstStyle/>
          <a:p>
            <a:pPr>
              <a:lnSpc>
                <a:spcPts val="2176"/>
              </a:lnSpc>
              <a:spcBef>
                <a:spcPts val="0"/>
              </a:spcBef>
              <a:spcAft>
                <a:spcPts val="0"/>
              </a:spcAft>
            </a:pPr>
            <a:r>
              <a:rPr sz="1700" b="1">
                <a:solidFill>
                  <a:srgbClr val="15243A"/>
                </a:solidFill>
                <a:latin typeface="Noto Sans"/>
              </a:rPr>
              <a:t>Alembic only</a:t>
            </a:r>
          </a:p>
        </p:txBody>
      </p:sp>
      <p:sp>
        <p:nvSpPr>
          <p:cNvPr id="25" name="TextBox 24"/>
          <p:cNvSpPr txBox="1"/>
          <p:nvPr/>
        </p:nvSpPr>
        <p:spPr>
          <a:xfrm>
            <a:off x="9372600" y="2425700"/>
            <a:ext cx="2273300" cy="908812"/>
          </a:xfrm>
          <a:prstGeom prst="rect">
            <a:avLst/>
          </a:prstGeom>
          <a:noFill/>
        </p:spPr>
        <p:txBody>
          <a:bodyPr wrap="none" tIns="0" bIns="0" lIns="0" rIns="0" anchor="t">
            <a:spAutoFit/>
          </a:bodyPr>
          <a:lstStyle/>
          <a:p>
            <a:pPr>
              <a:lnSpc>
                <a:spcPts val="1664"/>
              </a:lnSpc>
              <a:spcBef>
                <a:spcPts val="0"/>
              </a:spcBef>
              <a:spcAft>
                <a:spcPts val="0"/>
              </a:spcAft>
            </a:pPr>
            <a:r>
              <a:rPr sz="1300" b="0">
                <a:solidFill>
                  <a:srgbClr val="596C80"/>
                </a:solidFill>
                <a:latin typeface="Noto Sans"/>
              </a:rPr>
              <a:t>Schema revision</a:t>
            </a:r>
          </a:p>
          <a:p>
            <a:pPr>
              <a:lnSpc>
                <a:spcPts val="1664"/>
              </a:lnSpc>
              <a:spcBef>
                <a:spcPts val="0"/>
              </a:spcBef>
              <a:spcAft>
                <a:spcPts val="0"/>
              </a:spcAft>
            </a:pPr>
            <a:r>
              <a:rPr sz="1300" b="0">
                <a:solidFill>
                  <a:srgbClr val="596C80"/>
                </a:solidFill>
                <a:latin typeface="Noto Sans"/>
              </a:rPr>
              <a:t>0001_create_tasks;</a:t>
            </a:r>
          </a:p>
          <a:p>
            <a:pPr>
              <a:lnSpc>
                <a:spcPts val="1664"/>
              </a:lnSpc>
              <a:spcBef>
                <a:spcPts val="0"/>
              </a:spcBef>
              <a:spcAft>
                <a:spcPts val="0"/>
              </a:spcAft>
            </a:pPr>
            <a:r>
              <a:rPr sz="1300" b="0">
                <a:solidFill>
                  <a:srgbClr val="596C80"/>
                </a:solidFill>
                <a:latin typeface="Noto Sans"/>
              </a:rPr>
              <a:t>migrations run before traffic</a:t>
            </a:r>
          </a:p>
          <a:p>
            <a:pPr>
              <a:lnSpc>
                <a:spcPts val="1664"/>
              </a:lnSpc>
              <a:spcBef>
                <a:spcPts val="0"/>
              </a:spcBef>
              <a:spcAft>
                <a:spcPts val="0"/>
              </a:spcAft>
            </a:pPr>
            <a:r>
              <a:rPr sz="1300" b="0">
                <a:solidFill>
                  <a:srgbClr val="596C80"/>
                </a:solidFill>
                <a:latin typeface="Noto Sans"/>
              </a:rPr>
              <a:t>is ready.</a:t>
            </a:r>
          </a:p>
        </p:txBody>
      </p:sp>
      <p:sp>
        <p:nvSpPr>
          <p:cNvPr id="26" name="TextBox 25"/>
          <p:cNvSpPr txBox="1"/>
          <p:nvPr/>
        </p:nvSpPr>
        <p:spPr>
          <a:xfrm>
            <a:off x="8890000" y="3619500"/>
            <a:ext cx="381000" cy="258572"/>
          </a:xfrm>
          <a:prstGeom prst="rect">
            <a:avLst/>
          </a:prstGeom>
          <a:noFill/>
        </p:spPr>
        <p:txBody>
          <a:bodyPr wrap="none" tIns="0" bIns="0" lIns="0" rIns="0" anchor="t">
            <a:spAutoFit/>
          </a:bodyPr>
          <a:lstStyle/>
          <a:p>
            <a:pPr>
              <a:lnSpc>
                <a:spcPts val="1536"/>
              </a:lnSpc>
              <a:spcBef>
                <a:spcPts val="0"/>
              </a:spcBef>
              <a:spcAft>
                <a:spcPts val="0"/>
              </a:spcAft>
            </a:pPr>
            <a:r>
              <a:rPr sz="1200" b="1">
                <a:solidFill>
                  <a:srgbClr val="087F76"/>
                </a:solidFill>
                <a:latin typeface="Noto Sans"/>
              </a:rPr>
              <a:t>IO</a:t>
            </a:r>
          </a:p>
        </p:txBody>
      </p:sp>
      <p:sp>
        <p:nvSpPr>
          <p:cNvPr id="27" name="TextBox 26"/>
          <p:cNvSpPr txBox="1"/>
          <p:nvPr/>
        </p:nvSpPr>
        <p:spPr>
          <a:xfrm>
            <a:off x="9372600" y="3581400"/>
            <a:ext cx="2273300" cy="339852"/>
          </a:xfrm>
          <a:prstGeom prst="rect">
            <a:avLst/>
          </a:prstGeom>
          <a:noFill/>
        </p:spPr>
        <p:txBody>
          <a:bodyPr wrap="none" tIns="0" bIns="0" lIns="0" rIns="0" anchor="t">
            <a:spAutoFit/>
          </a:bodyPr>
          <a:lstStyle/>
          <a:p>
            <a:pPr>
              <a:lnSpc>
                <a:spcPts val="2176"/>
              </a:lnSpc>
              <a:spcBef>
                <a:spcPts val="0"/>
              </a:spcBef>
              <a:spcAft>
                <a:spcPts val="0"/>
              </a:spcAft>
            </a:pPr>
            <a:r>
              <a:rPr sz="1700" b="1">
                <a:solidFill>
                  <a:srgbClr val="15243A"/>
                </a:solidFill>
                <a:latin typeface="Noto Sans"/>
              </a:rPr>
              <a:t>Data survives</a:t>
            </a:r>
          </a:p>
        </p:txBody>
      </p:sp>
      <p:sp>
        <p:nvSpPr>
          <p:cNvPr id="28" name="TextBox 27"/>
          <p:cNvSpPr txBox="1"/>
          <p:nvPr/>
        </p:nvSpPr>
        <p:spPr>
          <a:xfrm>
            <a:off x="9372600" y="3937000"/>
            <a:ext cx="2273300" cy="486156"/>
          </a:xfrm>
          <a:prstGeom prst="rect">
            <a:avLst/>
          </a:prstGeom>
          <a:noFill/>
        </p:spPr>
        <p:txBody>
          <a:bodyPr wrap="none" tIns="0" bIns="0" lIns="0" rIns="0" anchor="t">
            <a:spAutoFit/>
          </a:bodyPr>
          <a:lstStyle/>
          <a:p>
            <a:pPr>
              <a:lnSpc>
                <a:spcPts val="1664"/>
              </a:lnSpc>
              <a:spcBef>
                <a:spcPts val="0"/>
              </a:spcBef>
              <a:spcAft>
                <a:spcPts val="0"/>
              </a:spcAft>
            </a:pPr>
            <a:r>
              <a:rPr sz="1300" b="0">
                <a:solidFill>
                  <a:srgbClr val="596C80"/>
                </a:solidFill>
                <a:latin typeface="Noto Sans"/>
              </a:rPr>
              <a:t>4 records survived a</a:t>
            </a:r>
          </a:p>
          <a:p>
            <a:pPr>
              <a:lnSpc>
                <a:spcPts val="1664"/>
              </a:lnSpc>
              <a:spcBef>
                <a:spcPts val="0"/>
              </a:spcBef>
              <a:spcAft>
                <a:spcPts val="0"/>
              </a:spcAft>
            </a:pPr>
            <a:r>
              <a:rPr sz="1300" b="0">
                <a:solidFill>
                  <a:srgbClr val="596C80"/>
                </a:solidFill>
                <a:latin typeface="Noto Sans"/>
              </a:rPr>
              <a:t>PostgreSQL Pod restart.</a:t>
            </a:r>
          </a:p>
        </p:txBody>
      </p:sp>
      <p:sp>
        <p:nvSpPr>
          <p:cNvPr id="29" name="Rounded Rectangle 28"/>
          <p:cNvSpPr/>
          <p:nvPr/>
        </p:nvSpPr>
        <p:spPr>
          <a:xfrm>
            <a:off x="584200" y="4737100"/>
            <a:ext cx="11023600" cy="1168400"/>
          </a:xfrm>
          <a:prstGeom prst="roundRect">
            <a:avLst>
              <a:gd name="adj" fmla="val 6521"/>
            </a:avLst>
          </a:prstGeom>
          <a:solidFill>
            <a:srgbClr val="FFFFFF"/>
          </a:solidFill>
          <a:ln w="889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0100" y="4940300"/>
            <a:ext cx="2032000" cy="323596"/>
          </a:xfrm>
          <a:prstGeom prst="rect">
            <a:avLst/>
          </a:prstGeom>
          <a:noFill/>
        </p:spPr>
        <p:txBody>
          <a:bodyPr wrap="none" tIns="0" bIns="0" lIns="0" rIns="0" anchor="t">
            <a:spAutoFit/>
          </a:bodyPr>
          <a:lstStyle/>
          <a:p>
            <a:pPr>
              <a:lnSpc>
                <a:spcPts val="2048"/>
              </a:lnSpc>
              <a:spcBef>
                <a:spcPts val="0"/>
              </a:spcBef>
              <a:spcAft>
                <a:spcPts val="0"/>
              </a:spcAft>
            </a:pPr>
            <a:r>
              <a:rPr sz="1600" b="1">
                <a:solidFill>
                  <a:srgbClr val="2463EB"/>
                </a:solidFill>
                <a:latin typeface="DejaVu Sans Mono"/>
              </a:rPr>
              <a:t>/health</a:t>
            </a:r>
          </a:p>
        </p:txBody>
      </p:sp>
      <p:sp>
        <p:nvSpPr>
          <p:cNvPr id="31" name="TextBox 30"/>
          <p:cNvSpPr txBox="1"/>
          <p:nvPr/>
        </p:nvSpPr>
        <p:spPr>
          <a:xfrm>
            <a:off x="800100" y="5346700"/>
            <a:ext cx="2921000" cy="291084"/>
          </a:xfrm>
          <a:prstGeom prst="rect">
            <a:avLst/>
          </a:prstGeom>
          <a:noFill/>
        </p:spPr>
        <p:txBody>
          <a:bodyPr wrap="none" tIns="0" bIns="0" lIns="0" rIns="0" anchor="t">
            <a:spAutoFit/>
          </a:bodyPr>
          <a:lstStyle/>
          <a:p>
            <a:pPr>
              <a:lnSpc>
                <a:spcPts val="1792"/>
              </a:lnSpc>
              <a:spcBef>
                <a:spcPts val="0"/>
              </a:spcBef>
              <a:spcAft>
                <a:spcPts val="0"/>
              </a:spcAft>
            </a:pPr>
            <a:r>
              <a:rPr sz="1400" b="0">
                <a:solidFill>
                  <a:srgbClr val="596C80"/>
                </a:solidFill>
                <a:latin typeface="Noto Sans"/>
              </a:rPr>
              <a:t>Process is alive</a:t>
            </a:r>
          </a:p>
        </p:txBody>
      </p:sp>
      <p:sp>
        <p:nvSpPr>
          <p:cNvPr id="32" name="TextBox 31"/>
          <p:cNvSpPr txBox="1"/>
          <p:nvPr/>
        </p:nvSpPr>
        <p:spPr>
          <a:xfrm>
            <a:off x="4457700" y="4940300"/>
            <a:ext cx="2540000" cy="323596"/>
          </a:xfrm>
          <a:prstGeom prst="rect">
            <a:avLst/>
          </a:prstGeom>
          <a:noFill/>
        </p:spPr>
        <p:txBody>
          <a:bodyPr wrap="none" tIns="0" bIns="0" lIns="0" rIns="0" anchor="t">
            <a:spAutoFit/>
          </a:bodyPr>
          <a:lstStyle/>
          <a:p>
            <a:pPr>
              <a:lnSpc>
                <a:spcPts val="2048"/>
              </a:lnSpc>
              <a:spcBef>
                <a:spcPts val="0"/>
              </a:spcBef>
              <a:spcAft>
                <a:spcPts val="0"/>
              </a:spcAft>
            </a:pPr>
            <a:r>
              <a:rPr sz="1600" b="1">
                <a:solidFill>
                  <a:srgbClr val="087F76"/>
                </a:solidFill>
                <a:latin typeface="DejaVu Sans Mono"/>
              </a:rPr>
              <a:t>/ready</a:t>
            </a:r>
          </a:p>
        </p:txBody>
      </p:sp>
      <p:sp>
        <p:nvSpPr>
          <p:cNvPr id="33" name="TextBox 32"/>
          <p:cNvSpPr txBox="1"/>
          <p:nvPr/>
        </p:nvSpPr>
        <p:spPr>
          <a:xfrm>
            <a:off x="4457700" y="5346700"/>
            <a:ext cx="4572000" cy="291084"/>
          </a:xfrm>
          <a:prstGeom prst="rect">
            <a:avLst/>
          </a:prstGeom>
          <a:noFill/>
        </p:spPr>
        <p:txBody>
          <a:bodyPr wrap="none" tIns="0" bIns="0" lIns="0" rIns="0" anchor="t">
            <a:spAutoFit/>
          </a:bodyPr>
          <a:lstStyle/>
          <a:p>
            <a:pPr>
              <a:lnSpc>
                <a:spcPts val="1792"/>
              </a:lnSpc>
              <a:spcBef>
                <a:spcPts val="0"/>
              </a:spcBef>
              <a:spcAft>
                <a:spcPts val="0"/>
              </a:spcAft>
            </a:pPr>
            <a:r>
              <a:rPr sz="1400" b="0">
                <a:solidFill>
                  <a:srgbClr val="596C80"/>
                </a:solidFill>
                <a:latin typeface="Noto Sans"/>
              </a:rPr>
              <a:t>Database + tasks table are usable</a:t>
            </a:r>
          </a:p>
        </p:txBody>
      </p:sp>
      <p:sp>
        <p:nvSpPr>
          <p:cNvPr id="34" name="TextBox 33"/>
          <p:cNvSpPr txBox="1"/>
          <p:nvPr/>
        </p:nvSpPr>
        <p:spPr>
          <a:xfrm>
            <a:off x="8851900" y="5130800"/>
            <a:ext cx="2540000" cy="242315"/>
          </a:xfrm>
          <a:prstGeom prst="rect">
            <a:avLst/>
          </a:prstGeom>
          <a:noFill/>
        </p:spPr>
        <p:txBody>
          <a:bodyPr wrap="none" tIns="0" bIns="0" lIns="0" rIns="0" anchor="t">
            <a:spAutoFit/>
          </a:bodyPr>
          <a:lstStyle/>
          <a:p>
            <a:pPr>
              <a:lnSpc>
                <a:spcPts val="1408"/>
              </a:lnSpc>
              <a:spcBef>
                <a:spcPts val="0"/>
              </a:spcBef>
              <a:spcAft>
                <a:spcPts val="0"/>
              </a:spcAft>
            </a:pPr>
            <a:r>
              <a:rPr sz="1100" b="1">
                <a:solidFill>
                  <a:srgbClr val="15243A"/>
                </a:solidFill>
                <a:latin typeface="Noto Sans"/>
              </a:rPr>
              <a:t>DB outage: 200 </a:t>
            </a:r>
            <a:r>
              <a:rPr sz="1100" b="1">
                <a:solidFill>
                  <a:srgbClr val="15243A"/>
                </a:solidFill>
                <a:latin typeface="DejaVu Sans"/>
              </a:rPr>
              <a:t>→</a:t>
            </a:r>
            <a:r>
              <a:rPr sz="1100" b="1">
                <a:solidFill>
                  <a:srgbClr val="15243A"/>
                </a:solidFill>
                <a:latin typeface="Noto Sans"/>
              </a:rPr>
              <a:t> 503 </a:t>
            </a:r>
            <a:r>
              <a:rPr sz="1100" b="1">
                <a:solidFill>
                  <a:srgbClr val="15243A"/>
                </a:solidFill>
                <a:latin typeface="DejaVu Sans"/>
              </a:rPr>
              <a:t>→</a:t>
            </a:r>
            <a:r>
              <a:rPr sz="1100" b="1">
                <a:solidFill>
                  <a:srgbClr val="15243A"/>
                </a:solidFill>
                <a:latin typeface="Noto Sans"/>
              </a:rPr>
              <a:t> 200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79400"/>
            <a:ext cx="4445000" cy="209804"/>
          </a:xfrm>
          <a:prstGeom prst="rect">
            <a:avLst/>
          </a:prstGeom>
          <a:noFill/>
        </p:spPr>
        <p:txBody>
          <a:bodyPr wrap="none" tIns="0" bIns="0" lIns="0" rIns="0" anchor="t">
            <a:spAutoFit/>
          </a:bodyPr>
          <a:lstStyle/>
          <a:p>
            <a:pPr>
              <a:lnSpc>
                <a:spcPts val="1152"/>
              </a:lnSpc>
              <a:spcBef>
                <a:spcPts val="0"/>
              </a:spcBef>
              <a:spcAft>
                <a:spcPts val="0"/>
              </a:spcAft>
            </a:pPr>
            <a:r>
              <a:rPr sz="900" b="1">
                <a:solidFill>
                  <a:srgbClr val="596C80"/>
                </a:solidFill>
                <a:latin typeface="Noto Sans"/>
              </a:rPr>
              <a:t>RH / RELEASE HELPDESK</a:t>
            </a:r>
          </a:p>
        </p:txBody>
      </p:sp>
      <p:sp>
        <p:nvSpPr>
          <p:cNvPr id="4" name="TextBox 3"/>
          <p:cNvSpPr txBox="1"/>
          <p:nvPr/>
        </p:nvSpPr>
        <p:spPr>
          <a:xfrm>
            <a:off x="8763000" y="279400"/>
            <a:ext cx="2857500" cy="209804"/>
          </a:xfrm>
          <a:prstGeom prst="rect">
            <a:avLst/>
          </a:prstGeom>
          <a:noFill/>
        </p:spPr>
        <p:txBody>
          <a:bodyPr wrap="none" tIns="0" bIns="0" lIns="0" rIns="0" anchor="t">
            <a:spAutoFit/>
          </a:bodyPr>
          <a:lstStyle/>
          <a:p>
            <a:pPr>
              <a:lnSpc>
                <a:spcPts val="1152"/>
              </a:lnSpc>
              <a:spcBef>
                <a:spcPts val="0"/>
              </a:spcBef>
              <a:spcAft>
                <a:spcPts val="0"/>
              </a:spcAft>
            </a:pPr>
            <a:r>
              <a:rPr sz="900" b="1">
                <a:solidFill>
                  <a:srgbClr val="596C80"/>
                </a:solidFill>
                <a:latin typeface="Noto Sans"/>
              </a:rPr>
              <a:t>04 / CONTAINERS</a:t>
            </a:r>
          </a:p>
        </p:txBody>
      </p:sp>
      <p:sp>
        <p:nvSpPr>
          <p:cNvPr id="5" name="Rectangle 4"/>
          <p:cNvSpPr/>
          <p:nvPr/>
        </p:nvSpPr>
        <p:spPr>
          <a:xfrm>
            <a:off x="584200" y="660400"/>
            <a:ext cx="355600" cy="38100"/>
          </a:xfrm>
          <a:prstGeom prst="rect">
            <a:avLst/>
          </a:prstGeom>
          <a:solidFill>
            <a:srgbClr val="24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84200" y="876300"/>
            <a:ext cx="11049000" cy="508380"/>
          </a:xfrm>
          <a:prstGeom prst="rect">
            <a:avLst/>
          </a:prstGeom>
          <a:noFill/>
        </p:spPr>
        <p:txBody>
          <a:bodyPr wrap="none" tIns="0" bIns="0" lIns="0" rIns="0" anchor="t">
            <a:spAutoFit/>
          </a:bodyPr>
          <a:lstStyle/>
          <a:p>
            <a:pPr>
              <a:lnSpc>
                <a:spcPts val="3502"/>
              </a:lnSpc>
              <a:spcBef>
                <a:spcPts val="0"/>
              </a:spcBef>
              <a:spcAft>
                <a:spcPts val="0"/>
              </a:spcAft>
            </a:pPr>
            <a:r>
              <a:rPr sz="3100" b="1">
                <a:solidFill>
                  <a:srgbClr val="15243A"/>
                </a:solidFill>
                <a:latin typeface="Noto Sans"/>
              </a:rPr>
              <a:t>The complete stack starts with one command.</a:t>
            </a:r>
          </a:p>
        </p:txBody>
      </p:sp>
      <p:sp>
        <p:nvSpPr>
          <p:cNvPr id="7" name="TextBox 6"/>
          <p:cNvSpPr txBox="1"/>
          <p:nvPr/>
        </p:nvSpPr>
        <p:spPr>
          <a:xfrm>
            <a:off x="584200" y="1473200"/>
            <a:ext cx="10985500" cy="258572"/>
          </a:xfrm>
          <a:prstGeom prst="rect">
            <a:avLst/>
          </a:prstGeom>
          <a:noFill/>
        </p:spPr>
        <p:txBody>
          <a:bodyPr wrap="none" tIns="0" bIns="0" lIns="0" rIns="0" anchor="t">
            <a:spAutoFit/>
          </a:bodyPr>
          <a:lstStyle/>
          <a:p>
            <a:pPr>
              <a:lnSpc>
                <a:spcPts val="1536"/>
              </a:lnSpc>
              <a:spcBef>
                <a:spcPts val="0"/>
              </a:spcBef>
              <a:spcAft>
                <a:spcPts val="0"/>
              </a:spcAft>
            </a:pPr>
            <a:r>
              <a:rPr sz="1200" b="0">
                <a:solidFill>
                  <a:srgbClr val="596C80"/>
                </a:solidFill>
                <a:latin typeface="Noto Sans"/>
              </a:rPr>
              <a:t>Compose encodes dependencies; runtime containers execute as non-root users.</a:t>
            </a:r>
          </a:p>
        </p:txBody>
      </p:sp>
      <p:cxnSp>
        <p:nvCxnSpPr>
          <p:cNvPr id="8" name="Connector 7"/>
          <p:cNvCxnSpPr/>
          <p:nvPr/>
        </p:nvCxnSpPr>
        <p:spPr>
          <a:xfrm>
            <a:off x="584200" y="6438900"/>
            <a:ext cx="11023600" cy="0"/>
          </a:xfrm>
          <a:prstGeom prst="line">
            <a:avLst/>
          </a:prstGeom>
          <a:ln w="10160">
            <a:solidFill>
              <a:srgbClr val="DCE4ED"/>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84200" y="6578600"/>
            <a:ext cx="4572000" cy="193548"/>
          </a:xfrm>
          <a:prstGeom prst="rect">
            <a:avLst/>
          </a:prstGeom>
          <a:noFill/>
        </p:spPr>
        <p:txBody>
          <a:bodyPr wrap="none" tIns="0" bIns="0" lIns="0" rIns="0" anchor="t">
            <a:spAutoFit/>
          </a:bodyPr>
          <a:lstStyle/>
          <a:p>
            <a:pPr>
              <a:lnSpc>
                <a:spcPts val="1024"/>
              </a:lnSpc>
              <a:spcBef>
                <a:spcPts val="0"/>
              </a:spcBef>
              <a:spcAft>
                <a:spcPts val="0"/>
              </a:spcAft>
            </a:pPr>
            <a:r>
              <a:rPr sz="800" b="0">
                <a:solidFill>
                  <a:srgbClr val="596C80"/>
                </a:solidFill>
                <a:latin typeface="Noto Sans"/>
              </a:rPr>
              <a:t>RELEASE ENGINEERING / PLATFORM WALKTHROUGH</a:t>
            </a:r>
          </a:p>
        </p:txBody>
      </p:sp>
      <p:sp>
        <p:nvSpPr>
          <p:cNvPr id="10" name="TextBox 9"/>
          <p:cNvSpPr txBox="1"/>
          <p:nvPr/>
        </p:nvSpPr>
        <p:spPr>
          <a:xfrm>
            <a:off x="10922000" y="6553200"/>
            <a:ext cx="736600" cy="209804"/>
          </a:xfrm>
          <a:prstGeom prst="rect">
            <a:avLst/>
          </a:prstGeom>
          <a:noFill/>
        </p:spPr>
        <p:txBody>
          <a:bodyPr wrap="none" tIns="0" bIns="0" lIns="0" rIns="0" anchor="t">
            <a:spAutoFit/>
          </a:bodyPr>
          <a:lstStyle/>
          <a:p>
            <a:pPr>
              <a:lnSpc>
                <a:spcPts val="1152"/>
              </a:lnSpc>
              <a:spcBef>
                <a:spcPts val="0"/>
              </a:spcBef>
              <a:spcAft>
                <a:spcPts val="0"/>
              </a:spcAft>
            </a:pPr>
            <a:r>
              <a:rPr sz="900" b="1">
                <a:solidFill>
                  <a:srgbClr val="596C80"/>
                </a:solidFill>
                <a:latin typeface="Noto Sans"/>
              </a:rPr>
              <a:t>05 / 16</a:t>
            </a:r>
          </a:p>
        </p:txBody>
      </p:sp>
      <p:sp>
        <p:nvSpPr>
          <p:cNvPr id="11" name="TextBox 10"/>
          <p:cNvSpPr txBox="1"/>
          <p:nvPr/>
        </p:nvSpPr>
        <p:spPr>
          <a:xfrm>
            <a:off x="584200" y="6210300"/>
            <a:ext cx="10414000" cy="193548"/>
          </a:xfrm>
          <a:prstGeom prst="rect">
            <a:avLst/>
          </a:prstGeom>
          <a:noFill/>
        </p:spPr>
        <p:txBody>
          <a:bodyPr wrap="none" tIns="0" bIns="0" lIns="0" rIns="0" anchor="t">
            <a:spAutoFit/>
          </a:bodyPr>
          <a:lstStyle/>
          <a:p>
            <a:pPr>
              <a:lnSpc>
                <a:spcPts val="1024"/>
              </a:lnSpc>
              <a:spcBef>
                <a:spcPts val="0"/>
              </a:spcBef>
              <a:spcAft>
                <a:spcPts val="0"/>
              </a:spcAft>
            </a:pPr>
            <a:r>
              <a:rPr sz="800" b="0">
                <a:solidFill>
                  <a:srgbClr val="596C80"/>
                </a:solidFill>
                <a:latin typeface="Noto Sans"/>
                <a:hlinkClick r:id="rId2"/>
              </a:rPr>
              <a:t>Evidence · Real Compose stack, images and runtime users</a:t>
            </a:r>
          </a:p>
        </p:txBody>
      </p:sp>
      <p:sp>
        <p:nvSpPr>
          <p:cNvPr id="12" name="Rounded Rectangle 11"/>
          <p:cNvSpPr/>
          <p:nvPr/>
        </p:nvSpPr>
        <p:spPr>
          <a:xfrm>
            <a:off x="584200" y="2006600"/>
            <a:ext cx="11023600" cy="609600"/>
          </a:xfrm>
          <a:prstGeom prst="roundRect">
            <a:avLst>
              <a:gd name="adj" fmla="val 12500"/>
            </a:avLst>
          </a:prstGeom>
          <a:solidFill>
            <a:srgbClr val="101E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2800" y="2171700"/>
            <a:ext cx="10464800" cy="356108"/>
          </a:xfrm>
          <a:prstGeom prst="rect">
            <a:avLst/>
          </a:prstGeom>
          <a:noFill/>
        </p:spPr>
        <p:txBody>
          <a:bodyPr wrap="none" tIns="0" bIns="0" lIns="0" rIns="0" anchor="t">
            <a:spAutoFit/>
          </a:bodyPr>
          <a:lstStyle/>
          <a:p>
            <a:pPr>
              <a:lnSpc>
                <a:spcPts val="2304"/>
              </a:lnSpc>
              <a:spcBef>
                <a:spcPts val="0"/>
              </a:spcBef>
              <a:spcAft>
                <a:spcPts val="0"/>
              </a:spcAft>
            </a:pPr>
            <a:r>
              <a:rPr sz="1800" b="0">
                <a:solidFill>
                  <a:srgbClr val="FFFFFF"/>
                </a:solidFill>
                <a:latin typeface="DejaVu Sans Mono"/>
              </a:rPr>
              <a:t>docker compose up --build -d --wait</a:t>
            </a:r>
          </a:p>
        </p:txBody>
      </p:sp>
      <p:sp>
        <p:nvSpPr>
          <p:cNvPr id="14" name="Rounded Rectangle 13"/>
          <p:cNvSpPr/>
          <p:nvPr/>
        </p:nvSpPr>
        <p:spPr>
          <a:xfrm>
            <a:off x="584200" y="2959100"/>
            <a:ext cx="2489200" cy="825500"/>
          </a:xfrm>
          <a:prstGeom prst="roundRect">
            <a:avLst>
              <a:gd name="adj" fmla="val 9230"/>
            </a:avLst>
          </a:prstGeom>
          <a:solidFill>
            <a:srgbClr val="FFFFFF"/>
          </a:solidFill>
          <a:ln w="889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84200" y="2959100"/>
            <a:ext cx="38100" cy="825500"/>
          </a:xfrm>
          <a:prstGeom prst="rect">
            <a:avLst/>
          </a:prstGeom>
          <a:solidFill>
            <a:srgbClr val="24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9300" y="3086100"/>
            <a:ext cx="2197100" cy="323596"/>
          </a:xfrm>
          <a:prstGeom prst="rect">
            <a:avLst/>
          </a:prstGeom>
          <a:noFill/>
        </p:spPr>
        <p:txBody>
          <a:bodyPr wrap="none" tIns="0" bIns="0" lIns="0" rIns="0" anchor="t">
            <a:spAutoFit/>
          </a:bodyPr>
          <a:lstStyle/>
          <a:p>
            <a:pPr>
              <a:lnSpc>
                <a:spcPts val="2048"/>
              </a:lnSpc>
              <a:spcBef>
                <a:spcPts val="0"/>
              </a:spcBef>
              <a:spcAft>
                <a:spcPts val="0"/>
              </a:spcAft>
            </a:pPr>
            <a:r>
              <a:rPr sz="1600" b="1">
                <a:solidFill>
                  <a:srgbClr val="15243A"/>
                </a:solidFill>
                <a:latin typeface="Noto Sans"/>
              </a:rPr>
              <a:t>PostgreSQL</a:t>
            </a:r>
          </a:p>
        </p:txBody>
      </p:sp>
      <p:sp>
        <p:nvSpPr>
          <p:cNvPr id="17" name="TextBox 16"/>
          <p:cNvSpPr txBox="1"/>
          <p:nvPr/>
        </p:nvSpPr>
        <p:spPr>
          <a:xfrm>
            <a:off x="749300" y="3390900"/>
            <a:ext cx="2197100" cy="242315"/>
          </a:xfrm>
          <a:prstGeom prst="rect">
            <a:avLst/>
          </a:prstGeom>
          <a:noFill/>
        </p:spPr>
        <p:txBody>
          <a:bodyPr wrap="none" tIns="0" bIns="0" lIns="0" rIns="0" anchor="t">
            <a:spAutoFit/>
          </a:bodyPr>
          <a:lstStyle/>
          <a:p>
            <a:pPr>
              <a:lnSpc>
                <a:spcPts val="1408"/>
              </a:lnSpc>
              <a:spcBef>
                <a:spcPts val="0"/>
              </a:spcBef>
              <a:spcAft>
                <a:spcPts val="0"/>
              </a:spcAft>
            </a:pPr>
            <a:r>
              <a:rPr sz="1100" b="0">
                <a:solidFill>
                  <a:srgbClr val="596C80"/>
                </a:solidFill>
                <a:latin typeface="Noto Sans"/>
              </a:rPr>
              <a:t>Healthy</a:t>
            </a:r>
          </a:p>
        </p:txBody>
      </p:sp>
      <p:cxnSp>
        <p:nvCxnSpPr>
          <p:cNvPr id="18" name="Connector 17"/>
          <p:cNvCxnSpPr/>
          <p:nvPr/>
        </p:nvCxnSpPr>
        <p:spPr>
          <a:xfrm>
            <a:off x="3073400" y="3378200"/>
            <a:ext cx="355600" cy="0"/>
          </a:xfrm>
          <a:prstGeom prst="line">
            <a:avLst/>
          </a:prstGeom>
          <a:ln w="20320">
            <a:solidFill>
              <a:srgbClr val="2463EB"/>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3350146" y="3378200"/>
            <a:ext cx="78854" cy="41052"/>
          </a:xfrm>
          <a:prstGeom prst="line">
            <a:avLst/>
          </a:prstGeom>
          <a:ln w="20320">
            <a:solidFill>
              <a:srgbClr val="2463EB"/>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flipV="1">
            <a:off x="3350146" y="3337147"/>
            <a:ext cx="78854" cy="41053"/>
          </a:xfrm>
          <a:prstGeom prst="line">
            <a:avLst/>
          </a:prstGeom>
          <a:ln w="20320">
            <a:solidFill>
              <a:srgbClr val="2463EB"/>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3429000" y="2959100"/>
            <a:ext cx="2489200" cy="825500"/>
          </a:xfrm>
          <a:prstGeom prst="roundRect">
            <a:avLst>
              <a:gd name="adj" fmla="val 9230"/>
            </a:avLst>
          </a:prstGeom>
          <a:solidFill>
            <a:srgbClr val="FFFFFF"/>
          </a:solidFill>
          <a:ln w="889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429000" y="2959100"/>
            <a:ext cx="38100" cy="825500"/>
          </a:xfrm>
          <a:prstGeom prst="rect">
            <a:avLst/>
          </a:prstGeom>
          <a:solidFill>
            <a:srgbClr val="24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594100" y="3086100"/>
            <a:ext cx="2197100" cy="323596"/>
          </a:xfrm>
          <a:prstGeom prst="rect">
            <a:avLst/>
          </a:prstGeom>
          <a:noFill/>
        </p:spPr>
        <p:txBody>
          <a:bodyPr wrap="none" tIns="0" bIns="0" lIns="0" rIns="0" anchor="t">
            <a:spAutoFit/>
          </a:bodyPr>
          <a:lstStyle/>
          <a:p>
            <a:pPr>
              <a:lnSpc>
                <a:spcPts val="2048"/>
              </a:lnSpc>
              <a:spcBef>
                <a:spcPts val="0"/>
              </a:spcBef>
              <a:spcAft>
                <a:spcPts val="0"/>
              </a:spcAft>
            </a:pPr>
            <a:r>
              <a:rPr sz="1600" b="1">
                <a:solidFill>
                  <a:srgbClr val="15243A"/>
                </a:solidFill>
                <a:latin typeface="Noto Sans"/>
              </a:rPr>
              <a:t>Alembic</a:t>
            </a:r>
          </a:p>
        </p:txBody>
      </p:sp>
      <p:sp>
        <p:nvSpPr>
          <p:cNvPr id="24" name="TextBox 23"/>
          <p:cNvSpPr txBox="1"/>
          <p:nvPr/>
        </p:nvSpPr>
        <p:spPr>
          <a:xfrm>
            <a:off x="3594100" y="3390900"/>
            <a:ext cx="2197100" cy="242315"/>
          </a:xfrm>
          <a:prstGeom prst="rect">
            <a:avLst/>
          </a:prstGeom>
          <a:noFill/>
        </p:spPr>
        <p:txBody>
          <a:bodyPr wrap="none" tIns="0" bIns="0" lIns="0" rIns="0" anchor="t">
            <a:spAutoFit/>
          </a:bodyPr>
          <a:lstStyle/>
          <a:p>
            <a:pPr>
              <a:lnSpc>
                <a:spcPts val="1408"/>
              </a:lnSpc>
              <a:spcBef>
                <a:spcPts val="0"/>
              </a:spcBef>
              <a:spcAft>
                <a:spcPts val="0"/>
              </a:spcAft>
            </a:pPr>
            <a:r>
              <a:rPr sz="1100" b="0">
                <a:solidFill>
                  <a:srgbClr val="596C80"/>
                </a:solidFill>
                <a:latin typeface="Noto Sans"/>
              </a:rPr>
              <a:t>Completed</a:t>
            </a:r>
          </a:p>
        </p:txBody>
      </p:sp>
      <p:cxnSp>
        <p:nvCxnSpPr>
          <p:cNvPr id="25" name="Connector 24"/>
          <p:cNvCxnSpPr/>
          <p:nvPr/>
        </p:nvCxnSpPr>
        <p:spPr>
          <a:xfrm>
            <a:off x="5918200" y="3378200"/>
            <a:ext cx="355600" cy="0"/>
          </a:xfrm>
          <a:prstGeom prst="line">
            <a:avLst/>
          </a:prstGeom>
          <a:ln w="20320">
            <a:solidFill>
              <a:srgbClr val="2463EB"/>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6194946" y="3378200"/>
            <a:ext cx="78854" cy="41052"/>
          </a:xfrm>
          <a:prstGeom prst="line">
            <a:avLst/>
          </a:prstGeom>
          <a:ln w="20320">
            <a:solidFill>
              <a:srgbClr val="2463EB"/>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6194946" y="3337147"/>
            <a:ext cx="78854" cy="41053"/>
          </a:xfrm>
          <a:prstGeom prst="line">
            <a:avLst/>
          </a:prstGeom>
          <a:ln w="20320">
            <a:solidFill>
              <a:srgbClr val="2463EB"/>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6273800" y="2959100"/>
            <a:ext cx="2489200" cy="825500"/>
          </a:xfrm>
          <a:prstGeom prst="roundRect">
            <a:avLst>
              <a:gd name="adj" fmla="val 9230"/>
            </a:avLst>
          </a:prstGeom>
          <a:solidFill>
            <a:srgbClr val="FFFFFF"/>
          </a:solidFill>
          <a:ln w="889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73800" y="2959100"/>
            <a:ext cx="38100" cy="825500"/>
          </a:xfrm>
          <a:prstGeom prst="rect">
            <a:avLst/>
          </a:prstGeom>
          <a:solidFill>
            <a:srgbClr val="24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38900" y="3086100"/>
            <a:ext cx="2197100" cy="323596"/>
          </a:xfrm>
          <a:prstGeom prst="rect">
            <a:avLst/>
          </a:prstGeom>
          <a:noFill/>
        </p:spPr>
        <p:txBody>
          <a:bodyPr wrap="none" tIns="0" bIns="0" lIns="0" rIns="0" anchor="t">
            <a:spAutoFit/>
          </a:bodyPr>
          <a:lstStyle/>
          <a:p>
            <a:pPr>
              <a:lnSpc>
                <a:spcPts val="2048"/>
              </a:lnSpc>
              <a:spcBef>
                <a:spcPts val="0"/>
              </a:spcBef>
              <a:spcAft>
                <a:spcPts val="0"/>
              </a:spcAft>
            </a:pPr>
            <a:r>
              <a:rPr sz="1600" b="1">
                <a:solidFill>
                  <a:srgbClr val="15243A"/>
                </a:solidFill>
                <a:latin typeface="Noto Sans"/>
              </a:rPr>
              <a:t>FastAPI</a:t>
            </a:r>
          </a:p>
        </p:txBody>
      </p:sp>
      <p:sp>
        <p:nvSpPr>
          <p:cNvPr id="31" name="TextBox 30"/>
          <p:cNvSpPr txBox="1"/>
          <p:nvPr/>
        </p:nvSpPr>
        <p:spPr>
          <a:xfrm>
            <a:off x="6438900" y="3390900"/>
            <a:ext cx="2197100" cy="242315"/>
          </a:xfrm>
          <a:prstGeom prst="rect">
            <a:avLst/>
          </a:prstGeom>
          <a:noFill/>
        </p:spPr>
        <p:txBody>
          <a:bodyPr wrap="none" tIns="0" bIns="0" lIns="0" rIns="0" anchor="t">
            <a:spAutoFit/>
          </a:bodyPr>
          <a:lstStyle/>
          <a:p>
            <a:pPr>
              <a:lnSpc>
                <a:spcPts val="1408"/>
              </a:lnSpc>
              <a:spcBef>
                <a:spcPts val="0"/>
              </a:spcBef>
              <a:spcAft>
                <a:spcPts val="0"/>
              </a:spcAft>
            </a:pPr>
            <a:r>
              <a:rPr sz="1100" b="0">
                <a:solidFill>
                  <a:srgbClr val="596C80"/>
                </a:solidFill>
                <a:latin typeface="Noto Sans"/>
              </a:rPr>
              <a:t>Ready</a:t>
            </a:r>
          </a:p>
        </p:txBody>
      </p:sp>
      <p:cxnSp>
        <p:nvCxnSpPr>
          <p:cNvPr id="32" name="Connector 31"/>
          <p:cNvCxnSpPr/>
          <p:nvPr/>
        </p:nvCxnSpPr>
        <p:spPr>
          <a:xfrm>
            <a:off x="8763000" y="3378200"/>
            <a:ext cx="355600" cy="0"/>
          </a:xfrm>
          <a:prstGeom prst="line">
            <a:avLst/>
          </a:prstGeom>
          <a:ln w="20320">
            <a:solidFill>
              <a:srgbClr val="2463EB"/>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a:off x="9039746" y="3378200"/>
            <a:ext cx="78854" cy="41052"/>
          </a:xfrm>
          <a:prstGeom prst="line">
            <a:avLst/>
          </a:prstGeom>
          <a:ln w="20320">
            <a:solidFill>
              <a:srgbClr val="2463EB"/>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9039746" y="3337147"/>
            <a:ext cx="78854" cy="41053"/>
          </a:xfrm>
          <a:prstGeom prst="line">
            <a:avLst/>
          </a:prstGeom>
          <a:ln w="20320">
            <a:solidFill>
              <a:srgbClr val="2463EB"/>
            </a:solidFill>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118600" y="2959100"/>
            <a:ext cx="2489200" cy="825500"/>
          </a:xfrm>
          <a:prstGeom prst="roundRect">
            <a:avLst>
              <a:gd name="adj" fmla="val 9230"/>
            </a:avLst>
          </a:prstGeom>
          <a:solidFill>
            <a:srgbClr val="FFFFFF"/>
          </a:solidFill>
          <a:ln w="889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118600" y="2959100"/>
            <a:ext cx="38100" cy="825500"/>
          </a:xfrm>
          <a:prstGeom prst="rect">
            <a:avLst/>
          </a:prstGeom>
          <a:solidFill>
            <a:srgbClr val="24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283700" y="3086100"/>
            <a:ext cx="2197100" cy="323596"/>
          </a:xfrm>
          <a:prstGeom prst="rect">
            <a:avLst/>
          </a:prstGeom>
          <a:noFill/>
        </p:spPr>
        <p:txBody>
          <a:bodyPr wrap="none" tIns="0" bIns="0" lIns="0" rIns="0" anchor="t">
            <a:spAutoFit/>
          </a:bodyPr>
          <a:lstStyle/>
          <a:p>
            <a:pPr>
              <a:lnSpc>
                <a:spcPts val="2048"/>
              </a:lnSpc>
              <a:spcBef>
                <a:spcPts val="0"/>
              </a:spcBef>
              <a:spcAft>
                <a:spcPts val="0"/>
              </a:spcAft>
            </a:pPr>
            <a:r>
              <a:rPr sz="1600" b="1">
                <a:solidFill>
                  <a:srgbClr val="15243A"/>
                </a:solidFill>
                <a:latin typeface="Noto Sans"/>
              </a:rPr>
              <a:t>React / Nginx</a:t>
            </a:r>
          </a:p>
        </p:txBody>
      </p:sp>
      <p:sp>
        <p:nvSpPr>
          <p:cNvPr id="38" name="TextBox 37"/>
          <p:cNvSpPr txBox="1"/>
          <p:nvPr/>
        </p:nvSpPr>
        <p:spPr>
          <a:xfrm>
            <a:off x="9283700" y="3390900"/>
            <a:ext cx="2197100" cy="242315"/>
          </a:xfrm>
          <a:prstGeom prst="rect">
            <a:avLst/>
          </a:prstGeom>
          <a:noFill/>
        </p:spPr>
        <p:txBody>
          <a:bodyPr wrap="none" tIns="0" bIns="0" lIns="0" rIns="0" anchor="t">
            <a:spAutoFit/>
          </a:bodyPr>
          <a:lstStyle/>
          <a:p>
            <a:pPr>
              <a:lnSpc>
                <a:spcPts val="1408"/>
              </a:lnSpc>
              <a:spcBef>
                <a:spcPts val="0"/>
              </a:spcBef>
              <a:spcAft>
                <a:spcPts val="0"/>
              </a:spcAft>
            </a:pPr>
            <a:r>
              <a:rPr sz="1100" b="0">
                <a:solidFill>
                  <a:srgbClr val="596C80"/>
                </a:solidFill>
                <a:latin typeface="Noto Sans"/>
              </a:rPr>
              <a:t>Serving</a:t>
            </a:r>
          </a:p>
        </p:txBody>
      </p:sp>
      <p:sp>
        <p:nvSpPr>
          <p:cNvPr id="39" name="Rounded Rectangle 38"/>
          <p:cNvSpPr/>
          <p:nvPr/>
        </p:nvSpPr>
        <p:spPr>
          <a:xfrm>
            <a:off x="584200" y="4178300"/>
            <a:ext cx="5308600" cy="1739900"/>
          </a:xfrm>
          <a:prstGeom prst="roundRect">
            <a:avLst>
              <a:gd name="adj" fmla="val 5109"/>
            </a:avLst>
          </a:prstGeom>
          <a:solidFill>
            <a:srgbClr val="FFFFFF"/>
          </a:solidFill>
          <a:ln w="889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12800" y="4381500"/>
            <a:ext cx="4699000" cy="356108"/>
          </a:xfrm>
          <a:prstGeom prst="rect">
            <a:avLst/>
          </a:prstGeom>
          <a:noFill/>
        </p:spPr>
        <p:txBody>
          <a:bodyPr wrap="none" tIns="0" bIns="0" lIns="0" rIns="0" anchor="t">
            <a:spAutoFit/>
          </a:bodyPr>
          <a:lstStyle/>
          <a:p>
            <a:pPr>
              <a:lnSpc>
                <a:spcPts val="2304"/>
              </a:lnSpc>
              <a:spcBef>
                <a:spcPts val="0"/>
              </a:spcBef>
              <a:spcAft>
                <a:spcPts val="0"/>
              </a:spcAft>
            </a:pPr>
            <a:r>
              <a:rPr sz="1800" b="1">
                <a:solidFill>
                  <a:srgbClr val="15243A"/>
                </a:solidFill>
                <a:latin typeface="Noto Sans"/>
              </a:rPr>
              <a:t>Backend runtime</a:t>
            </a:r>
          </a:p>
        </p:txBody>
      </p:sp>
      <p:sp>
        <p:nvSpPr>
          <p:cNvPr id="41" name="TextBox 40"/>
          <p:cNvSpPr txBox="1"/>
          <p:nvPr/>
        </p:nvSpPr>
        <p:spPr>
          <a:xfrm>
            <a:off x="812800" y="4813300"/>
            <a:ext cx="4699000" cy="307340"/>
          </a:xfrm>
          <a:prstGeom prst="rect">
            <a:avLst/>
          </a:prstGeom>
          <a:noFill/>
        </p:spPr>
        <p:txBody>
          <a:bodyPr wrap="none" tIns="0" bIns="0" lIns="0" rIns="0" anchor="t">
            <a:spAutoFit/>
          </a:bodyPr>
          <a:lstStyle/>
          <a:p>
            <a:pPr>
              <a:lnSpc>
                <a:spcPts val="1920"/>
              </a:lnSpc>
              <a:spcBef>
                <a:spcPts val="0"/>
              </a:spcBef>
              <a:spcAft>
                <a:spcPts val="0"/>
              </a:spcAft>
            </a:pPr>
            <a:r>
              <a:rPr sz="1500" b="0">
                <a:solidFill>
                  <a:srgbClr val="596C80"/>
                </a:solidFill>
                <a:latin typeface="Noto Sans"/>
              </a:rPr>
              <a:t>Python 3.13 </a:t>
            </a:r>
            <a:r>
              <a:rPr sz="1500" b="0">
                <a:solidFill>
                  <a:srgbClr val="596C80"/>
                </a:solidFill>
                <a:latin typeface="DejaVu Sans"/>
              </a:rPr>
              <a:t>→</a:t>
            </a:r>
            <a:r>
              <a:rPr sz="1500" b="0">
                <a:solidFill>
                  <a:srgbClr val="596C80"/>
                </a:solidFill>
                <a:latin typeface="Noto Sans"/>
              </a:rPr>
              <a:t> Uvicorn</a:t>
            </a:r>
          </a:p>
        </p:txBody>
      </p:sp>
      <p:sp>
        <p:nvSpPr>
          <p:cNvPr id="42" name="Rounded Rectangle 41"/>
          <p:cNvSpPr/>
          <p:nvPr/>
        </p:nvSpPr>
        <p:spPr>
          <a:xfrm>
            <a:off x="812800" y="5334000"/>
            <a:ext cx="1511300" cy="317500"/>
          </a:xfrm>
          <a:prstGeom prst="roundRect">
            <a:avLst>
              <a:gd name="adj" fmla="val 20000"/>
            </a:avLst>
          </a:prstGeom>
          <a:solidFill>
            <a:srgbClr val="E3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39800" y="5397500"/>
            <a:ext cx="1320800" cy="226060"/>
          </a:xfrm>
          <a:prstGeom prst="rect">
            <a:avLst/>
          </a:prstGeom>
          <a:noFill/>
        </p:spPr>
        <p:txBody>
          <a:bodyPr wrap="none" tIns="0" bIns="0" lIns="0" rIns="0" anchor="t">
            <a:spAutoFit/>
          </a:bodyPr>
          <a:lstStyle/>
          <a:p>
            <a:pPr>
              <a:lnSpc>
                <a:spcPts val="1280"/>
              </a:lnSpc>
              <a:spcBef>
                <a:spcPts val="0"/>
              </a:spcBef>
              <a:spcAft>
                <a:spcPts val="0"/>
              </a:spcAft>
            </a:pPr>
            <a:r>
              <a:rPr sz="1000" b="1">
                <a:solidFill>
                  <a:srgbClr val="087F76"/>
                </a:solidFill>
                <a:latin typeface="Noto Sans"/>
              </a:rPr>
              <a:t>USER 10001</a:t>
            </a:r>
          </a:p>
        </p:txBody>
      </p:sp>
      <p:sp>
        <p:nvSpPr>
          <p:cNvPr id="44" name="Rounded Rectangle 43"/>
          <p:cNvSpPr/>
          <p:nvPr/>
        </p:nvSpPr>
        <p:spPr>
          <a:xfrm>
            <a:off x="6223000" y="4178300"/>
            <a:ext cx="5384800" cy="1739900"/>
          </a:xfrm>
          <a:prstGeom prst="roundRect">
            <a:avLst>
              <a:gd name="adj" fmla="val 5109"/>
            </a:avLst>
          </a:prstGeom>
          <a:solidFill>
            <a:srgbClr val="FFFFFF"/>
          </a:solidFill>
          <a:ln w="889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51600" y="4381500"/>
            <a:ext cx="4889500" cy="356108"/>
          </a:xfrm>
          <a:prstGeom prst="rect">
            <a:avLst/>
          </a:prstGeom>
          <a:noFill/>
        </p:spPr>
        <p:txBody>
          <a:bodyPr wrap="none" tIns="0" bIns="0" lIns="0" rIns="0" anchor="t">
            <a:spAutoFit/>
          </a:bodyPr>
          <a:lstStyle/>
          <a:p>
            <a:pPr>
              <a:lnSpc>
                <a:spcPts val="2304"/>
              </a:lnSpc>
              <a:spcBef>
                <a:spcPts val="0"/>
              </a:spcBef>
              <a:spcAft>
                <a:spcPts val="0"/>
              </a:spcAft>
            </a:pPr>
            <a:r>
              <a:rPr sz="1800" b="1">
                <a:solidFill>
                  <a:srgbClr val="15243A"/>
                </a:solidFill>
                <a:latin typeface="Noto Sans"/>
              </a:rPr>
              <a:t>Frontend multi-stage build</a:t>
            </a:r>
          </a:p>
        </p:txBody>
      </p:sp>
      <p:sp>
        <p:nvSpPr>
          <p:cNvPr id="46" name="TextBox 45"/>
          <p:cNvSpPr txBox="1"/>
          <p:nvPr/>
        </p:nvSpPr>
        <p:spPr>
          <a:xfrm>
            <a:off x="6451600" y="4813300"/>
            <a:ext cx="4889500" cy="307340"/>
          </a:xfrm>
          <a:prstGeom prst="rect">
            <a:avLst/>
          </a:prstGeom>
          <a:noFill/>
        </p:spPr>
        <p:txBody>
          <a:bodyPr wrap="none" tIns="0" bIns="0" lIns="0" rIns="0" anchor="t">
            <a:spAutoFit/>
          </a:bodyPr>
          <a:lstStyle/>
          <a:p>
            <a:pPr>
              <a:lnSpc>
                <a:spcPts val="1920"/>
              </a:lnSpc>
              <a:spcBef>
                <a:spcPts val="0"/>
              </a:spcBef>
              <a:spcAft>
                <a:spcPts val="0"/>
              </a:spcAft>
            </a:pPr>
            <a:r>
              <a:rPr sz="1500" b="0">
                <a:solidFill>
                  <a:srgbClr val="596C80"/>
                </a:solidFill>
                <a:latin typeface="Noto Sans"/>
              </a:rPr>
              <a:t>Node 24 build </a:t>
            </a:r>
            <a:r>
              <a:rPr sz="1500" b="0">
                <a:solidFill>
                  <a:srgbClr val="596C80"/>
                </a:solidFill>
                <a:latin typeface="DejaVu Sans"/>
              </a:rPr>
              <a:t>→</a:t>
            </a:r>
            <a:r>
              <a:rPr sz="1500" b="0">
                <a:solidFill>
                  <a:srgbClr val="596C80"/>
                </a:solidFill>
                <a:latin typeface="Noto Sans"/>
              </a:rPr>
              <a:t> unprivileged Nginx</a:t>
            </a:r>
          </a:p>
        </p:txBody>
      </p:sp>
      <p:sp>
        <p:nvSpPr>
          <p:cNvPr id="47" name="Rounded Rectangle 46"/>
          <p:cNvSpPr/>
          <p:nvPr/>
        </p:nvSpPr>
        <p:spPr>
          <a:xfrm>
            <a:off x="6451600" y="5334000"/>
            <a:ext cx="1282700" cy="317500"/>
          </a:xfrm>
          <a:prstGeom prst="roundRect">
            <a:avLst>
              <a:gd name="adj" fmla="val 20000"/>
            </a:avLst>
          </a:prstGeom>
          <a:solidFill>
            <a:srgbClr val="E3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578600" y="5397500"/>
            <a:ext cx="1092200" cy="226060"/>
          </a:xfrm>
          <a:prstGeom prst="rect">
            <a:avLst/>
          </a:prstGeom>
          <a:noFill/>
        </p:spPr>
        <p:txBody>
          <a:bodyPr wrap="none" tIns="0" bIns="0" lIns="0" rIns="0" anchor="t">
            <a:spAutoFit/>
          </a:bodyPr>
          <a:lstStyle/>
          <a:p>
            <a:pPr>
              <a:lnSpc>
                <a:spcPts val="1280"/>
              </a:lnSpc>
              <a:spcBef>
                <a:spcPts val="0"/>
              </a:spcBef>
              <a:spcAft>
                <a:spcPts val="0"/>
              </a:spcAft>
            </a:pPr>
            <a:r>
              <a:rPr sz="1000" b="1">
                <a:solidFill>
                  <a:srgbClr val="087F76"/>
                </a:solidFill>
                <a:latin typeface="Noto Sans"/>
              </a:rPr>
              <a:t>USER 101</a:t>
            </a:r>
          </a:p>
        </p:txBody>
      </p:sp>
      <p:sp>
        <p:nvSpPr>
          <p:cNvPr id="49" name="TextBox 48"/>
          <p:cNvSpPr txBox="1"/>
          <p:nvPr/>
        </p:nvSpPr>
        <p:spPr>
          <a:xfrm>
            <a:off x="8026400" y="5397500"/>
            <a:ext cx="3365500" cy="226060"/>
          </a:xfrm>
          <a:prstGeom prst="rect">
            <a:avLst/>
          </a:prstGeom>
          <a:noFill/>
        </p:spPr>
        <p:txBody>
          <a:bodyPr wrap="none" tIns="0" bIns="0" lIns="0" rIns="0" anchor="t">
            <a:spAutoFit/>
          </a:bodyPr>
          <a:lstStyle/>
          <a:p>
            <a:pPr>
              <a:lnSpc>
                <a:spcPts val="1280"/>
              </a:lnSpc>
              <a:spcBef>
                <a:spcPts val="0"/>
              </a:spcBef>
              <a:spcAft>
                <a:spcPts val="0"/>
              </a:spcAft>
            </a:pPr>
            <a:r>
              <a:rPr sz="1000" b="0">
                <a:solidFill>
                  <a:srgbClr val="596C80"/>
                </a:solidFill>
                <a:latin typeface="Noto Sans"/>
              </a:rPr>
              <a:t>Only compiled assets enter the frontend runtime.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79400"/>
            <a:ext cx="4445000" cy="209804"/>
          </a:xfrm>
          <a:prstGeom prst="rect">
            <a:avLst/>
          </a:prstGeom>
          <a:noFill/>
        </p:spPr>
        <p:txBody>
          <a:bodyPr wrap="none" tIns="0" bIns="0" lIns="0" rIns="0" anchor="t">
            <a:spAutoFit/>
          </a:bodyPr>
          <a:lstStyle/>
          <a:p>
            <a:pPr>
              <a:lnSpc>
                <a:spcPts val="1152"/>
              </a:lnSpc>
              <a:spcBef>
                <a:spcPts val="0"/>
              </a:spcBef>
              <a:spcAft>
                <a:spcPts val="0"/>
              </a:spcAft>
            </a:pPr>
            <a:r>
              <a:rPr sz="900" b="1">
                <a:solidFill>
                  <a:srgbClr val="596C80"/>
                </a:solidFill>
                <a:latin typeface="Noto Sans"/>
              </a:rPr>
              <a:t>RH / RELEASE HELPDESK</a:t>
            </a:r>
          </a:p>
        </p:txBody>
      </p:sp>
      <p:sp>
        <p:nvSpPr>
          <p:cNvPr id="4" name="TextBox 3"/>
          <p:cNvSpPr txBox="1"/>
          <p:nvPr/>
        </p:nvSpPr>
        <p:spPr>
          <a:xfrm>
            <a:off x="8763000" y="279400"/>
            <a:ext cx="2857500" cy="209804"/>
          </a:xfrm>
          <a:prstGeom prst="rect">
            <a:avLst/>
          </a:prstGeom>
          <a:noFill/>
        </p:spPr>
        <p:txBody>
          <a:bodyPr wrap="none" tIns="0" bIns="0" lIns="0" rIns="0" anchor="t">
            <a:spAutoFit/>
          </a:bodyPr>
          <a:lstStyle/>
          <a:p>
            <a:pPr>
              <a:lnSpc>
                <a:spcPts val="1152"/>
              </a:lnSpc>
              <a:spcBef>
                <a:spcPts val="0"/>
              </a:spcBef>
              <a:spcAft>
                <a:spcPts val="0"/>
              </a:spcAft>
            </a:pPr>
            <a:r>
              <a:rPr sz="900" b="1">
                <a:solidFill>
                  <a:srgbClr val="596C80"/>
                </a:solidFill>
                <a:latin typeface="Noto Sans"/>
              </a:rPr>
              <a:t>05 / CONTINUOUS DELIVERY</a:t>
            </a:r>
          </a:p>
        </p:txBody>
      </p:sp>
      <p:sp>
        <p:nvSpPr>
          <p:cNvPr id="5" name="Rectangle 4"/>
          <p:cNvSpPr/>
          <p:nvPr/>
        </p:nvSpPr>
        <p:spPr>
          <a:xfrm>
            <a:off x="584200" y="660400"/>
            <a:ext cx="355600" cy="38100"/>
          </a:xfrm>
          <a:prstGeom prst="rect">
            <a:avLst/>
          </a:prstGeom>
          <a:solidFill>
            <a:srgbClr val="24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84200" y="876300"/>
            <a:ext cx="11049000" cy="508380"/>
          </a:xfrm>
          <a:prstGeom prst="rect">
            <a:avLst/>
          </a:prstGeom>
          <a:noFill/>
        </p:spPr>
        <p:txBody>
          <a:bodyPr wrap="none" tIns="0" bIns="0" lIns="0" rIns="0" anchor="t">
            <a:spAutoFit/>
          </a:bodyPr>
          <a:lstStyle/>
          <a:p>
            <a:pPr>
              <a:lnSpc>
                <a:spcPts val="3502"/>
              </a:lnSpc>
              <a:spcBef>
                <a:spcPts val="0"/>
              </a:spcBef>
              <a:spcAft>
                <a:spcPts val="0"/>
              </a:spcAft>
            </a:pPr>
            <a:r>
              <a:rPr sz="3100" b="1">
                <a:solidFill>
                  <a:srgbClr val="15243A"/>
                </a:solidFill>
                <a:latin typeface="Noto Sans"/>
              </a:rPr>
              <a:t>A guarded path from commit to cluster.</a:t>
            </a:r>
          </a:p>
        </p:txBody>
      </p:sp>
      <p:sp>
        <p:nvSpPr>
          <p:cNvPr id="7" name="TextBox 6"/>
          <p:cNvSpPr txBox="1"/>
          <p:nvPr/>
        </p:nvSpPr>
        <p:spPr>
          <a:xfrm>
            <a:off x="584200" y="1473200"/>
            <a:ext cx="10985500" cy="258572"/>
          </a:xfrm>
          <a:prstGeom prst="rect">
            <a:avLst/>
          </a:prstGeom>
          <a:noFill/>
        </p:spPr>
        <p:txBody>
          <a:bodyPr wrap="none" tIns="0" bIns="0" lIns="0" rIns="0" anchor="t">
            <a:spAutoFit/>
          </a:bodyPr>
          <a:lstStyle/>
          <a:p>
            <a:pPr>
              <a:lnSpc>
                <a:spcPts val="1536"/>
              </a:lnSpc>
              <a:spcBef>
                <a:spcPts val="0"/>
              </a:spcBef>
              <a:spcAft>
                <a:spcPts val="0"/>
              </a:spcAft>
            </a:pPr>
            <a:r>
              <a:rPr sz="1200" b="0">
                <a:solidFill>
                  <a:srgbClr val="596C80"/>
                </a:solidFill>
                <a:latin typeface="Noto Sans"/>
              </a:rPr>
              <a:t>Tests and source-security gates must succeed before either image is published.</a:t>
            </a:r>
          </a:p>
        </p:txBody>
      </p:sp>
      <p:cxnSp>
        <p:nvCxnSpPr>
          <p:cNvPr id="8" name="Connector 7"/>
          <p:cNvCxnSpPr/>
          <p:nvPr/>
        </p:nvCxnSpPr>
        <p:spPr>
          <a:xfrm>
            <a:off x="584200" y="6438900"/>
            <a:ext cx="11023600" cy="0"/>
          </a:xfrm>
          <a:prstGeom prst="line">
            <a:avLst/>
          </a:prstGeom>
          <a:ln w="10160">
            <a:solidFill>
              <a:srgbClr val="DCE4ED"/>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84200" y="6578600"/>
            <a:ext cx="4572000" cy="193548"/>
          </a:xfrm>
          <a:prstGeom prst="rect">
            <a:avLst/>
          </a:prstGeom>
          <a:noFill/>
        </p:spPr>
        <p:txBody>
          <a:bodyPr wrap="none" tIns="0" bIns="0" lIns="0" rIns="0" anchor="t">
            <a:spAutoFit/>
          </a:bodyPr>
          <a:lstStyle/>
          <a:p>
            <a:pPr>
              <a:lnSpc>
                <a:spcPts val="1024"/>
              </a:lnSpc>
              <a:spcBef>
                <a:spcPts val="0"/>
              </a:spcBef>
              <a:spcAft>
                <a:spcPts val="0"/>
              </a:spcAft>
            </a:pPr>
            <a:r>
              <a:rPr sz="800" b="0">
                <a:solidFill>
                  <a:srgbClr val="596C80"/>
                </a:solidFill>
                <a:latin typeface="Noto Sans"/>
              </a:rPr>
              <a:t>RELEASE ENGINEERING / PLATFORM WALKTHROUGH</a:t>
            </a:r>
          </a:p>
        </p:txBody>
      </p:sp>
      <p:sp>
        <p:nvSpPr>
          <p:cNvPr id="10" name="TextBox 9"/>
          <p:cNvSpPr txBox="1"/>
          <p:nvPr/>
        </p:nvSpPr>
        <p:spPr>
          <a:xfrm>
            <a:off x="10922000" y="6553200"/>
            <a:ext cx="736600" cy="209804"/>
          </a:xfrm>
          <a:prstGeom prst="rect">
            <a:avLst/>
          </a:prstGeom>
          <a:noFill/>
        </p:spPr>
        <p:txBody>
          <a:bodyPr wrap="none" tIns="0" bIns="0" lIns="0" rIns="0" anchor="t">
            <a:spAutoFit/>
          </a:bodyPr>
          <a:lstStyle/>
          <a:p>
            <a:pPr>
              <a:lnSpc>
                <a:spcPts val="1152"/>
              </a:lnSpc>
              <a:spcBef>
                <a:spcPts val="0"/>
              </a:spcBef>
              <a:spcAft>
                <a:spcPts val="0"/>
              </a:spcAft>
            </a:pPr>
            <a:r>
              <a:rPr sz="900" b="1">
                <a:solidFill>
                  <a:srgbClr val="596C80"/>
                </a:solidFill>
                <a:latin typeface="Noto Sans"/>
              </a:rPr>
              <a:t>06 / 16</a:t>
            </a:r>
          </a:p>
        </p:txBody>
      </p:sp>
      <p:sp>
        <p:nvSpPr>
          <p:cNvPr id="11" name="TextBox 10"/>
          <p:cNvSpPr txBox="1"/>
          <p:nvPr/>
        </p:nvSpPr>
        <p:spPr>
          <a:xfrm>
            <a:off x="584200" y="6210300"/>
            <a:ext cx="10414000" cy="193548"/>
          </a:xfrm>
          <a:prstGeom prst="rect">
            <a:avLst/>
          </a:prstGeom>
          <a:noFill/>
        </p:spPr>
        <p:txBody>
          <a:bodyPr wrap="none" tIns="0" bIns="0" lIns="0" rIns="0" anchor="t">
            <a:spAutoFit/>
          </a:bodyPr>
          <a:lstStyle/>
          <a:p>
            <a:pPr>
              <a:lnSpc>
                <a:spcPts val="1024"/>
              </a:lnSpc>
              <a:spcBef>
                <a:spcPts val="0"/>
              </a:spcBef>
              <a:spcAft>
                <a:spcPts val="0"/>
              </a:spcAft>
            </a:pPr>
            <a:r>
              <a:rPr sz="800" b="0">
                <a:solidFill>
                  <a:srgbClr val="596C80"/>
                </a:solidFill>
                <a:latin typeface="Noto Sans"/>
                <a:hlinkClick r:id="rId2"/>
              </a:rPr>
              <a:t>Evidence · Actual integrated source-security and image publication run</a:t>
            </a:r>
          </a:p>
        </p:txBody>
      </p:sp>
      <p:sp>
        <p:nvSpPr>
          <p:cNvPr id="12" name="Rounded Rectangle 11"/>
          <p:cNvSpPr/>
          <p:nvPr/>
        </p:nvSpPr>
        <p:spPr>
          <a:xfrm>
            <a:off x="571500" y="2006600"/>
            <a:ext cx="6210300" cy="3530600"/>
          </a:xfrm>
          <a:prstGeom prst="roundRect">
            <a:avLst>
              <a:gd name="adj" fmla="val 1079"/>
            </a:avLst>
          </a:prstGeom>
          <a:solidFill>
            <a:srgbClr val="FFFFFF"/>
          </a:solidFill>
          <a:ln w="889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i-security-release.png">
            <a:hlinkClick r:id="rId4"/>
          </p:cNvPr>
          <p:cNvPicPr>
            <a:picLocks noChangeAspect="1"/>
          </p:cNvPicPr>
          <p:nvPr/>
        </p:nvPicPr>
        <p:blipFill>
          <a:blip r:embed="rId3"/>
          <a:stretch>
            <a:fillRect/>
          </a:stretch>
        </p:blipFill>
        <p:spPr>
          <a:xfrm>
            <a:off x="1652797" y="2019300"/>
            <a:ext cx="4047704" cy="3505200"/>
          </a:xfrm>
          <a:prstGeom prst="rect">
            <a:avLst/>
          </a:prstGeom>
        </p:spPr>
      </p:pic>
      <p:sp>
        <p:nvSpPr>
          <p:cNvPr id="14" name="TextBox 13"/>
          <p:cNvSpPr txBox="1"/>
          <p:nvPr/>
        </p:nvSpPr>
        <p:spPr>
          <a:xfrm>
            <a:off x="584200" y="5613400"/>
            <a:ext cx="6184900" cy="209804"/>
          </a:xfrm>
          <a:prstGeom prst="rect">
            <a:avLst/>
          </a:prstGeom>
          <a:noFill/>
        </p:spPr>
        <p:txBody>
          <a:bodyPr wrap="none" tIns="0" bIns="0" lIns="0" rIns="0" anchor="t">
            <a:spAutoFit/>
          </a:bodyPr>
          <a:lstStyle/>
          <a:p>
            <a:pPr>
              <a:lnSpc>
                <a:spcPts val="1152"/>
              </a:lnSpc>
              <a:spcBef>
                <a:spcPts val="0"/>
              </a:spcBef>
              <a:spcAft>
                <a:spcPts val="0"/>
              </a:spcAft>
            </a:pPr>
            <a:r>
              <a:rPr sz="900" b="0">
                <a:solidFill>
                  <a:srgbClr val="596C80"/>
                </a:solidFill>
                <a:latin typeface="Noto Sans"/>
              </a:rPr>
              <a:t>Actual hosted run · test, source security and publication passed</a:t>
            </a:r>
          </a:p>
        </p:txBody>
      </p:sp>
      <p:sp>
        <p:nvSpPr>
          <p:cNvPr id="15" name="TextBox 14"/>
          <p:cNvSpPr txBox="1"/>
          <p:nvPr/>
        </p:nvSpPr>
        <p:spPr>
          <a:xfrm>
            <a:off x="7200900" y="2057400"/>
            <a:ext cx="381000" cy="258572"/>
          </a:xfrm>
          <a:prstGeom prst="rect">
            <a:avLst/>
          </a:prstGeom>
          <a:noFill/>
        </p:spPr>
        <p:txBody>
          <a:bodyPr wrap="none" tIns="0" bIns="0" lIns="0" rIns="0" anchor="t">
            <a:spAutoFit/>
          </a:bodyPr>
          <a:lstStyle/>
          <a:p>
            <a:pPr>
              <a:lnSpc>
                <a:spcPts val="1536"/>
              </a:lnSpc>
              <a:spcBef>
                <a:spcPts val="0"/>
              </a:spcBef>
              <a:spcAft>
                <a:spcPts val="0"/>
              </a:spcAft>
            </a:pPr>
            <a:r>
              <a:rPr sz="1200" b="1">
                <a:solidFill>
                  <a:srgbClr val="087F76"/>
                </a:solidFill>
                <a:latin typeface="Noto Sans"/>
              </a:rPr>
              <a:t>01</a:t>
            </a:r>
          </a:p>
        </p:txBody>
      </p:sp>
      <p:sp>
        <p:nvSpPr>
          <p:cNvPr id="16" name="TextBox 15"/>
          <p:cNvSpPr txBox="1"/>
          <p:nvPr/>
        </p:nvSpPr>
        <p:spPr>
          <a:xfrm>
            <a:off x="7683500" y="2019300"/>
            <a:ext cx="3924300" cy="339852"/>
          </a:xfrm>
          <a:prstGeom prst="rect">
            <a:avLst/>
          </a:prstGeom>
          <a:noFill/>
        </p:spPr>
        <p:txBody>
          <a:bodyPr wrap="none" tIns="0" bIns="0" lIns="0" rIns="0" anchor="t">
            <a:spAutoFit/>
          </a:bodyPr>
          <a:lstStyle/>
          <a:p>
            <a:pPr>
              <a:lnSpc>
                <a:spcPts val="2176"/>
              </a:lnSpc>
              <a:spcBef>
                <a:spcPts val="0"/>
              </a:spcBef>
              <a:spcAft>
                <a:spcPts val="0"/>
              </a:spcAft>
            </a:pPr>
            <a:r>
              <a:rPr sz="1700" b="1">
                <a:solidFill>
                  <a:srgbClr val="15243A"/>
                </a:solidFill>
                <a:latin typeface="Noto Sans"/>
              </a:rPr>
              <a:t>Validate</a:t>
            </a:r>
          </a:p>
        </p:txBody>
      </p:sp>
      <p:sp>
        <p:nvSpPr>
          <p:cNvPr id="17" name="TextBox 16"/>
          <p:cNvSpPr txBox="1"/>
          <p:nvPr/>
        </p:nvSpPr>
        <p:spPr>
          <a:xfrm>
            <a:off x="7683500" y="2374900"/>
            <a:ext cx="3924300" cy="486156"/>
          </a:xfrm>
          <a:prstGeom prst="rect">
            <a:avLst/>
          </a:prstGeom>
          <a:noFill/>
        </p:spPr>
        <p:txBody>
          <a:bodyPr wrap="none" tIns="0" bIns="0" lIns="0" rIns="0" anchor="t">
            <a:spAutoFit/>
          </a:bodyPr>
          <a:lstStyle/>
          <a:p>
            <a:pPr>
              <a:lnSpc>
                <a:spcPts val="1664"/>
              </a:lnSpc>
              <a:spcBef>
                <a:spcPts val="0"/>
              </a:spcBef>
              <a:spcAft>
                <a:spcPts val="0"/>
              </a:spcAft>
            </a:pPr>
            <a:r>
              <a:rPr sz="1300" b="0">
                <a:solidFill>
                  <a:srgbClr val="596C80"/>
                </a:solidFill>
                <a:latin typeface="Noto Sans"/>
              </a:rPr>
              <a:t>PostgreSQL tests, frontend build and</a:t>
            </a:r>
          </a:p>
          <a:p>
            <a:pPr>
              <a:lnSpc>
                <a:spcPts val="1664"/>
              </a:lnSpc>
              <a:spcBef>
                <a:spcPts val="0"/>
              </a:spcBef>
              <a:spcAft>
                <a:spcPts val="0"/>
              </a:spcAft>
            </a:pPr>
            <a:r>
              <a:rPr sz="1300" b="0">
                <a:solidFill>
                  <a:srgbClr val="596C80"/>
                </a:solidFill>
                <a:latin typeface="Noto Sans"/>
              </a:rPr>
              <a:t>source/dependency/secret gates</a:t>
            </a:r>
          </a:p>
        </p:txBody>
      </p:sp>
      <p:sp>
        <p:nvSpPr>
          <p:cNvPr id="18" name="TextBox 17"/>
          <p:cNvSpPr txBox="1"/>
          <p:nvPr/>
        </p:nvSpPr>
        <p:spPr>
          <a:xfrm>
            <a:off x="7200900" y="3276600"/>
            <a:ext cx="381000" cy="258572"/>
          </a:xfrm>
          <a:prstGeom prst="rect">
            <a:avLst/>
          </a:prstGeom>
          <a:noFill/>
        </p:spPr>
        <p:txBody>
          <a:bodyPr wrap="none" tIns="0" bIns="0" lIns="0" rIns="0" anchor="t">
            <a:spAutoFit/>
          </a:bodyPr>
          <a:lstStyle/>
          <a:p>
            <a:pPr>
              <a:lnSpc>
                <a:spcPts val="1536"/>
              </a:lnSpc>
              <a:spcBef>
                <a:spcPts val="0"/>
              </a:spcBef>
              <a:spcAft>
                <a:spcPts val="0"/>
              </a:spcAft>
            </a:pPr>
            <a:r>
              <a:rPr sz="1200" b="1">
                <a:solidFill>
                  <a:srgbClr val="087F76"/>
                </a:solidFill>
                <a:latin typeface="Noto Sans"/>
              </a:rPr>
              <a:t>02</a:t>
            </a:r>
          </a:p>
        </p:txBody>
      </p:sp>
      <p:sp>
        <p:nvSpPr>
          <p:cNvPr id="19" name="TextBox 18"/>
          <p:cNvSpPr txBox="1"/>
          <p:nvPr/>
        </p:nvSpPr>
        <p:spPr>
          <a:xfrm>
            <a:off x="7683500" y="3238500"/>
            <a:ext cx="3924300" cy="339852"/>
          </a:xfrm>
          <a:prstGeom prst="rect">
            <a:avLst/>
          </a:prstGeom>
          <a:noFill/>
        </p:spPr>
        <p:txBody>
          <a:bodyPr wrap="none" tIns="0" bIns="0" lIns="0" rIns="0" anchor="t">
            <a:spAutoFit/>
          </a:bodyPr>
          <a:lstStyle/>
          <a:p>
            <a:pPr>
              <a:lnSpc>
                <a:spcPts val="2176"/>
              </a:lnSpc>
              <a:spcBef>
                <a:spcPts val="0"/>
              </a:spcBef>
              <a:spcAft>
                <a:spcPts val="0"/>
              </a:spcAft>
            </a:pPr>
            <a:r>
              <a:rPr sz="1700" b="1">
                <a:solidFill>
                  <a:srgbClr val="15243A"/>
                </a:solidFill>
                <a:latin typeface="Noto Sans"/>
              </a:rPr>
              <a:t>Build, scan &amp; publish</a:t>
            </a:r>
          </a:p>
        </p:txBody>
      </p:sp>
      <p:sp>
        <p:nvSpPr>
          <p:cNvPr id="20" name="TextBox 19"/>
          <p:cNvSpPr txBox="1"/>
          <p:nvPr/>
        </p:nvSpPr>
        <p:spPr>
          <a:xfrm>
            <a:off x="7683500" y="3594100"/>
            <a:ext cx="3924300" cy="486156"/>
          </a:xfrm>
          <a:prstGeom prst="rect">
            <a:avLst/>
          </a:prstGeom>
          <a:noFill/>
        </p:spPr>
        <p:txBody>
          <a:bodyPr wrap="none" tIns="0" bIns="0" lIns="0" rIns="0" anchor="t">
            <a:spAutoFit/>
          </a:bodyPr>
          <a:lstStyle/>
          <a:p>
            <a:pPr>
              <a:lnSpc>
                <a:spcPts val="1664"/>
              </a:lnSpc>
              <a:spcBef>
                <a:spcPts val="0"/>
              </a:spcBef>
              <a:spcAft>
                <a:spcPts val="0"/>
              </a:spcAft>
            </a:pPr>
            <a:r>
              <a:rPr sz="1300" b="0">
                <a:solidFill>
                  <a:srgbClr val="596C80"/>
                </a:solidFill>
                <a:latin typeface="Noto Sans"/>
              </a:rPr>
              <a:t>Both images </a:t>
            </a:r>
            <a:r>
              <a:rPr sz="1300" b="0">
                <a:solidFill>
                  <a:srgbClr val="596C80"/>
                </a:solidFill>
                <a:latin typeface="DejaVu Sans"/>
              </a:rPr>
              <a:t>→</a:t>
            </a:r>
            <a:r>
              <a:rPr sz="1300" b="0">
                <a:solidFill>
                  <a:srgbClr val="596C80"/>
                </a:solidFill>
                <a:latin typeface="Noto Sans"/>
              </a:rPr>
              <a:t> Trivy </a:t>
            </a:r>
            <a:r>
              <a:rPr sz="1300" b="0">
                <a:solidFill>
                  <a:srgbClr val="596C80"/>
                </a:solidFill>
                <a:latin typeface="DejaVu Sans"/>
              </a:rPr>
              <a:t>→</a:t>
            </a:r>
            <a:r>
              <a:rPr sz="1300" b="0">
                <a:solidFill>
                  <a:srgbClr val="596C80"/>
                </a:solidFill>
                <a:latin typeface="Noto Sans"/>
              </a:rPr>
              <a:t> GHCR with immutable</a:t>
            </a:r>
          </a:p>
          <a:p>
            <a:pPr>
              <a:lnSpc>
                <a:spcPts val="1664"/>
              </a:lnSpc>
              <a:spcBef>
                <a:spcPts val="0"/>
              </a:spcBef>
              <a:spcAft>
                <a:spcPts val="0"/>
              </a:spcAft>
            </a:pPr>
            <a:r>
              <a:rPr sz="1300" b="0">
                <a:solidFill>
                  <a:srgbClr val="596C80"/>
                </a:solidFill>
                <a:latin typeface="Noto Sans"/>
              </a:rPr>
              <a:t>full-SHA tags</a:t>
            </a:r>
          </a:p>
        </p:txBody>
      </p:sp>
      <p:sp>
        <p:nvSpPr>
          <p:cNvPr id="21" name="TextBox 20"/>
          <p:cNvSpPr txBox="1"/>
          <p:nvPr/>
        </p:nvSpPr>
        <p:spPr>
          <a:xfrm>
            <a:off x="7200900" y="4495800"/>
            <a:ext cx="381000" cy="258572"/>
          </a:xfrm>
          <a:prstGeom prst="rect">
            <a:avLst/>
          </a:prstGeom>
          <a:noFill/>
        </p:spPr>
        <p:txBody>
          <a:bodyPr wrap="none" tIns="0" bIns="0" lIns="0" rIns="0" anchor="t">
            <a:spAutoFit/>
          </a:bodyPr>
          <a:lstStyle/>
          <a:p>
            <a:pPr>
              <a:lnSpc>
                <a:spcPts val="1536"/>
              </a:lnSpc>
              <a:spcBef>
                <a:spcPts val="0"/>
              </a:spcBef>
              <a:spcAft>
                <a:spcPts val="0"/>
              </a:spcAft>
            </a:pPr>
            <a:r>
              <a:rPr sz="1200" b="1">
                <a:solidFill>
                  <a:srgbClr val="087F76"/>
                </a:solidFill>
                <a:latin typeface="Noto Sans"/>
              </a:rPr>
              <a:t>03</a:t>
            </a:r>
          </a:p>
        </p:txBody>
      </p:sp>
      <p:sp>
        <p:nvSpPr>
          <p:cNvPr id="22" name="TextBox 21"/>
          <p:cNvSpPr txBox="1"/>
          <p:nvPr/>
        </p:nvSpPr>
        <p:spPr>
          <a:xfrm>
            <a:off x="7683500" y="4457700"/>
            <a:ext cx="3924300" cy="339852"/>
          </a:xfrm>
          <a:prstGeom prst="rect">
            <a:avLst/>
          </a:prstGeom>
          <a:noFill/>
        </p:spPr>
        <p:txBody>
          <a:bodyPr wrap="none" tIns="0" bIns="0" lIns="0" rIns="0" anchor="t">
            <a:spAutoFit/>
          </a:bodyPr>
          <a:lstStyle/>
          <a:p>
            <a:pPr>
              <a:lnSpc>
                <a:spcPts val="2176"/>
              </a:lnSpc>
              <a:spcBef>
                <a:spcPts val="0"/>
              </a:spcBef>
              <a:spcAft>
                <a:spcPts val="0"/>
              </a:spcAft>
            </a:pPr>
            <a:r>
              <a:rPr sz="1700" b="1">
                <a:solidFill>
                  <a:srgbClr val="15243A"/>
                </a:solidFill>
                <a:latin typeface="Noto Sans"/>
              </a:rPr>
              <a:t>Promote through Git</a:t>
            </a:r>
          </a:p>
        </p:txBody>
      </p:sp>
      <p:sp>
        <p:nvSpPr>
          <p:cNvPr id="23" name="TextBox 22"/>
          <p:cNvSpPr txBox="1"/>
          <p:nvPr/>
        </p:nvSpPr>
        <p:spPr>
          <a:xfrm>
            <a:off x="7683500" y="4813300"/>
            <a:ext cx="3924300" cy="486156"/>
          </a:xfrm>
          <a:prstGeom prst="rect">
            <a:avLst/>
          </a:prstGeom>
          <a:noFill/>
        </p:spPr>
        <p:txBody>
          <a:bodyPr wrap="none" tIns="0" bIns="0" lIns="0" rIns="0" anchor="t">
            <a:spAutoFit/>
          </a:bodyPr>
          <a:lstStyle/>
          <a:p>
            <a:pPr>
              <a:lnSpc>
                <a:spcPts val="1664"/>
              </a:lnSpc>
              <a:spcBef>
                <a:spcPts val="0"/>
              </a:spcBef>
              <a:spcAft>
                <a:spcPts val="0"/>
              </a:spcAft>
            </a:pPr>
            <a:r>
              <a:rPr sz="1300" b="0">
                <a:solidFill>
                  <a:srgbClr val="596C80"/>
                </a:solidFill>
                <a:latin typeface="Noto Sans"/>
              </a:rPr>
              <a:t>Pin the verified SHA </a:t>
            </a:r>
            <a:r>
              <a:rPr sz="1300" b="0">
                <a:solidFill>
                  <a:srgbClr val="596C80"/>
                </a:solidFill>
                <a:latin typeface="DejaVu Sans"/>
              </a:rPr>
              <a:t>→</a:t>
            </a:r>
            <a:r>
              <a:rPr sz="1300" b="0">
                <a:solidFill>
                  <a:srgbClr val="596C80"/>
                </a:solidFill>
                <a:latin typeface="Noto Sans"/>
              </a:rPr>
              <a:t> Flux </a:t>
            </a:r>
            <a:r>
              <a:rPr sz="1300" b="0">
                <a:solidFill>
                  <a:srgbClr val="596C80"/>
                </a:solidFill>
                <a:latin typeface="DejaVu Sans"/>
              </a:rPr>
              <a:t>→</a:t>
            </a:r>
            <a:r>
              <a:rPr sz="1300" b="0">
                <a:solidFill>
                  <a:srgbClr val="596C80"/>
                </a:solidFill>
                <a:latin typeface="Noto Sans"/>
              </a:rPr>
              <a:t> Helm </a:t>
            </a:r>
            <a:r>
              <a:rPr sz="1300" b="0">
                <a:solidFill>
                  <a:srgbClr val="596C80"/>
                </a:solidFill>
                <a:latin typeface="DejaVu Sans"/>
              </a:rPr>
              <a:t>→</a:t>
            </a:r>
            <a:r>
              <a:rPr sz="1300" b="0">
                <a:solidFill>
                  <a:srgbClr val="596C80"/>
                </a:solidFill>
                <a:latin typeface="Noto Sans"/>
              </a:rPr>
              <a:t> drift</a:t>
            </a:r>
          </a:p>
          <a:p>
            <a:pPr>
              <a:lnSpc>
                <a:spcPts val="1664"/>
              </a:lnSpc>
              <a:spcBef>
                <a:spcPts val="0"/>
              </a:spcBef>
              <a:spcAft>
                <a:spcPts val="0"/>
              </a:spcAft>
            </a:pPr>
            <a:r>
              <a:rPr sz="1300" b="0">
                <a:solidFill>
                  <a:srgbClr val="596C80"/>
                </a:solidFill>
                <a:latin typeface="Noto Sans"/>
              </a:rPr>
              <a:t>correction</a:t>
            </a:r>
          </a:p>
        </p:txBody>
      </p:sp>
      <p:sp>
        <p:nvSpPr>
          <p:cNvPr id="24" name="TextBox 23"/>
          <p:cNvSpPr txBox="1"/>
          <p:nvPr/>
        </p:nvSpPr>
        <p:spPr>
          <a:xfrm>
            <a:off x="584200" y="5956300"/>
            <a:ext cx="3175000" cy="226060"/>
          </a:xfrm>
          <a:prstGeom prst="rect">
            <a:avLst/>
          </a:prstGeom>
          <a:noFill/>
        </p:spPr>
        <p:txBody>
          <a:bodyPr wrap="none" tIns="0" bIns="0" lIns="0" rIns="0" anchor="t">
            <a:spAutoFit/>
          </a:bodyPr>
          <a:lstStyle/>
          <a:p>
            <a:pPr>
              <a:lnSpc>
                <a:spcPts val="1280"/>
              </a:lnSpc>
              <a:spcBef>
                <a:spcPts val="0"/>
              </a:spcBef>
              <a:spcAft>
                <a:spcPts val="0"/>
              </a:spcAft>
            </a:pPr>
            <a:r>
              <a:rPr sz="1000" b="1">
                <a:solidFill>
                  <a:srgbClr val="087F76"/>
                </a:solidFill>
                <a:latin typeface="Noto Sans"/>
              </a:rPr>
              <a:t>Meaningful, traceable Git history</a:t>
            </a:r>
          </a:p>
        </p:txBody>
      </p:sp>
      <p:sp>
        <p:nvSpPr>
          <p:cNvPr id="25" name="TextBox 24"/>
          <p:cNvSpPr txBox="1"/>
          <p:nvPr/>
        </p:nvSpPr>
        <p:spPr>
          <a:xfrm>
            <a:off x="4064000" y="5956300"/>
            <a:ext cx="7493000" cy="226060"/>
          </a:xfrm>
          <a:prstGeom prst="rect">
            <a:avLst/>
          </a:prstGeom>
          <a:noFill/>
        </p:spPr>
        <p:txBody>
          <a:bodyPr wrap="none" tIns="0" bIns="0" lIns="0" rIns="0" anchor="t">
            <a:spAutoFit/>
          </a:bodyPr>
          <a:lstStyle/>
          <a:p>
            <a:pPr>
              <a:lnSpc>
                <a:spcPts val="1280"/>
              </a:lnSpc>
              <a:spcBef>
                <a:spcPts val="0"/>
              </a:spcBef>
              <a:spcAft>
                <a:spcPts val="0"/>
              </a:spcAft>
            </a:pPr>
            <a:r>
              <a:rPr sz="1000" b="1">
                <a:solidFill>
                  <a:srgbClr val="087F76"/>
                </a:solidFill>
                <a:latin typeface="Noto Sans"/>
              </a:rPr>
              <a:t>PRs validate without publishing; AWS deploy remains disabled after teardown.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E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79400"/>
            <a:ext cx="4445000" cy="209804"/>
          </a:xfrm>
          <a:prstGeom prst="rect">
            <a:avLst/>
          </a:prstGeom>
          <a:noFill/>
        </p:spPr>
        <p:txBody>
          <a:bodyPr wrap="none" tIns="0" bIns="0" lIns="0" rIns="0" anchor="t">
            <a:spAutoFit/>
          </a:bodyPr>
          <a:lstStyle/>
          <a:p>
            <a:pPr>
              <a:lnSpc>
                <a:spcPts val="1152"/>
              </a:lnSpc>
              <a:spcBef>
                <a:spcPts val="0"/>
              </a:spcBef>
              <a:spcAft>
                <a:spcPts val="0"/>
              </a:spcAft>
            </a:pPr>
            <a:r>
              <a:rPr sz="900" b="1">
                <a:solidFill>
                  <a:srgbClr val="B7CAE1"/>
                </a:solidFill>
                <a:latin typeface="Noto Sans"/>
              </a:rPr>
              <a:t>RH / RELEASE HELPDESK</a:t>
            </a:r>
          </a:p>
        </p:txBody>
      </p:sp>
      <p:sp>
        <p:nvSpPr>
          <p:cNvPr id="4" name="TextBox 3"/>
          <p:cNvSpPr txBox="1"/>
          <p:nvPr/>
        </p:nvSpPr>
        <p:spPr>
          <a:xfrm>
            <a:off x="8763000" y="279400"/>
            <a:ext cx="2857500" cy="209804"/>
          </a:xfrm>
          <a:prstGeom prst="rect">
            <a:avLst/>
          </a:prstGeom>
          <a:noFill/>
        </p:spPr>
        <p:txBody>
          <a:bodyPr wrap="none" tIns="0" bIns="0" lIns="0" rIns="0" anchor="t">
            <a:spAutoFit/>
          </a:bodyPr>
          <a:lstStyle/>
          <a:p>
            <a:pPr>
              <a:lnSpc>
                <a:spcPts val="1152"/>
              </a:lnSpc>
              <a:spcBef>
                <a:spcPts val="0"/>
              </a:spcBef>
              <a:spcAft>
                <a:spcPts val="0"/>
              </a:spcAft>
            </a:pPr>
            <a:r>
              <a:rPr sz="900" b="1">
                <a:solidFill>
                  <a:srgbClr val="B7CAE1"/>
                </a:solidFill>
                <a:latin typeface="Noto Sans"/>
              </a:rPr>
              <a:t>06 / SECURITY</a:t>
            </a:r>
          </a:p>
        </p:txBody>
      </p:sp>
      <p:sp>
        <p:nvSpPr>
          <p:cNvPr id="5" name="Rectangle 4"/>
          <p:cNvSpPr/>
          <p:nvPr/>
        </p:nvSpPr>
        <p:spPr>
          <a:xfrm>
            <a:off x="584200" y="660400"/>
            <a:ext cx="355600" cy="38100"/>
          </a:xfrm>
          <a:prstGeom prst="rect">
            <a:avLst/>
          </a:prstGeom>
          <a:solidFill>
            <a:srgbClr val="67D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84200" y="876300"/>
            <a:ext cx="11049000" cy="508380"/>
          </a:xfrm>
          <a:prstGeom prst="rect">
            <a:avLst/>
          </a:prstGeom>
          <a:noFill/>
        </p:spPr>
        <p:txBody>
          <a:bodyPr wrap="none" tIns="0" bIns="0" lIns="0" rIns="0" anchor="t">
            <a:spAutoFit/>
          </a:bodyPr>
          <a:lstStyle/>
          <a:p>
            <a:pPr>
              <a:lnSpc>
                <a:spcPts val="3502"/>
              </a:lnSpc>
              <a:spcBef>
                <a:spcPts val="0"/>
              </a:spcBef>
              <a:spcAft>
                <a:spcPts val="0"/>
              </a:spcAft>
            </a:pPr>
            <a:r>
              <a:rPr sz="3100" b="1">
                <a:solidFill>
                  <a:srgbClr val="FFFFFF"/>
                </a:solidFill>
                <a:latin typeface="Noto Sans"/>
              </a:rPr>
              <a:t>Security findings lead to repairs, then a release.</a:t>
            </a:r>
          </a:p>
        </p:txBody>
      </p:sp>
      <p:sp>
        <p:nvSpPr>
          <p:cNvPr id="7" name="TextBox 6"/>
          <p:cNvSpPr txBox="1"/>
          <p:nvPr/>
        </p:nvSpPr>
        <p:spPr>
          <a:xfrm>
            <a:off x="584200" y="1473200"/>
            <a:ext cx="10985500" cy="258572"/>
          </a:xfrm>
          <a:prstGeom prst="rect">
            <a:avLst/>
          </a:prstGeom>
          <a:noFill/>
        </p:spPr>
        <p:txBody>
          <a:bodyPr wrap="none" tIns="0" bIns="0" lIns="0" rIns="0" anchor="t">
            <a:spAutoFit/>
          </a:bodyPr>
          <a:lstStyle/>
          <a:p>
            <a:pPr>
              <a:lnSpc>
                <a:spcPts val="1536"/>
              </a:lnSpc>
              <a:spcBef>
                <a:spcPts val="0"/>
              </a:spcBef>
              <a:spcAft>
                <a:spcPts val="0"/>
              </a:spcAft>
            </a:pPr>
            <a:r>
              <a:rPr sz="1200" b="0">
                <a:solidFill>
                  <a:srgbClr val="B7CAE1"/>
                </a:solidFill>
                <a:latin typeface="Noto Sans"/>
              </a:rPr>
              <a:t>Source analysis, dependency audits and secret checks run before image publication.</a:t>
            </a:r>
          </a:p>
        </p:txBody>
      </p:sp>
      <p:cxnSp>
        <p:nvCxnSpPr>
          <p:cNvPr id="8" name="Connector 7"/>
          <p:cNvCxnSpPr/>
          <p:nvPr/>
        </p:nvCxnSpPr>
        <p:spPr>
          <a:xfrm>
            <a:off x="584200" y="6438900"/>
            <a:ext cx="11023600" cy="0"/>
          </a:xfrm>
          <a:prstGeom prst="line">
            <a:avLst/>
          </a:prstGeom>
          <a:ln w="10160">
            <a:solidFill>
              <a:srgbClr val="2C405A"/>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84200" y="6578600"/>
            <a:ext cx="4572000" cy="193548"/>
          </a:xfrm>
          <a:prstGeom prst="rect">
            <a:avLst/>
          </a:prstGeom>
          <a:noFill/>
        </p:spPr>
        <p:txBody>
          <a:bodyPr wrap="none" tIns="0" bIns="0" lIns="0" rIns="0" anchor="t">
            <a:spAutoFit/>
          </a:bodyPr>
          <a:lstStyle/>
          <a:p>
            <a:pPr>
              <a:lnSpc>
                <a:spcPts val="1024"/>
              </a:lnSpc>
              <a:spcBef>
                <a:spcPts val="0"/>
              </a:spcBef>
              <a:spcAft>
                <a:spcPts val="0"/>
              </a:spcAft>
            </a:pPr>
            <a:r>
              <a:rPr sz="800" b="0">
                <a:solidFill>
                  <a:srgbClr val="B7CAE1"/>
                </a:solidFill>
                <a:latin typeface="Noto Sans"/>
              </a:rPr>
              <a:t>RELEASE ENGINEERING / PLATFORM WALKTHROUGH</a:t>
            </a:r>
          </a:p>
        </p:txBody>
      </p:sp>
      <p:sp>
        <p:nvSpPr>
          <p:cNvPr id="10" name="TextBox 9"/>
          <p:cNvSpPr txBox="1"/>
          <p:nvPr/>
        </p:nvSpPr>
        <p:spPr>
          <a:xfrm>
            <a:off x="10922000" y="6553200"/>
            <a:ext cx="736600" cy="209804"/>
          </a:xfrm>
          <a:prstGeom prst="rect">
            <a:avLst/>
          </a:prstGeom>
          <a:noFill/>
        </p:spPr>
        <p:txBody>
          <a:bodyPr wrap="none" tIns="0" bIns="0" lIns="0" rIns="0" anchor="t">
            <a:spAutoFit/>
          </a:bodyPr>
          <a:lstStyle/>
          <a:p>
            <a:pPr>
              <a:lnSpc>
                <a:spcPts val="1152"/>
              </a:lnSpc>
              <a:spcBef>
                <a:spcPts val="0"/>
              </a:spcBef>
              <a:spcAft>
                <a:spcPts val="0"/>
              </a:spcAft>
            </a:pPr>
            <a:r>
              <a:rPr sz="900" b="1">
                <a:solidFill>
                  <a:srgbClr val="B7CAE1"/>
                </a:solidFill>
                <a:latin typeface="Noto Sans"/>
              </a:rPr>
              <a:t>07 / 16</a:t>
            </a:r>
          </a:p>
        </p:txBody>
      </p:sp>
      <p:sp>
        <p:nvSpPr>
          <p:cNvPr id="11" name="TextBox 10"/>
          <p:cNvSpPr txBox="1"/>
          <p:nvPr/>
        </p:nvSpPr>
        <p:spPr>
          <a:xfrm>
            <a:off x="584200" y="6210300"/>
            <a:ext cx="10414000" cy="193548"/>
          </a:xfrm>
          <a:prstGeom prst="rect">
            <a:avLst/>
          </a:prstGeom>
          <a:noFill/>
        </p:spPr>
        <p:txBody>
          <a:bodyPr wrap="none" tIns="0" bIns="0" lIns="0" rIns="0" anchor="t">
            <a:spAutoFit/>
          </a:bodyPr>
          <a:lstStyle/>
          <a:p>
            <a:pPr>
              <a:lnSpc>
                <a:spcPts val="1024"/>
              </a:lnSpc>
              <a:spcBef>
                <a:spcPts val="0"/>
              </a:spcBef>
              <a:spcAft>
                <a:spcPts val="0"/>
              </a:spcAft>
            </a:pPr>
            <a:r>
              <a:rPr sz="800" b="0">
                <a:solidFill>
                  <a:srgbClr val="B7CAE1"/>
                </a:solidFill>
                <a:latin typeface="Noto Sans"/>
                <a:hlinkClick r:id="rId2"/>
              </a:rPr>
              <a:t>Evidence · Fresh source and image reports for release 1178b68</a:t>
            </a:r>
          </a:p>
        </p:txBody>
      </p:sp>
      <p:sp>
        <p:nvSpPr>
          <p:cNvPr id="12" name="Rounded Rectangle 11"/>
          <p:cNvSpPr/>
          <p:nvPr/>
        </p:nvSpPr>
        <p:spPr>
          <a:xfrm>
            <a:off x="584200" y="2082800"/>
            <a:ext cx="5384800" cy="2108200"/>
          </a:xfrm>
          <a:prstGeom prst="roundRect">
            <a:avLst>
              <a:gd name="adj" fmla="val 4216"/>
            </a:avLst>
          </a:prstGeom>
          <a:solidFill>
            <a:srgbClr val="1B30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8200" y="2298700"/>
            <a:ext cx="4826000" cy="242315"/>
          </a:xfrm>
          <a:prstGeom prst="rect">
            <a:avLst/>
          </a:prstGeom>
          <a:noFill/>
        </p:spPr>
        <p:txBody>
          <a:bodyPr wrap="none" tIns="0" bIns="0" lIns="0" rIns="0" anchor="t">
            <a:spAutoFit/>
          </a:bodyPr>
          <a:lstStyle/>
          <a:p>
            <a:pPr>
              <a:lnSpc>
                <a:spcPts val="1408"/>
              </a:lnSpc>
              <a:spcBef>
                <a:spcPts val="0"/>
              </a:spcBef>
              <a:spcAft>
                <a:spcPts val="0"/>
              </a:spcAft>
            </a:pPr>
            <a:r>
              <a:rPr sz="1100" b="1">
                <a:solidFill>
                  <a:srgbClr val="B7CAE1"/>
                </a:solidFill>
                <a:latin typeface="Noto Sans"/>
              </a:rPr>
              <a:t>BACKEND IMAGE</a:t>
            </a:r>
          </a:p>
        </p:txBody>
      </p:sp>
      <p:sp>
        <p:nvSpPr>
          <p:cNvPr id="14" name="TextBox 13"/>
          <p:cNvSpPr txBox="1"/>
          <p:nvPr/>
        </p:nvSpPr>
        <p:spPr>
          <a:xfrm>
            <a:off x="838200" y="2654300"/>
            <a:ext cx="1143000" cy="1120140"/>
          </a:xfrm>
          <a:prstGeom prst="rect">
            <a:avLst/>
          </a:prstGeom>
          <a:noFill/>
        </p:spPr>
        <p:txBody>
          <a:bodyPr wrap="none" tIns="0" bIns="0" lIns="0" rIns="0" anchor="t">
            <a:spAutoFit/>
          </a:bodyPr>
          <a:lstStyle/>
          <a:p>
            <a:pPr>
              <a:lnSpc>
                <a:spcPts val="8320"/>
              </a:lnSpc>
              <a:spcBef>
                <a:spcPts val="0"/>
              </a:spcBef>
              <a:spcAft>
                <a:spcPts val="0"/>
              </a:spcAft>
            </a:pPr>
            <a:r>
              <a:rPr sz="6500" b="1">
                <a:solidFill>
                  <a:srgbClr val="67DBCC"/>
                </a:solidFill>
                <a:latin typeface="Noto Sans"/>
              </a:rPr>
              <a:t>0</a:t>
            </a:r>
          </a:p>
        </p:txBody>
      </p:sp>
      <p:sp>
        <p:nvSpPr>
          <p:cNvPr id="15" name="TextBox 14"/>
          <p:cNvSpPr txBox="1"/>
          <p:nvPr/>
        </p:nvSpPr>
        <p:spPr>
          <a:xfrm>
            <a:off x="2209800" y="2895600"/>
            <a:ext cx="3429000" cy="648716"/>
          </a:xfrm>
          <a:prstGeom prst="rect">
            <a:avLst/>
          </a:prstGeom>
          <a:noFill/>
        </p:spPr>
        <p:txBody>
          <a:bodyPr wrap="none" tIns="0" bIns="0" lIns="0" rIns="0" anchor="t">
            <a:spAutoFit/>
          </a:bodyPr>
          <a:lstStyle/>
          <a:p>
            <a:pPr>
              <a:lnSpc>
                <a:spcPts val="2304"/>
              </a:lnSpc>
              <a:spcBef>
                <a:spcPts val="0"/>
              </a:spcBef>
              <a:spcAft>
                <a:spcPts val="0"/>
              </a:spcAft>
            </a:pPr>
            <a:r>
              <a:rPr sz="1800" b="1">
                <a:solidFill>
                  <a:srgbClr val="FFFFFF"/>
                </a:solidFill>
                <a:latin typeface="Noto Sans"/>
              </a:rPr>
              <a:t>HIGH / CRITICAL</a:t>
            </a:r>
          </a:p>
          <a:p>
            <a:pPr>
              <a:lnSpc>
                <a:spcPts val="2304"/>
              </a:lnSpc>
              <a:spcBef>
                <a:spcPts val="0"/>
              </a:spcBef>
              <a:spcAft>
                <a:spcPts val="0"/>
              </a:spcAft>
            </a:pPr>
            <a:r>
              <a:rPr sz="1800" b="1">
                <a:solidFill>
                  <a:srgbClr val="FFFFFF"/>
                </a:solidFill>
                <a:latin typeface="Noto Sans"/>
              </a:rPr>
              <a:t>findings reported</a:t>
            </a:r>
          </a:p>
        </p:txBody>
      </p:sp>
      <p:sp>
        <p:nvSpPr>
          <p:cNvPr id="16" name="Rounded Rectangle 15"/>
          <p:cNvSpPr/>
          <p:nvPr/>
        </p:nvSpPr>
        <p:spPr>
          <a:xfrm>
            <a:off x="6223000" y="2082800"/>
            <a:ext cx="5384800" cy="2108200"/>
          </a:xfrm>
          <a:prstGeom prst="roundRect">
            <a:avLst>
              <a:gd name="adj" fmla="val 4216"/>
            </a:avLst>
          </a:prstGeom>
          <a:solidFill>
            <a:srgbClr val="1B30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77000" y="2298700"/>
            <a:ext cx="4826000" cy="242315"/>
          </a:xfrm>
          <a:prstGeom prst="rect">
            <a:avLst/>
          </a:prstGeom>
          <a:noFill/>
        </p:spPr>
        <p:txBody>
          <a:bodyPr wrap="none" tIns="0" bIns="0" lIns="0" rIns="0" anchor="t">
            <a:spAutoFit/>
          </a:bodyPr>
          <a:lstStyle/>
          <a:p>
            <a:pPr>
              <a:lnSpc>
                <a:spcPts val="1408"/>
              </a:lnSpc>
              <a:spcBef>
                <a:spcPts val="0"/>
              </a:spcBef>
              <a:spcAft>
                <a:spcPts val="0"/>
              </a:spcAft>
            </a:pPr>
            <a:r>
              <a:rPr sz="1100" b="1">
                <a:solidFill>
                  <a:srgbClr val="B7CAE1"/>
                </a:solidFill>
                <a:latin typeface="Noto Sans"/>
              </a:rPr>
              <a:t>FRONTEND IMAGE</a:t>
            </a:r>
          </a:p>
        </p:txBody>
      </p:sp>
      <p:sp>
        <p:nvSpPr>
          <p:cNvPr id="18" name="TextBox 17"/>
          <p:cNvSpPr txBox="1"/>
          <p:nvPr/>
        </p:nvSpPr>
        <p:spPr>
          <a:xfrm>
            <a:off x="6477000" y="2654300"/>
            <a:ext cx="1143000" cy="1120140"/>
          </a:xfrm>
          <a:prstGeom prst="rect">
            <a:avLst/>
          </a:prstGeom>
          <a:noFill/>
        </p:spPr>
        <p:txBody>
          <a:bodyPr wrap="none" tIns="0" bIns="0" lIns="0" rIns="0" anchor="t">
            <a:spAutoFit/>
          </a:bodyPr>
          <a:lstStyle/>
          <a:p>
            <a:pPr>
              <a:lnSpc>
                <a:spcPts val="8320"/>
              </a:lnSpc>
              <a:spcBef>
                <a:spcPts val="0"/>
              </a:spcBef>
              <a:spcAft>
                <a:spcPts val="0"/>
              </a:spcAft>
            </a:pPr>
            <a:r>
              <a:rPr sz="6500" b="1">
                <a:solidFill>
                  <a:srgbClr val="67DBCC"/>
                </a:solidFill>
                <a:latin typeface="Noto Sans"/>
              </a:rPr>
              <a:t>0</a:t>
            </a:r>
          </a:p>
        </p:txBody>
      </p:sp>
      <p:sp>
        <p:nvSpPr>
          <p:cNvPr id="19" name="TextBox 18"/>
          <p:cNvSpPr txBox="1"/>
          <p:nvPr/>
        </p:nvSpPr>
        <p:spPr>
          <a:xfrm>
            <a:off x="7848600" y="2895600"/>
            <a:ext cx="3429000" cy="648716"/>
          </a:xfrm>
          <a:prstGeom prst="rect">
            <a:avLst/>
          </a:prstGeom>
          <a:noFill/>
        </p:spPr>
        <p:txBody>
          <a:bodyPr wrap="none" tIns="0" bIns="0" lIns="0" rIns="0" anchor="t">
            <a:spAutoFit/>
          </a:bodyPr>
          <a:lstStyle/>
          <a:p>
            <a:pPr>
              <a:lnSpc>
                <a:spcPts val="2304"/>
              </a:lnSpc>
              <a:spcBef>
                <a:spcPts val="0"/>
              </a:spcBef>
              <a:spcAft>
                <a:spcPts val="0"/>
              </a:spcAft>
            </a:pPr>
            <a:r>
              <a:rPr sz="1800" b="1">
                <a:solidFill>
                  <a:srgbClr val="FFFFFF"/>
                </a:solidFill>
                <a:latin typeface="Noto Sans"/>
              </a:rPr>
              <a:t>HIGH / CRITICAL</a:t>
            </a:r>
          </a:p>
          <a:p>
            <a:pPr>
              <a:lnSpc>
                <a:spcPts val="2304"/>
              </a:lnSpc>
              <a:spcBef>
                <a:spcPts val="0"/>
              </a:spcBef>
              <a:spcAft>
                <a:spcPts val="0"/>
              </a:spcAft>
            </a:pPr>
            <a:r>
              <a:rPr sz="1800" b="1">
                <a:solidFill>
                  <a:srgbClr val="FFFFFF"/>
                </a:solidFill>
                <a:latin typeface="Noto Sans"/>
              </a:rPr>
              <a:t>findings reported</a:t>
            </a:r>
          </a:p>
        </p:txBody>
      </p:sp>
      <p:sp>
        <p:nvSpPr>
          <p:cNvPr id="20" name="TextBox 19"/>
          <p:cNvSpPr txBox="1"/>
          <p:nvPr/>
        </p:nvSpPr>
        <p:spPr>
          <a:xfrm>
            <a:off x="584200" y="4445000"/>
            <a:ext cx="10985500" cy="291084"/>
          </a:xfrm>
          <a:prstGeom prst="rect">
            <a:avLst/>
          </a:prstGeom>
          <a:noFill/>
        </p:spPr>
        <p:txBody>
          <a:bodyPr wrap="none" tIns="0" bIns="0" lIns="0" rIns="0" anchor="t">
            <a:spAutoFit/>
          </a:bodyPr>
          <a:lstStyle/>
          <a:p>
            <a:pPr>
              <a:lnSpc>
                <a:spcPts val="1792"/>
              </a:lnSpc>
              <a:spcBef>
                <a:spcPts val="0"/>
              </a:spcBef>
              <a:spcAft>
                <a:spcPts val="0"/>
              </a:spcAft>
            </a:pPr>
            <a:r>
              <a:rPr sz="1400" b="0">
                <a:solidFill>
                  <a:srgbClr val="B7CAE1"/>
                </a:solidFill>
                <a:latin typeface="Noto Sans"/>
              </a:rPr>
              <a:t>Certifi trust-store advisory </a:t>
            </a:r>
            <a:r>
              <a:rPr sz="1400" b="0">
                <a:solidFill>
                  <a:srgbClr val="B7CAE1"/>
                </a:solidFill>
                <a:latin typeface="DejaVu Sans"/>
              </a:rPr>
              <a:t>→</a:t>
            </a:r>
            <a:r>
              <a:rPr sz="1400" b="0">
                <a:solidFill>
                  <a:srgbClr val="B7CAE1"/>
                </a:solidFill>
                <a:latin typeface="Noto Sans"/>
              </a:rPr>
              <a:t> upgrade to 2026.10.19 </a:t>
            </a:r>
            <a:r>
              <a:rPr sz="1400" b="0">
                <a:solidFill>
                  <a:srgbClr val="B7CAE1"/>
                </a:solidFill>
                <a:latin typeface="DejaVu Sans"/>
              </a:rPr>
              <a:t>→</a:t>
            </a:r>
            <a:r>
              <a:rPr sz="1400" b="0">
                <a:solidFill>
                  <a:srgbClr val="B7CAE1"/>
                </a:solidFill>
                <a:latin typeface="Noto Sans"/>
              </a:rPr>
              <a:t> rebuild and rescan</a:t>
            </a:r>
          </a:p>
        </p:txBody>
      </p:sp>
      <p:cxnSp>
        <p:nvCxnSpPr>
          <p:cNvPr id="21" name="Connector 20"/>
          <p:cNvCxnSpPr/>
          <p:nvPr/>
        </p:nvCxnSpPr>
        <p:spPr>
          <a:xfrm>
            <a:off x="584200" y="4889500"/>
            <a:ext cx="11023600" cy="0"/>
          </a:xfrm>
          <a:prstGeom prst="line">
            <a:avLst/>
          </a:prstGeom>
          <a:ln w="15240">
            <a:solidFill>
              <a:srgbClr val="2C405A"/>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84200" y="5181600"/>
            <a:ext cx="381000" cy="258572"/>
          </a:xfrm>
          <a:prstGeom prst="rect">
            <a:avLst/>
          </a:prstGeom>
          <a:noFill/>
        </p:spPr>
        <p:txBody>
          <a:bodyPr wrap="none" tIns="0" bIns="0" lIns="0" rIns="0" anchor="t">
            <a:spAutoFit/>
          </a:bodyPr>
          <a:lstStyle/>
          <a:p>
            <a:pPr>
              <a:lnSpc>
                <a:spcPts val="1536"/>
              </a:lnSpc>
              <a:spcBef>
                <a:spcPts val="0"/>
              </a:spcBef>
              <a:spcAft>
                <a:spcPts val="0"/>
              </a:spcAft>
            </a:pPr>
            <a:r>
              <a:rPr sz="1200" b="1">
                <a:solidFill>
                  <a:srgbClr val="67DBCC"/>
                </a:solidFill>
                <a:latin typeface="Noto Sans"/>
              </a:rPr>
              <a:t>01</a:t>
            </a:r>
          </a:p>
        </p:txBody>
      </p:sp>
      <p:sp>
        <p:nvSpPr>
          <p:cNvPr id="23" name="TextBox 22"/>
          <p:cNvSpPr txBox="1"/>
          <p:nvPr/>
        </p:nvSpPr>
        <p:spPr>
          <a:xfrm>
            <a:off x="1066800" y="5143500"/>
            <a:ext cx="4978400" cy="339852"/>
          </a:xfrm>
          <a:prstGeom prst="rect">
            <a:avLst/>
          </a:prstGeom>
          <a:noFill/>
        </p:spPr>
        <p:txBody>
          <a:bodyPr wrap="none" tIns="0" bIns="0" lIns="0" rIns="0" anchor="t">
            <a:spAutoFit/>
          </a:bodyPr>
          <a:lstStyle/>
          <a:p>
            <a:pPr>
              <a:lnSpc>
                <a:spcPts val="2176"/>
              </a:lnSpc>
              <a:spcBef>
                <a:spcPts val="0"/>
              </a:spcBef>
              <a:spcAft>
                <a:spcPts val="0"/>
              </a:spcAft>
            </a:pPr>
            <a:r>
              <a:rPr sz="1700" b="1">
                <a:solidFill>
                  <a:srgbClr val="FFFFFF"/>
                </a:solidFill>
                <a:latin typeface="Noto Sans"/>
              </a:rPr>
              <a:t>Source + dependencies</a:t>
            </a:r>
          </a:p>
        </p:txBody>
      </p:sp>
      <p:sp>
        <p:nvSpPr>
          <p:cNvPr id="24" name="TextBox 23"/>
          <p:cNvSpPr txBox="1"/>
          <p:nvPr/>
        </p:nvSpPr>
        <p:spPr>
          <a:xfrm>
            <a:off x="1066800" y="5499100"/>
            <a:ext cx="4978400" cy="274828"/>
          </a:xfrm>
          <a:prstGeom prst="rect">
            <a:avLst/>
          </a:prstGeom>
          <a:noFill/>
        </p:spPr>
        <p:txBody>
          <a:bodyPr wrap="none" tIns="0" bIns="0" lIns="0" rIns="0" anchor="t">
            <a:spAutoFit/>
          </a:bodyPr>
          <a:lstStyle/>
          <a:p>
            <a:pPr>
              <a:lnSpc>
                <a:spcPts val="1664"/>
              </a:lnSpc>
              <a:spcBef>
                <a:spcPts val="0"/>
              </a:spcBef>
              <a:spcAft>
                <a:spcPts val="0"/>
              </a:spcAft>
            </a:pPr>
            <a:r>
              <a:rPr sz="1300" b="0">
                <a:solidFill>
                  <a:srgbClr val="B7CAE1"/>
                </a:solidFill>
                <a:latin typeface="Noto Sans"/>
              </a:rPr>
              <a:t>Bandit / Semgrep; pip-audit / npm audit.</a:t>
            </a:r>
          </a:p>
        </p:txBody>
      </p:sp>
      <p:sp>
        <p:nvSpPr>
          <p:cNvPr id="25" name="TextBox 24"/>
          <p:cNvSpPr txBox="1"/>
          <p:nvPr/>
        </p:nvSpPr>
        <p:spPr>
          <a:xfrm>
            <a:off x="6350000" y="5181600"/>
            <a:ext cx="381000" cy="258572"/>
          </a:xfrm>
          <a:prstGeom prst="rect">
            <a:avLst/>
          </a:prstGeom>
          <a:noFill/>
        </p:spPr>
        <p:txBody>
          <a:bodyPr wrap="none" tIns="0" bIns="0" lIns="0" rIns="0" anchor="t">
            <a:spAutoFit/>
          </a:bodyPr>
          <a:lstStyle/>
          <a:p>
            <a:pPr>
              <a:lnSpc>
                <a:spcPts val="1536"/>
              </a:lnSpc>
              <a:spcBef>
                <a:spcPts val="0"/>
              </a:spcBef>
              <a:spcAft>
                <a:spcPts val="0"/>
              </a:spcAft>
            </a:pPr>
            <a:r>
              <a:rPr sz="1200" b="1">
                <a:solidFill>
                  <a:srgbClr val="67DBCC"/>
                </a:solidFill>
                <a:latin typeface="Noto Sans"/>
              </a:rPr>
              <a:t>02</a:t>
            </a:r>
          </a:p>
        </p:txBody>
      </p:sp>
      <p:sp>
        <p:nvSpPr>
          <p:cNvPr id="26" name="TextBox 25"/>
          <p:cNvSpPr txBox="1"/>
          <p:nvPr/>
        </p:nvSpPr>
        <p:spPr>
          <a:xfrm>
            <a:off x="6832600" y="5143500"/>
            <a:ext cx="4775200" cy="339852"/>
          </a:xfrm>
          <a:prstGeom prst="rect">
            <a:avLst/>
          </a:prstGeom>
          <a:noFill/>
        </p:spPr>
        <p:txBody>
          <a:bodyPr wrap="none" tIns="0" bIns="0" lIns="0" rIns="0" anchor="t">
            <a:spAutoFit/>
          </a:bodyPr>
          <a:lstStyle/>
          <a:p>
            <a:pPr>
              <a:lnSpc>
                <a:spcPts val="2176"/>
              </a:lnSpc>
              <a:spcBef>
                <a:spcPts val="0"/>
              </a:spcBef>
              <a:spcAft>
                <a:spcPts val="0"/>
              </a:spcAft>
            </a:pPr>
            <a:r>
              <a:rPr sz="1700" b="1">
                <a:solidFill>
                  <a:srgbClr val="FFFFFF"/>
                </a:solidFill>
                <a:latin typeface="Noto Sans"/>
              </a:rPr>
              <a:t>Secrets + final images</a:t>
            </a:r>
          </a:p>
        </p:txBody>
      </p:sp>
      <p:sp>
        <p:nvSpPr>
          <p:cNvPr id="27" name="TextBox 26"/>
          <p:cNvSpPr txBox="1"/>
          <p:nvPr/>
        </p:nvSpPr>
        <p:spPr>
          <a:xfrm>
            <a:off x="6832600" y="5499100"/>
            <a:ext cx="4775200" cy="274828"/>
          </a:xfrm>
          <a:prstGeom prst="rect">
            <a:avLst/>
          </a:prstGeom>
          <a:noFill/>
        </p:spPr>
        <p:txBody>
          <a:bodyPr wrap="none" tIns="0" bIns="0" lIns="0" rIns="0" anchor="t">
            <a:spAutoFit/>
          </a:bodyPr>
          <a:lstStyle/>
          <a:p>
            <a:pPr>
              <a:lnSpc>
                <a:spcPts val="1664"/>
              </a:lnSpc>
              <a:spcBef>
                <a:spcPts val="0"/>
              </a:spcBef>
              <a:spcAft>
                <a:spcPts val="0"/>
              </a:spcAft>
            </a:pPr>
            <a:r>
              <a:rPr sz="1300" b="0">
                <a:solidFill>
                  <a:srgbClr val="B7CAE1"/>
                </a:solidFill>
                <a:latin typeface="Noto Sans"/>
              </a:rPr>
              <a:t>Full-history Gitleaks; both Trivy severity gates.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79400"/>
            <a:ext cx="4445000" cy="209804"/>
          </a:xfrm>
          <a:prstGeom prst="rect">
            <a:avLst/>
          </a:prstGeom>
          <a:noFill/>
        </p:spPr>
        <p:txBody>
          <a:bodyPr wrap="none" tIns="0" bIns="0" lIns="0" rIns="0" anchor="t">
            <a:spAutoFit/>
          </a:bodyPr>
          <a:lstStyle/>
          <a:p>
            <a:pPr>
              <a:lnSpc>
                <a:spcPts val="1152"/>
              </a:lnSpc>
              <a:spcBef>
                <a:spcPts val="0"/>
              </a:spcBef>
              <a:spcAft>
                <a:spcPts val="0"/>
              </a:spcAft>
            </a:pPr>
            <a:r>
              <a:rPr sz="900" b="1">
                <a:solidFill>
                  <a:srgbClr val="596C80"/>
                </a:solidFill>
                <a:latin typeface="Noto Sans"/>
              </a:rPr>
              <a:t>RH / RELEASE HELPDESK</a:t>
            </a:r>
          </a:p>
        </p:txBody>
      </p:sp>
      <p:sp>
        <p:nvSpPr>
          <p:cNvPr id="4" name="TextBox 3"/>
          <p:cNvSpPr txBox="1"/>
          <p:nvPr/>
        </p:nvSpPr>
        <p:spPr>
          <a:xfrm>
            <a:off x="8763000" y="279400"/>
            <a:ext cx="2857500" cy="209804"/>
          </a:xfrm>
          <a:prstGeom prst="rect">
            <a:avLst/>
          </a:prstGeom>
          <a:noFill/>
        </p:spPr>
        <p:txBody>
          <a:bodyPr wrap="none" tIns="0" bIns="0" lIns="0" rIns="0" anchor="t">
            <a:spAutoFit/>
          </a:bodyPr>
          <a:lstStyle/>
          <a:p>
            <a:pPr>
              <a:lnSpc>
                <a:spcPts val="1152"/>
              </a:lnSpc>
              <a:spcBef>
                <a:spcPts val="0"/>
              </a:spcBef>
              <a:spcAft>
                <a:spcPts val="0"/>
              </a:spcAft>
            </a:pPr>
            <a:r>
              <a:rPr sz="900" b="1">
                <a:solidFill>
                  <a:srgbClr val="596C80"/>
                </a:solidFill>
                <a:latin typeface="Noto Sans"/>
              </a:rPr>
              <a:t>07 / INFRASTRUCTURE AS CODE</a:t>
            </a:r>
          </a:p>
        </p:txBody>
      </p:sp>
      <p:sp>
        <p:nvSpPr>
          <p:cNvPr id="5" name="Rectangle 4"/>
          <p:cNvSpPr/>
          <p:nvPr/>
        </p:nvSpPr>
        <p:spPr>
          <a:xfrm>
            <a:off x="584200" y="660400"/>
            <a:ext cx="355600" cy="38100"/>
          </a:xfrm>
          <a:prstGeom prst="rect">
            <a:avLst/>
          </a:prstGeom>
          <a:solidFill>
            <a:srgbClr val="24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84200" y="876300"/>
            <a:ext cx="11049000" cy="508380"/>
          </a:xfrm>
          <a:prstGeom prst="rect">
            <a:avLst/>
          </a:prstGeom>
          <a:noFill/>
        </p:spPr>
        <p:txBody>
          <a:bodyPr wrap="none" tIns="0" bIns="0" lIns="0" rIns="0" anchor="t">
            <a:spAutoFit/>
          </a:bodyPr>
          <a:lstStyle/>
          <a:p>
            <a:pPr>
              <a:lnSpc>
                <a:spcPts val="3502"/>
              </a:lnSpc>
              <a:spcBef>
                <a:spcPts val="0"/>
              </a:spcBef>
              <a:spcAft>
                <a:spcPts val="0"/>
              </a:spcAft>
            </a:pPr>
            <a:r>
              <a:rPr sz="3100" b="1">
                <a:solidFill>
                  <a:srgbClr val="15243A"/>
                </a:solidFill>
                <a:latin typeface="Noto Sans"/>
              </a:rPr>
              <a:t>AWS infrastructure is declared in Terraform.</a:t>
            </a:r>
          </a:p>
        </p:txBody>
      </p:sp>
      <p:sp>
        <p:nvSpPr>
          <p:cNvPr id="7" name="TextBox 6"/>
          <p:cNvSpPr txBox="1"/>
          <p:nvPr/>
        </p:nvSpPr>
        <p:spPr>
          <a:xfrm>
            <a:off x="584200" y="1473200"/>
            <a:ext cx="10985500" cy="258572"/>
          </a:xfrm>
          <a:prstGeom prst="rect">
            <a:avLst/>
          </a:prstGeom>
          <a:noFill/>
        </p:spPr>
        <p:txBody>
          <a:bodyPr wrap="none" tIns="0" bIns="0" lIns="0" rIns="0" anchor="t">
            <a:spAutoFit/>
          </a:bodyPr>
          <a:lstStyle/>
          <a:p>
            <a:pPr>
              <a:lnSpc>
                <a:spcPts val="1536"/>
              </a:lnSpc>
              <a:spcBef>
                <a:spcPts val="0"/>
              </a:spcBef>
              <a:spcAft>
                <a:spcPts val="0"/>
              </a:spcAft>
            </a:pPr>
            <a:r>
              <a:rPr sz="1200" b="0">
                <a:solidFill>
                  <a:srgbClr val="596C80"/>
                </a:solidFill>
                <a:latin typeface="Noto Sans"/>
              </a:rPr>
              <a:t>Mumbai / ap-south-1 · EKS 1.35 · two managed m7i-flex.large workers</a:t>
            </a:r>
          </a:p>
        </p:txBody>
      </p:sp>
      <p:cxnSp>
        <p:nvCxnSpPr>
          <p:cNvPr id="8" name="Connector 7"/>
          <p:cNvCxnSpPr/>
          <p:nvPr/>
        </p:nvCxnSpPr>
        <p:spPr>
          <a:xfrm>
            <a:off x="584200" y="6438900"/>
            <a:ext cx="11023600" cy="0"/>
          </a:xfrm>
          <a:prstGeom prst="line">
            <a:avLst/>
          </a:prstGeom>
          <a:ln w="10160">
            <a:solidFill>
              <a:srgbClr val="DCE4ED"/>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84200" y="6578600"/>
            <a:ext cx="4572000" cy="193548"/>
          </a:xfrm>
          <a:prstGeom prst="rect">
            <a:avLst/>
          </a:prstGeom>
          <a:noFill/>
        </p:spPr>
        <p:txBody>
          <a:bodyPr wrap="none" tIns="0" bIns="0" lIns="0" rIns="0" anchor="t">
            <a:spAutoFit/>
          </a:bodyPr>
          <a:lstStyle/>
          <a:p>
            <a:pPr>
              <a:lnSpc>
                <a:spcPts val="1024"/>
              </a:lnSpc>
              <a:spcBef>
                <a:spcPts val="0"/>
              </a:spcBef>
              <a:spcAft>
                <a:spcPts val="0"/>
              </a:spcAft>
            </a:pPr>
            <a:r>
              <a:rPr sz="800" b="0">
                <a:solidFill>
                  <a:srgbClr val="596C80"/>
                </a:solidFill>
                <a:latin typeface="Noto Sans"/>
              </a:rPr>
              <a:t>RELEASE ENGINEERING / PLATFORM WALKTHROUGH</a:t>
            </a:r>
          </a:p>
        </p:txBody>
      </p:sp>
      <p:sp>
        <p:nvSpPr>
          <p:cNvPr id="10" name="TextBox 9"/>
          <p:cNvSpPr txBox="1"/>
          <p:nvPr/>
        </p:nvSpPr>
        <p:spPr>
          <a:xfrm>
            <a:off x="10922000" y="6553200"/>
            <a:ext cx="736600" cy="209804"/>
          </a:xfrm>
          <a:prstGeom prst="rect">
            <a:avLst/>
          </a:prstGeom>
          <a:noFill/>
        </p:spPr>
        <p:txBody>
          <a:bodyPr wrap="none" tIns="0" bIns="0" lIns="0" rIns="0" anchor="t">
            <a:spAutoFit/>
          </a:bodyPr>
          <a:lstStyle/>
          <a:p>
            <a:pPr>
              <a:lnSpc>
                <a:spcPts val="1152"/>
              </a:lnSpc>
              <a:spcBef>
                <a:spcPts val="0"/>
              </a:spcBef>
              <a:spcAft>
                <a:spcPts val="0"/>
              </a:spcAft>
            </a:pPr>
            <a:r>
              <a:rPr sz="900" b="1">
                <a:solidFill>
                  <a:srgbClr val="596C80"/>
                </a:solidFill>
                <a:latin typeface="Noto Sans"/>
              </a:rPr>
              <a:t>08 / 16</a:t>
            </a:r>
          </a:p>
        </p:txBody>
      </p:sp>
      <p:sp>
        <p:nvSpPr>
          <p:cNvPr id="11" name="TextBox 10"/>
          <p:cNvSpPr txBox="1"/>
          <p:nvPr/>
        </p:nvSpPr>
        <p:spPr>
          <a:xfrm>
            <a:off x="584200" y="6210300"/>
            <a:ext cx="10414000" cy="193548"/>
          </a:xfrm>
          <a:prstGeom prst="rect">
            <a:avLst/>
          </a:prstGeom>
          <a:noFill/>
        </p:spPr>
        <p:txBody>
          <a:bodyPr wrap="none" tIns="0" bIns="0" lIns="0" rIns="0" anchor="t">
            <a:spAutoFit/>
          </a:bodyPr>
          <a:lstStyle/>
          <a:p>
            <a:pPr>
              <a:lnSpc>
                <a:spcPts val="1024"/>
              </a:lnSpc>
              <a:spcBef>
                <a:spcPts val="0"/>
              </a:spcBef>
              <a:spcAft>
                <a:spcPts val="0"/>
              </a:spcAft>
            </a:pPr>
            <a:r>
              <a:rPr sz="800" b="0">
                <a:solidFill>
                  <a:srgbClr val="596C80"/>
                </a:solidFill>
                <a:latin typeface="Noto Sans"/>
                <a:hlinkClick r:id="rId2"/>
              </a:rPr>
              <a:t>Evidence · Actual approved plan, apply and AWS Console captures</a:t>
            </a:r>
          </a:p>
        </p:txBody>
      </p:sp>
      <p:sp>
        <p:nvSpPr>
          <p:cNvPr id="12" name="Rounded Rectangle 11"/>
          <p:cNvSpPr/>
          <p:nvPr/>
        </p:nvSpPr>
        <p:spPr>
          <a:xfrm>
            <a:off x="584200" y="2019300"/>
            <a:ext cx="7137400" cy="3886200"/>
          </a:xfrm>
          <a:prstGeom prst="roundRect">
            <a:avLst>
              <a:gd name="adj" fmla="val 2287"/>
            </a:avLst>
          </a:prstGeom>
          <a:solidFill>
            <a:srgbClr val="FFFFFF"/>
          </a:solidFill>
          <a:ln w="889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7400" y="2197100"/>
            <a:ext cx="6604000" cy="242315"/>
          </a:xfrm>
          <a:prstGeom prst="rect">
            <a:avLst/>
          </a:prstGeom>
          <a:noFill/>
        </p:spPr>
        <p:txBody>
          <a:bodyPr wrap="none" tIns="0" bIns="0" lIns="0" rIns="0" anchor="t">
            <a:spAutoFit/>
          </a:bodyPr>
          <a:lstStyle/>
          <a:p>
            <a:pPr>
              <a:lnSpc>
                <a:spcPts val="1408"/>
              </a:lnSpc>
              <a:spcBef>
                <a:spcPts val="0"/>
              </a:spcBef>
              <a:spcAft>
                <a:spcPts val="0"/>
              </a:spcAft>
            </a:pPr>
            <a:r>
              <a:rPr sz="1100" b="1">
                <a:solidFill>
                  <a:srgbClr val="2463EB"/>
                </a:solidFill>
                <a:latin typeface="Noto Sans"/>
              </a:rPr>
              <a:t>VPC 10.20.0.0/16 · TWO AVAILABILITY ZONES</a:t>
            </a:r>
          </a:p>
        </p:txBody>
      </p:sp>
      <p:sp>
        <p:nvSpPr>
          <p:cNvPr id="14" name="Rounded Rectangle 13"/>
          <p:cNvSpPr/>
          <p:nvPr/>
        </p:nvSpPr>
        <p:spPr>
          <a:xfrm>
            <a:off x="787400" y="2603500"/>
            <a:ext cx="3175000" cy="3022600"/>
          </a:xfrm>
          <a:prstGeom prst="roundRect">
            <a:avLst>
              <a:gd name="adj" fmla="val 2521"/>
            </a:avLst>
          </a:prstGeom>
          <a:solidFill>
            <a:srgbClr val="F4F7FA"/>
          </a:solidFill>
          <a:ln w="889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9800" y="2743200"/>
            <a:ext cx="2857500" cy="226060"/>
          </a:xfrm>
          <a:prstGeom prst="rect">
            <a:avLst/>
          </a:prstGeom>
          <a:noFill/>
        </p:spPr>
        <p:txBody>
          <a:bodyPr wrap="none" tIns="0" bIns="0" lIns="0" rIns="0" anchor="t">
            <a:spAutoFit/>
          </a:bodyPr>
          <a:lstStyle/>
          <a:p>
            <a:pPr>
              <a:lnSpc>
                <a:spcPts val="1280"/>
              </a:lnSpc>
              <a:spcBef>
                <a:spcPts val="0"/>
              </a:spcBef>
              <a:spcAft>
                <a:spcPts val="0"/>
              </a:spcAft>
            </a:pPr>
            <a:r>
              <a:rPr sz="1000" b="1">
                <a:solidFill>
                  <a:srgbClr val="596C80"/>
                </a:solidFill>
                <a:latin typeface="Noto Sans"/>
              </a:rPr>
              <a:t>ZONE A</a:t>
            </a:r>
          </a:p>
        </p:txBody>
      </p:sp>
      <p:sp>
        <p:nvSpPr>
          <p:cNvPr id="16" name="Rounded Rectangle 15"/>
          <p:cNvSpPr/>
          <p:nvPr/>
        </p:nvSpPr>
        <p:spPr>
          <a:xfrm>
            <a:off x="939800" y="3098800"/>
            <a:ext cx="2870200" cy="876300"/>
          </a:xfrm>
          <a:prstGeom prst="roundRect">
            <a:avLst>
              <a:gd name="adj" fmla="val 7246"/>
            </a:avLst>
          </a:prstGeom>
          <a:solidFill>
            <a:srgbClr val="E8EF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2200" y="3200400"/>
            <a:ext cx="2540000" cy="274828"/>
          </a:xfrm>
          <a:prstGeom prst="rect">
            <a:avLst/>
          </a:prstGeom>
          <a:noFill/>
        </p:spPr>
        <p:txBody>
          <a:bodyPr wrap="none" tIns="0" bIns="0" lIns="0" rIns="0" anchor="t">
            <a:spAutoFit/>
          </a:bodyPr>
          <a:lstStyle/>
          <a:p>
            <a:pPr>
              <a:lnSpc>
                <a:spcPts val="1664"/>
              </a:lnSpc>
              <a:spcBef>
                <a:spcPts val="0"/>
              </a:spcBef>
              <a:spcAft>
                <a:spcPts val="0"/>
              </a:spcAft>
            </a:pPr>
            <a:r>
              <a:rPr sz="1300" b="1">
                <a:solidFill>
                  <a:srgbClr val="2463EB"/>
                </a:solidFill>
                <a:latin typeface="Noto Sans"/>
              </a:rPr>
              <a:t>Public subnet</a:t>
            </a:r>
          </a:p>
        </p:txBody>
      </p:sp>
      <p:sp>
        <p:nvSpPr>
          <p:cNvPr id="18" name="TextBox 17"/>
          <p:cNvSpPr txBox="1"/>
          <p:nvPr/>
        </p:nvSpPr>
        <p:spPr>
          <a:xfrm>
            <a:off x="1092200" y="3505200"/>
            <a:ext cx="2540000" cy="242315"/>
          </a:xfrm>
          <a:prstGeom prst="rect">
            <a:avLst/>
          </a:prstGeom>
          <a:noFill/>
        </p:spPr>
        <p:txBody>
          <a:bodyPr wrap="none" tIns="0" bIns="0" lIns="0" rIns="0" anchor="t">
            <a:spAutoFit/>
          </a:bodyPr>
          <a:lstStyle/>
          <a:p>
            <a:pPr>
              <a:lnSpc>
                <a:spcPts val="1408"/>
              </a:lnSpc>
              <a:spcBef>
                <a:spcPts val="0"/>
              </a:spcBef>
              <a:spcAft>
                <a:spcPts val="0"/>
              </a:spcAft>
            </a:pPr>
            <a:r>
              <a:rPr sz="1100" b="0">
                <a:solidFill>
                  <a:srgbClr val="596C80"/>
                </a:solidFill>
                <a:latin typeface="DejaVu Sans Mono"/>
              </a:rPr>
              <a:t>10.20.101.0/24</a:t>
            </a:r>
          </a:p>
        </p:txBody>
      </p:sp>
      <p:sp>
        <p:nvSpPr>
          <p:cNvPr id="19" name="Rounded Rectangle 18"/>
          <p:cNvSpPr/>
          <p:nvPr/>
        </p:nvSpPr>
        <p:spPr>
          <a:xfrm>
            <a:off x="939800" y="4292600"/>
            <a:ext cx="2870200" cy="1054100"/>
          </a:xfrm>
          <a:prstGeom prst="roundRect">
            <a:avLst>
              <a:gd name="adj" fmla="val 6024"/>
            </a:avLst>
          </a:prstGeom>
          <a:solidFill>
            <a:srgbClr val="E3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2200" y="4432300"/>
            <a:ext cx="2540000" cy="274828"/>
          </a:xfrm>
          <a:prstGeom prst="rect">
            <a:avLst/>
          </a:prstGeom>
          <a:noFill/>
        </p:spPr>
        <p:txBody>
          <a:bodyPr wrap="none" tIns="0" bIns="0" lIns="0" rIns="0" anchor="t">
            <a:spAutoFit/>
          </a:bodyPr>
          <a:lstStyle/>
          <a:p>
            <a:pPr>
              <a:lnSpc>
                <a:spcPts val="1664"/>
              </a:lnSpc>
              <a:spcBef>
                <a:spcPts val="0"/>
              </a:spcBef>
              <a:spcAft>
                <a:spcPts val="0"/>
              </a:spcAft>
            </a:pPr>
            <a:r>
              <a:rPr sz="1300" b="1">
                <a:solidFill>
                  <a:srgbClr val="087F76"/>
                </a:solidFill>
                <a:latin typeface="Noto Sans"/>
              </a:rPr>
              <a:t>Private subnet</a:t>
            </a:r>
          </a:p>
        </p:txBody>
      </p:sp>
      <p:sp>
        <p:nvSpPr>
          <p:cNvPr id="21" name="TextBox 20"/>
          <p:cNvSpPr txBox="1"/>
          <p:nvPr/>
        </p:nvSpPr>
        <p:spPr>
          <a:xfrm>
            <a:off x="1092200" y="4724400"/>
            <a:ext cx="2540000" cy="242315"/>
          </a:xfrm>
          <a:prstGeom prst="rect">
            <a:avLst/>
          </a:prstGeom>
          <a:noFill/>
        </p:spPr>
        <p:txBody>
          <a:bodyPr wrap="none" tIns="0" bIns="0" lIns="0" rIns="0" anchor="t">
            <a:spAutoFit/>
          </a:bodyPr>
          <a:lstStyle/>
          <a:p>
            <a:pPr>
              <a:lnSpc>
                <a:spcPts val="1408"/>
              </a:lnSpc>
              <a:spcBef>
                <a:spcPts val="0"/>
              </a:spcBef>
              <a:spcAft>
                <a:spcPts val="0"/>
              </a:spcAft>
            </a:pPr>
            <a:r>
              <a:rPr sz="1100" b="0">
                <a:solidFill>
                  <a:srgbClr val="596C80"/>
                </a:solidFill>
                <a:latin typeface="DejaVu Sans Mono"/>
              </a:rPr>
              <a:t>10.20.1.0/24</a:t>
            </a:r>
          </a:p>
        </p:txBody>
      </p:sp>
      <p:sp>
        <p:nvSpPr>
          <p:cNvPr id="22" name="TextBox 21"/>
          <p:cNvSpPr txBox="1"/>
          <p:nvPr/>
        </p:nvSpPr>
        <p:spPr>
          <a:xfrm>
            <a:off x="1092200" y="5016500"/>
            <a:ext cx="2540000" cy="226060"/>
          </a:xfrm>
          <a:prstGeom prst="rect">
            <a:avLst/>
          </a:prstGeom>
          <a:noFill/>
        </p:spPr>
        <p:txBody>
          <a:bodyPr wrap="none" tIns="0" bIns="0" lIns="0" rIns="0" anchor="t">
            <a:spAutoFit/>
          </a:bodyPr>
          <a:lstStyle/>
          <a:p>
            <a:pPr>
              <a:lnSpc>
                <a:spcPts val="1280"/>
              </a:lnSpc>
              <a:spcBef>
                <a:spcPts val="0"/>
              </a:spcBef>
              <a:spcAft>
                <a:spcPts val="0"/>
              </a:spcAft>
            </a:pPr>
            <a:r>
              <a:rPr sz="1000" b="0">
                <a:solidFill>
                  <a:srgbClr val="087F76"/>
                </a:solidFill>
                <a:latin typeface="Noto Sans"/>
              </a:rPr>
              <a:t>Managed worker</a:t>
            </a:r>
          </a:p>
        </p:txBody>
      </p:sp>
      <p:sp>
        <p:nvSpPr>
          <p:cNvPr id="23" name="Rounded Rectangle 22"/>
          <p:cNvSpPr/>
          <p:nvPr/>
        </p:nvSpPr>
        <p:spPr>
          <a:xfrm>
            <a:off x="4318000" y="2603500"/>
            <a:ext cx="3175000" cy="3022600"/>
          </a:xfrm>
          <a:prstGeom prst="roundRect">
            <a:avLst>
              <a:gd name="adj" fmla="val 2521"/>
            </a:avLst>
          </a:prstGeom>
          <a:solidFill>
            <a:srgbClr val="F4F7FA"/>
          </a:solidFill>
          <a:ln w="889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70400" y="2743200"/>
            <a:ext cx="2857500" cy="226060"/>
          </a:xfrm>
          <a:prstGeom prst="rect">
            <a:avLst/>
          </a:prstGeom>
          <a:noFill/>
        </p:spPr>
        <p:txBody>
          <a:bodyPr wrap="none" tIns="0" bIns="0" lIns="0" rIns="0" anchor="t">
            <a:spAutoFit/>
          </a:bodyPr>
          <a:lstStyle/>
          <a:p>
            <a:pPr>
              <a:lnSpc>
                <a:spcPts val="1280"/>
              </a:lnSpc>
              <a:spcBef>
                <a:spcPts val="0"/>
              </a:spcBef>
              <a:spcAft>
                <a:spcPts val="0"/>
              </a:spcAft>
            </a:pPr>
            <a:r>
              <a:rPr sz="1000" b="1">
                <a:solidFill>
                  <a:srgbClr val="596C80"/>
                </a:solidFill>
                <a:latin typeface="Noto Sans"/>
              </a:rPr>
              <a:t>ZONE B</a:t>
            </a:r>
          </a:p>
        </p:txBody>
      </p:sp>
      <p:sp>
        <p:nvSpPr>
          <p:cNvPr id="25" name="Rounded Rectangle 24"/>
          <p:cNvSpPr/>
          <p:nvPr/>
        </p:nvSpPr>
        <p:spPr>
          <a:xfrm>
            <a:off x="4470400" y="3098800"/>
            <a:ext cx="2870200" cy="876300"/>
          </a:xfrm>
          <a:prstGeom prst="roundRect">
            <a:avLst>
              <a:gd name="adj" fmla="val 7246"/>
            </a:avLst>
          </a:prstGeom>
          <a:solidFill>
            <a:srgbClr val="E8EF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22800" y="3200400"/>
            <a:ext cx="2540000" cy="274828"/>
          </a:xfrm>
          <a:prstGeom prst="rect">
            <a:avLst/>
          </a:prstGeom>
          <a:noFill/>
        </p:spPr>
        <p:txBody>
          <a:bodyPr wrap="none" tIns="0" bIns="0" lIns="0" rIns="0" anchor="t">
            <a:spAutoFit/>
          </a:bodyPr>
          <a:lstStyle/>
          <a:p>
            <a:pPr>
              <a:lnSpc>
                <a:spcPts val="1664"/>
              </a:lnSpc>
              <a:spcBef>
                <a:spcPts val="0"/>
              </a:spcBef>
              <a:spcAft>
                <a:spcPts val="0"/>
              </a:spcAft>
            </a:pPr>
            <a:r>
              <a:rPr sz="1300" b="1">
                <a:solidFill>
                  <a:srgbClr val="2463EB"/>
                </a:solidFill>
                <a:latin typeface="Noto Sans"/>
              </a:rPr>
              <a:t>Public subnet</a:t>
            </a:r>
          </a:p>
        </p:txBody>
      </p:sp>
      <p:sp>
        <p:nvSpPr>
          <p:cNvPr id="27" name="TextBox 26"/>
          <p:cNvSpPr txBox="1"/>
          <p:nvPr/>
        </p:nvSpPr>
        <p:spPr>
          <a:xfrm>
            <a:off x="4622800" y="3505200"/>
            <a:ext cx="2540000" cy="242315"/>
          </a:xfrm>
          <a:prstGeom prst="rect">
            <a:avLst/>
          </a:prstGeom>
          <a:noFill/>
        </p:spPr>
        <p:txBody>
          <a:bodyPr wrap="none" tIns="0" bIns="0" lIns="0" rIns="0" anchor="t">
            <a:spAutoFit/>
          </a:bodyPr>
          <a:lstStyle/>
          <a:p>
            <a:pPr>
              <a:lnSpc>
                <a:spcPts val="1408"/>
              </a:lnSpc>
              <a:spcBef>
                <a:spcPts val="0"/>
              </a:spcBef>
              <a:spcAft>
                <a:spcPts val="0"/>
              </a:spcAft>
            </a:pPr>
            <a:r>
              <a:rPr sz="1100" b="0">
                <a:solidFill>
                  <a:srgbClr val="596C80"/>
                </a:solidFill>
                <a:latin typeface="DejaVu Sans Mono"/>
              </a:rPr>
              <a:t>10.20.102.0/24</a:t>
            </a:r>
          </a:p>
        </p:txBody>
      </p:sp>
      <p:sp>
        <p:nvSpPr>
          <p:cNvPr id="28" name="Rounded Rectangle 27"/>
          <p:cNvSpPr/>
          <p:nvPr/>
        </p:nvSpPr>
        <p:spPr>
          <a:xfrm>
            <a:off x="4470400" y="4292600"/>
            <a:ext cx="2870200" cy="1054100"/>
          </a:xfrm>
          <a:prstGeom prst="roundRect">
            <a:avLst>
              <a:gd name="adj" fmla="val 6024"/>
            </a:avLst>
          </a:prstGeom>
          <a:solidFill>
            <a:srgbClr val="E3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622800" y="4432300"/>
            <a:ext cx="2540000" cy="274828"/>
          </a:xfrm>
          <a:prstGeom prst="rect">
            <a:avLst/>
          </a:prstGeom>
          <a:noFill/>
        </p:spPr>
        <p:txBody>
          <a:bodyPr wrap="none" tIns="0" bIns="0" lIns="0" rIns="0" anchor="t">
            <a:spAutoFit/>
          </a:bodyPr>
          <a:lstStyle/>
          <a:p>
            <a:pPr>
              <a:lnSpc>
                <a:spcPts val="1664"/>
              </a:lnSpc>
              <a:spcBef>
                <a:spcPts val="0"/>
              </a:spcBef>
              <a:spcAft>
                <a:spcPts val="0"/>
              </a:spcAft>
            </a:pPr>
            <a:r>
              <a:rPr sz="1300" b="1">
                <a:solidFill>
                  <a:srgbClr val="087F76"/>
                </a:solidFill>
                <a:latin typeface="Noto Sans"/>
              </a:rPr>
              <a:t>Private subnet</a:t>
            </a:r>
          </a:p>
        </p:txBody>
      </p:sp>
      <p:sp>
        <p:nvSpPr>
          <p:cNvPr id="30" name="TextBox 29"/>
          <p:cNvSpPr txBox="1"/>
          <p:nvPr/>
        </p:nvSpPr>
        <p:spPr>
          <a:xfrm>
            <a:off x="4622800" y="4724400"/>
            <a:ext cx="2540000" cy="242315"/>
          </a:xfrm>
          <a:prstGeom prst="rect">
            <a:avLst/>
          </a:prstGeom>
          <a:noFill/>
        </p:spPr>
        <p:txBody>
          <a:bodyPr wrap="none" tIns="0" bIns="0" lIns="0" rIns="0" anchor="t">
            <a:spAutoFit/>
          </a:bodyPr>
          <a:lstStyle/>
          <a:p>
            <a:pPr>
              <a:lnSpc>
                <a:spcPts val="1408"/>
              </a:lnSpc>
              <a:spcBef>
                <a:spcPts val="0"/>
              </a:spcBef>
              <a:spcAft>
                <a:spcPts val="0"/>
              </a:spcAft>
            </a:pPr>
            <a:r>
              <a:rPr sz="1100" b="0">
                <a:solidFill>
                  <a:srgbClr val="596C80"/>
                </a:solidFill>
                <a:latin typeface="DejaVu Sans Mono"/>
              </a:rPr>
              <a:t>10.20.2.0/24</a:t>
            </a:r>
          </a:p>
        </p:txBody>
      </p:sp>
      <p:sp>
        <p:nvSpPr>
          <p:cNvPr id="31" name="TextBox 30"/>
          <p:cNvSpPr txBox="1"/>
          <p:nvPr/>
        </p:nvSpPr>
        <p:spPr>
          <a:xfrm>
            <a:off x="4622800" y="5016500"/>
            <a:ext cx="2540000" cy="226060"/>
          </a:xfrm>
          <a:prstGeom prst="rect">
            <a:avLst/>
          </a:prstGeom>
          <a:noFill/>
        </p:spPr>
        <p:txBody>
          <a:bodyPr wrap="none" tIns="0" bIns="0" lIns="0" rIns="0" anchor="t">
            <a:spAutoFit/>
          </a:bodyPr>
          <a:lstStyle/>
          <a:p>
            <a:pPr>
              <a:lnSpc>
                <a:spcPts val="1280"/>
              </a:lnSpc>
              <a:spcBef>
                <a:spcPts val="0"/>
              </a:spcBef>
              <a:spcAft>
                <a:spcPts val="0"/>
              </a:spcAft>
            </a:pPr>
            <a:r>
              <a:rPr sz="1000" b="0">
                <a:solidFill>
                  <a:srgbClr val="087F76"/>
                </a:solidFill>
                <a:latin typeface="Noto Sans"/>
              </a:rPr>
              <a:t>Managed worker</a:t>
            </a:r>
          </a:p>
        </p:txBody>
      </p:sp>
      <p:sp>
        <p:nvSpPr>
          <p:cNvPr id="32" name="TextBox 31"/>
          <p:cNvSpPr txBox="1"/>
          <p:nvPr/>
        </p:nvSpPr>
        <p:spPr>
          <a:xfrm>
            <a:off x="825500" y="5651500"/>
            <a:ext cx="6731000" cy="209804"/>
          </a:xfrm>
          <a:prstGeom prst="rect">
            <a:avLst/>
          </a:prstGeom>
          <a:noFill/>
        </p:spPr>
        <p:txBody>
          <a:bodyPr wrap="none" tIns="0" bIns="0" lIns="0" rIns="0" anchor="t">
            <a:spAutoFit/>
          </a:bodyPr>
          <a:lstStyle/>
          <a:p>
            <a:pPr>
              <a:lnSpc>
                <a:spcPts val="1152"/>
              </a:lnSpc>
              <a:spcBef>
                <a:spcPts val="0"/>
              </a:spcBef>
              <a:spcAft>
                <a:spcPts val="0"/>
              </a:spcAft>
            </a:pPr>
            <a:r>
              <a:rPr sz="900" b="0">
                <a:solidFill>
                  <a:srgbClr val="596C80"/>
                </a:solidFill>
                <a:latin typeface="Noto Sans"/>
              </a:rPr>
              <a:t>ALB across public subnets · single NAT for egress</a:t>
            </a:r>
          </a:p>
        </p:txBody>
      </p:sp>
      <p:sp>
        <p:nvSpPr>
          <p:cNvPr id="33" name="TextBox 32"/>
          <p:cNvSpPr txBox="1"/>
          <p:nvPr/>
        </p:nvSpPr>
        <p:spPr>
          <a:xfrm>
            <a:off x="8280400" y="2019300"/>
            <a:ext cx="3048000" cy="1038860"/>
          </a:xfrm>
          <a:prstGeom prst="rect">
            <a:avLst/>
          </a:prstGeom>
          <a:noFill/>
        </p:spPr>
        <p:txBody>
          <a:bodyPr wrap="none" tIns="0" bIns="0" lIns="0" rIns="0" anchor="t">
            <a:spAutoFit/>
          </a:bodyPr>
          <a:lstStyle/>
          <a:p>
            <a:pPr>
              <a:lnSpc>
                <a:spcPts val="7680"/>
              </a:lnSpc>
              <a:spcBef>
                <a:spcPts val="0"/>
              </a:spcBef>
              <a:spcAft>
                <a:spcPts val="0"/>
              </a:spcAft>
            </a:pPr>
            <a:r>
              <a:rPr sz="6000" b="1">
                <a:solidFill>
                  <a:srgbClr val="2463EB"/>
                </a:solidFill>
                <a:latin typeface="Noto Sans"/>
              </a:rPr>
              <a:t>66</a:t>
            </a:r>
          </a:p>
        </p:txBody>
      </p:sp>
      <p:sp>
        <p:nvSpPr>
          <p:cNvPr id="34" name="TextBox 33"/>
          <p:cNvSpPr txBox="1"/>
          <p:nvPr/>
        </p:nvSpPr>
        <p:spPr>
          <a:xfrm>
            <a:off x="8293100" y="3098800"/>
            <a:ext cx="3302000" cy="307340"/>
          </a:xfrm>
          <a:prstGeom prst="rect">
            <a:avLst/>
          </a:prstGeom>
          <a:noFill/>
        </p:spPr>
        <p:txBody>
          <a:bodyPr wrap="none" tIns="0" bIns="0" lIns="0" rIns="0" anchor="t">
            <a:spAutoFit/>
          </a:bodyPr>
          <a:lstStyle/>
          <a:p>
            <a:pPr>
              <a:lnSpc>
                <a:spcPts val="1920"/>
              </a:lnSpc>
              <a:spcBef>
                <a:spcPts val="0"/>
              </a:spcBef>
              <a:spcAft>
                <a:spcPts val="0"/>
              </a:spcAft>
            </a:pPr>
            <a:r>
              <a:rPr sz="1500" b="1">
                <a:solidFill>
                  <a:srgbClr val="15243A"/>
                </a:solidFill>
                <a:latin typeface="Noto Sans"/>
              </a:rPr>
              <a:t>Terraform resources created</a:t>
            </a:r>
          </a:p>
        </p:txBody>
      </p:sp>
      <p:sp>
        <p:nvSpPr>
          <p:cNvPr id="35" name="TextBox 34"/>
          <p:cNvSpPr txBox="1"/>
          <p:nvPr/>
        </p:nvSpPr>
        <p:spPr>
          <a:xfrm>
            <a:off x="8280400" y="3594100"/>
            <a:ext cx="381000" cy="258572"/>
          </a:xfrm>
          <a:prstGeom prst="rect">
            <a:avLst/>
          </a:prstGeom>
          <a:noFill/>
        </p:spPr>
        <p:txBody>
          <a:bodyPr wrap="none" tIns="0" bIns="0" lIns="0" rIns="0" anchor="t">
            <a:spAutoFit/>
          </a:bodyPr>
          <a:lstStyle/>
          <a:p>
            <a:pPr>
              <a:lnSpc>
                <a:spcPts val="1536"/>
              </a:lnSpc>
              <a:spcBef>
                <a:spcPts val="0"/>
              </a:spcBef>
              <a:spcAft>
                <a:spcPts val="0"/>
              </a:spcAft>
            </a:pPr>
            <a:r>
              <a:rPr sz="1200" b="1">
                <a:solidFill>
                  <a:srgbClr val="087F76"/>
                </a:solidFill>
                <a:latin typeface="Noto Sans"/>
              </a:rPr>
              <a:t>01</a:t>
            </a:r>
          </a:p>
        </p:txBody>
      </p:sp>
      <p:sp>
        <p:nvSpPr>
          <p:cNvPr id="36" name="TextBox 35"/>
          <p:cNvSpPr txBox="1"/>
          <p:nvPr/>
        </p:nvSpPr>
        <p:spPr>
          <a:xfrm>
            <a:off x="8763000" y="3556000"/>
            <a:ext cx="2870200" cy="339852"/>
          </a:xfrm>
          <a:prstGeom prst="rect">
            <a:avLst/>
          </a:prstGeom>
          <a:noFill/>
        </p:spPr>
        <p:txBody>
          <a:bodyPr wrap="none" tIns="0" bIns="0" lIns="0" rIns="0" anchor="t">
            <a:spAutoFit/>
          </a:bodyPr>
          <a:lstStyle/>
          <a:p>
            <a:pPr>
              <a:lnSpc>
                <a:spcPts val="2176"/>
              </a:lnSpc>
              <a:spcBef>
                <a:spcPts val="0"/>
              </a:spcBef>
              <a:spcAft>
                <a:spcPts val="0"/>
              </a:spcAft>
            </a:pPr>
            <a:r>
              <a:rPr sz="1700" b="1">
                <a:solidFill>
                  <a:srgbClr val="15243A"/>
                </a:solidFill>
                <a:latin typeface="Noto Sans"/>
              </a:rPr>
              <a:t>Pinned configuration</a:t>
            </a:r>
          </a:p>
        </p:txBody>
      </p:sp>
      <p:sp>
        <p:nvSpPr>
          <p:cNvPr id="37" name="TextBox 36"/>
          <p:cNvSpPr txBox="1"/>
          <p:nvPr/>
        </p:nvSpPr>
        <p:spPr>
          <a:xfrm>
            <a:off x="8763000" y="3911600"/>
            <a:ext cx="2870200" cy="486156"/>
          </a:xfrm>
          <a:prstGeom prst="rect">
            <a:avLst/>
          </a:prstGeom>
          <a:noFill/>
        </p:spPr>
        <p:txBody>
          <a:bodyPr wrap="none" tIns="0" bIns="0" lIns="0" rIns="0" anchor="t">
            <a:spAutoFit/>
          </a:bodyPr>
          <a:lstStyle/>
          <a:p>
            <a:pPr>
              <a:lnSpc>
                <a:spcPts val="1664"/>
              </a:lnSpc>
              <a:spcBef>
                <a:spcPts val="0"/>
              </a:spcBef>
              <a:spcAft>
                <a:spcPts val="0"/>
              </a:spcAft>
            </a:pPr>
            <a:r>
              <a:rPr sz="1300" b="0">
                <a:solidFill>
                  <a:srgbClr val="596C80"/>
                </a:solidFill>
                <a:latin typeface="Noto Sans"/>
              </a:rPr>
              <a:t>Modules, providers, add-ons and</a:t>
            </a:r>
          </a:p>
          <a:p>
            <a:pPr>
              <a:lnSpc>
                <a:spcPts val="1664"/>
              </a:lnSpc>
              <a:spcBef>
                <a:spcPts val="0"/>
              </a:spcBef>
              <a:spcAft>
                <a:spcPts val="0"/>
              </a:spcAft>
            </a:pPr>
            <a:r>
              <a:rPr sz="1300" b="0">
                <a:solidFill>
                  <a:srgbClr val="596C80"/>
                </a:solidFill>
                <a:latin typeface="Noto Sans"/>
              </a:rPr>
              <a:t>node AMI are versioned.</a:t>
            </a:r>
          </a:p>
        </p:txBody>
      </p:sp>
      <p:sp>
        <p:nvSpPr>
          <p:cNvPr id="38" name="TextBox 37"/>
          <p:cNvSpPr txBox="1"/>
          <p:nvPr/>
        </p:nvSpPr>
        <p:spPr>
          <a:xfrm>
            <a:off x="8280400" y="4775200"/>
            <a:ext cx="381000" cy="258572"/>
          </a:xfrm>
          <a:prstGeom prst="rect">
            <a:avLst/>
          </a:prstGeom>
          <a:noFill/>
        </p:spPr>
        <p:txBody>
          <a:bodyPr wrap="none" tIns="0" bIns="0" lIns="0" rIns="0" anchor="t">
            <a:spAutoFit/>
          </a:bodyPr>
          <a:lstStyle/>
          <a:p>
            <a:pPr>
              <a:lnSpc>
                <a:spcPts val="1536"/>
              </a:lnSpc>
              <a:spcBef>
                <a:spcPts val="0"/>
              </a:spcBef>
              <a:spcAft>
                <a:spcPts val="0"/>
              </a:spcAft>
            </a:pPr>
            <a:r>
              <a:rPr sz="1200" b="1">
                <a:solidFill>
                  <a:srgbClr val="087F76"/>
                </a:solidFill>
                <a:latin typeface="Noto Sans"/>
              </a:rPr>
              <a:t>02</a:t>
            </a:r>
          </a:p>
        </p:txBody>
      </p:sp>
      <p:sp>
        <p:nvSpPr>
          <p:cNvPr id="39" name="TextBox 38"/>
          <p:cNvSpPr txBox="1"/>
          <p:nvPr/>
        </p:nvSpPr>
        <p:spPr>
          <a:xfrm>
            <a:off x="8763000" y="4737100"/>
            <a:ext cx="2870200" cy="339852"/>
          </a:xfrm>
          <a:prstGeom prst="rect">
            <a:avLst/>
          </a:prstGeom>
          <a:noFill/>
        </p:spPr>
        <p:txBody>
          <a:bodyPr wrap="none" tIns="0" bIns="0" lIns="0" rIns="0" anchor="t">
            <a:spAutoFit/>
          </a:bodyPr>
          <a:lstStyle/>
          <a:p>
            <a:pPr>
              <a:lnSpc>
                <a:spcPts val="2176"/>
              </a:lnSpc>
              <a:spcBef>
                <a:spcPts val="0"/>
              </a:spcBef>
              <a:spcAft>
                <a:spcPts val="0"/>
              </a:spcAft>
            </a:pPr>
            <a:r>
              <a:rPr sz="1700" b="1">
                <a:solidFill>
                  <a:srgbClr val="15243A"/>
                </a:solidFill>
                <a:latin typeface="Noto Sans"/>
              </a:rPr>
              <a:t>Explicit account guard</a:t>
            </a:r>
          </a:p>
        </p:txBody>
      </p:sp>
      <p:sp>
        <p:nvSpPr>
          <p:cNvPr id="40" name="TextBox 39"/>
          <p:cNvSpPr txBox="1"/>
          <p:nvPr/>
        </p:nvSpPr>
        <p:spPr>
          <a:xfrm>
            <a:off x="8763000" y="5092700"/>
            <a:ext cx="2870200" cy="486156"/>
          </a:xfrm>
          <a:prstGeom prst="rect">
            <a:avLst/>
          </a:prstGeom>
          <a:noFill/>
        </p:spPr>
        <p:txBody>
          <a:bodyPr wrap="none" tIns="0" bIns="0" lIns="0" rIns="0" anchor="t">
            <a:spAutoFit/>
          </a:bodyPr>
          <a:lstStyle/>
          <a:p>
            <a:pPr>
              <a:lnSpc>
                <a:spcPts val="1664"/>
              </a:lnSpc>
              <a:spcBef>
                <a:spcPts val="0"/>
              </a:spcBef>
              <a:spcAft>
                <a:spcPts val="0"/>
              </a:spcAft>
            </a:pPr>
            <a:r>
              <a:rPr sz="1300" b="0">
                <a:solidFill>
                  <a:srgbClr val="596C80"/>
                </a:solidFill>
                <a:latin typeface="Noto Sans"/>
              </a:rPr>
              <a:t>Approved Free-plan credit use; no</a:t>
            </a:r>
          </a:p>
          <a:p>
            <a:pPr>
              <a:lnSpc>
                <a:spcPts val="1664"/>
              </a:lnSpc>
              <a:spcBef>
                <a:spcPts val="0"/>
              </a:spcBef>
              <a:spcAft>
                <a:spcPts val="0"/>
              </a:spcAft>
            </a:pPr>
            <a:r>
              <a:rPr sz="1300" b="0">
                <a:solidFill>
                  <a:srgbClr val="596C80"/>
                </a:solidFill>
                <a:latin typeface="Noto Sans"/>
              </a:rPr>
              <a:t>Paid-plan upgrade.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79400"/>
            <a:ext cx="4445000" cy="209804"/>
          </a:xfrm>
          <a:prstGeom prst="rect">
            <a:avLst/>
          </a:prstGeom>
          <a:noFill/>
        </p:spPr>
        <p:txBody>
          <a:bodyPr wrap="none" tIns="0" bIns="0" lIns="0" rIns="0" anchor="t">
            <a:spAutoFit/>
          </a:bodyPr>
          <a:lstStyle/>
          <a:p>
            <a:pPr>
              <a:lnSpc>
                <a:spcPts val="1152"/>
              </a:lnSpc>
              <a:spcBef>
                <a:spcPts val="0"/>
              </a:spcBef>
              <a:spcAft>
                <a:spcPts val="0"/>
              </a:spcAft>
            </a:pPr>
            <a:r>
              <a:rPr sz="900" b="1">
                <a:solidFill>
                  <a:srgbClr val="596C80"/>
                </a:solidFill>
                <a:latin typeface="Noto Sans"/>
              </a:rPr>
              <a:t>RH / RELEASE HELPDESK</a:t>
            </a:r>
          </a:p>
        </p:txBody>
      </p:sp>
      <p:sp>
        <p:nvSpPr>
          <p:cNvPr id="4" name="TextBox 3"/>
          <p:cNvSpPr txBox="1"/>
          <p:nvPr/>
        </p:nvSpPr>
        <p:spPr>
          <a:xfrm>
            <a:off x="8763000" y="279400"/>
            <a:ext cx="2857500" cy="209804"/>
          </a:xfrm>
          <a:prstGeom prst="rect">
            <a:avLst/>
          </a:prstGeom>
          <a:noFill/>
        </p:spPr>
        <p:txBody>
          <a:bodyPr wrap="none" tIns="0" bIns="0" lIns="0" rIns="0" anchor="t">
            <a:spAutoFit/>
          </a:bodyPr>
          <a:lstStyle/>
          <a:p>
            <a:pPr>
              <a:lnSpc>
                <a:spcPts val="1152"/>
              </a:lnSpc>
              <a:spcBef>
                <a:spcPts val="0"/>
              </a:spcBef>
              <a:spcAft>
                <a:spcPts val="0"/>
              </a:spcAft>
            </a:pPr>
            <a:r>
              <a:rPr sz="900" b="1">
                <a:solidFill>
                  <a:srgbClr val="596C80"/>
                </a:solidFill>
                <a:latin typeface="Noto Sans"/>
              </a:rPr>
              <a:t>08 / KUBERNETES &amp; HELM</a:t>
            </a:r>
          </a:p>
        </p:txBody>
      </p:sp>
      <p:sp>
        <p:nvSpPr>
          <p:cNvPr id="5" name="Rectangle 4"/>
          <p:cNvSpPr/>
          <p:nvPr/>
        </p:nvSpPr>
        <p:spPr>
          <a:xfrm>
            <a:off x="584200" y="660400"/>
            <a:ext cx="355600" cy="38100"/>
          </a:xfrm>
          <a:prstGeom prst="rect">
            <a:avLst/>
          </a:prstGeom>
          <a:solidFill>
            <a:srgbClr val="24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84200" y="876300"/>
            <a:ext cx="11049000" cy="508380"/>
          </a:xfrm>
          <a:prstGeom prst="rect">
            <a:avLst/>
          </a:prstGeom>
          <a:noFill/>
        </p:spPr>
        <p:txBody>
          <a:bodyPr wrap="none" tIns="0" bIns="0" lIns="0" rIns="0" anchor="t">
            <a:spAutoFit/>
          </a:bodyPr>
          <a:lstStyle/>
          <a:p>
            <a:pPr>
              <a:lnSpc>
                <a:spcPts val="3502"/>
              </a:lnSpc>
              <a:spcBef>
                <a:spcPts val="0"/>
              </a:spcBef>
              <a:spcAft>
                <a:spcPts val="0"/>
              </a:spcAft>
            </a:pPr>
            <a:r>
              <a:rPr sz="3100" b="1">
                <a:solidFill>
                  <a:srgbClr val="15243A"/>
                </a:solidFill>
                <a:latin typeface="Noto Sans"/>
              </a:rPr>
              <a:t>Helm turns the stack into a repeatable release.</a:t>
            </a:r>
          </a:p>
        </p:txBody>
      </p:sp>
      <p:sp>
        <p:nvSpPr>
          <p:cNvPr id="7" name="TextBox 6"/>
          <p:cNvSpPr txBox="1"/>
          <p:nvPr/>
        </p:nvSpPr>
        <p:spPr>
          <a:xfrm>
            <a:off x="584200" y="1473200"/>
            <a:ext cx="10985500" cy="258572"/>
          </a:xfrm>
          <a:prstGeom prst="rect">
            <a:avLst/>
          </a:prstGeom>
          <a:noFill/>
        </p:spPr>
        <p:txBody>
          <a:bodyPr wrap="none" tIns="0" bIns="0" lIns="0" rIns="0" anchor="t">
            <a:spAutoFit/>
          </a:bodyPr>
          <a:lstStyle/>
          <a:p>
            <a:pPr>
              <a:lnSpc>
                <a:spcPts val="1536"/>
              </a:lnSpc>
              <a:spcBef>
                <a:spcPts val="0"/>
              </a:spcBef>
              <a:spcAft>
                <a:spcPts val="0"/>
              </a:spcAft>
            </a:pPr>
            <a:r>
              <a:rPr sz="1200" b="0">
                <a:solidFill>
                  <a:srgbClr val="596C80"/>
                </a:solidFill>
                <a:latin typeface="Noto Sans"/>
              </a:rPr>
              <a:t>One versioned chart connects workloads, storage, probes, Services and Ingress.</a:t>
            </a:r>
          </a:p>
        </p:txBody>
      </p:sp>
      <p:cxnSp>
        <p:nvCxnSpPr>
          <p:cNvPr id="8" name="Connector 7"/>
          <p:cNvCxnSpPr/>
          <p:nvPr/>
        </p:nvCxnSpPr>
        <p:spPr>
          <a:xfrm>
            <a:off x="584200" y="6438900"/>
            <a:ext cx="11023600" cy="0"/>
          </a:xfrm>
          <a:prstGeom prst="line">
            <a:avLst/>
          </a:prstGeom>
          <a:ln w="10160">
            <a:solidFill>
              <a:srgbClr val="DCE4ED"/>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84200" y="6578600"/>
            <a:ext cx="4572000" cy="193548"/>
          </a:xfrm>
          <a:prstGeom prst="rect">
            <a:avLst/>
          </a:prstGeom>
          <a:noFill/>
        </p:spPr>
        <p:txBody>
          <a:bodyPr wrap="none" tIns="0" bIns="0" lIns="0" rIns="0" anchor="t">
            <a:spAutoFit/>
          </a:bodyPr>
          <a:lstStyle/>
          <a:p>
            <a:pPr>
              <a:lnSpc>
                <a:spcPts val="1024"/>
              </a:lnSpc>
              <a:spcBef>
                <a:spcPts val="0"/>
              </a:spcBef>
              <a:spcAft>
                <a:spcPts val="0"/>
              </a:spcAft>
            </a:pPr>
            <a:r>
              <a:rPr sz="800" b="0">
                <a:solidFill>
                  <a:srgbClr val="596C80"/>
                </a:solidFill>
                <a:latin typeface="Noto Sans"/>
              </a:rPr>
              <a:t>RELEASE ENGINEERING / PLATFORM WALKTHROUGH</a:t>
            </a:r>
          </a:p>
        </p:txBody>
      </p:sp>
      <p:sp>
        <p:nvSpPr>
          <p:cNvPr id="10" name="TextBox 9"/>
          <p:cNvSpPr txBox="1"/>
          <p:nvPr/>
        </p:nvSpPr>
        <p:spPr>
          <a:xfrm>
            <a:off x="10922000" y="6553200"/>
            <a:ext cx="736600" cy="209804"/>
          </a:xfrm>
          <a:prstGeom prst="rect">
            <a:avLst/>
          </a:prstGeom>
          <a:noFill/>
        </p:spPr>
        <p:txBody>
          <a:bodyPr wrap="none" tIns="0" bIns="0" lIns="0" rIns="0" anchor="t">
            <a:spAutoFit/>
          </a:bodyPr>
          <a:lstStyle/>
          <a:p>
            <a:pPr>
              <a:lnSpc>
                <a:spcPts val="1152"/>
              </a:lnSpc>
              <a:spcBef>
                <a:spcPts val="0"/>
              </a:spcBef>
              <a:spcAft>
                <a:spcPts val="0"/>
              </a:spcAft>
            </a:pPr>
            <a:r>
              <a:rPr sz="900" b="1">
                <a:solidFill>
                  <a:srgbClr val="596C80"/>
                </a:solidFill>
                <a:latin typeface="Noto Sans"/>
              </a:rPr>
              <a:t>09 / 16</a:t>
            </a:r>
          </a:p>
        </p:txBody>
      </p:sp>
      <p:sp>
        <p:nvSpPr>
          <p:cNvPr id="11" name="TextBox 10"/>
          <p:cNvSpPr txBox="1"/>
          <p:nvPr/>
        </p:nvSpPr>
        <p:spPr>
          <a:xfrm>
            <a:off x="584200" y="6210300"/>
            <a:ext cx="10414000" cy="193548"/>
          </a:xfrm>
          <a:prstGeom prst="rect">
            <a:avLst/>
          </a:prstGeom>
          <a:noFill/>
        </p:spPr>
        <p:txBody>
          <a:bodyPr wrap="none" tIns="0" bIns="0" lIns="0" rIns="0" anchor="t">
            <a:spAutoFit/>
          </a:bodyPr>
          <a:lstStyle/>
          <a:p>
            <a:pPr>
              <a:lnSpc>
                <a:spcPts val="1024"/>
              </a:lnSpc>
              <a:spcBef>
                <a:spcPts val="0"/>
              </a:spcBef>
              <a:spcAft>
                <a:spcPts val="0"/>
              </a:spcAft>
            </a:pPr>
            <a:r>
              <a:rPr sz="800" b="0">
                <a:solidFill>
                  <a:srgbClr val="596C80"/>
                </a:solidFill>
                <a:latin typeface="Noto Sans"/>
                <a:hlinkClick r:id="rId2"/>
              </a:rPr>
              <a:t>Evidence · Actual AWS Pods, Services, PVC, Helm release and Ingress</a:t>
            </a:r>
          </a:p>
        </p:txBody>
      </p:sp>
      <p:sp>
        <p:nvSpPr>
          <p:cNvPr id="12" name="Rounded Rectangle 11"/>
          <p:cNvSpPr/>
          <p:nvPr/>
        </p:nvSpPr>
        <p:spPr>
          <a:xfrm>
            <a:off x="571500" y="2019300"/>
            <a:ext cx="6629400" cy="3556000"/>
          </a:xfrm>
          <a:prstGeom prst="roundRect">
            <a:avLst>
              <a:gd name="adj" fmla="val 1071"/>
            </a:avLst>
          </a:prstGeom>
          <a:solidFill>
            <a:srgbClr val="FFFFFF"/>
          </a:solidFill>
          <a:ln w="889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aws-kubernetes-helm-ingress.png">
            <a:hlinkClick r:id="rId2"/>
          </p:cNvPr>
          <p:cNvPicPr>
            <a:picLocks noChangeAspect="1"/>
          </p:cNvPicPr>
          <p:nvPr/>
        </p:nvPicPr>
        <p:blipFill>
          <a:blip r:embed="rId3"/>
          <a:stretch>
            <a:fillRect/>
          </a:stretch>
        </p:blipFill>
        <p:spPr>
          <a:xfrm>
            <a:off x="750971" y="2032000"/>
            <a:ext cx="6270456" cy="3530600"/>
          </a:xfrm>
          <a:prstGeom prst="rect">
            <a:avLst/>
          </a:prstGeom>
        </p:spPr>
      </p:pic>
      <p:sp>
        <p:nvSpPr>
          <p:cNvPr id="14" name="TextBox 13"/>
          <p:cNvSpPr txBox="1"/>
          <p:nvPr/>
        </p:nvSpPr>
        <p:spPr>
          <a:xfrm>
            <a:off x="584200" y="5651500"/>
            <a:ext cx="6604000" cy="209804"/>
          </a:xfrm>
          <a:prstGeom prst="rect">
            <a:avLst/>
          </a:prstGeom>
          <a:noFill/>
        </p:spPr>
        <p:txBody>
          <a:bodyPr wrap="none" tIns="0" bIns="0" lIns="0" rIns="0" anchor="t">
            <a:spAutoFit/>
          </a:bodyPr>
          <a:lstStyle/>
          <a:p>
            <a:pPr>
              <a:lnSpc>
                <a:spcPts val="1152"/>
              </a:lnSpc>
              <a:spcBef>
                <a:spcPts val="0"/>
              </a:spcBef>
              <a:spcAft>
                <a:spcPts val="0"/>
              </a:spcAft>
            </a:pPr>
            <a:r>
              <a:rPr sz="900" b="0">
                <a:solidFill>
                  <a:srgbClr val="596C80"/>
                </a:solidFill>
                <a:latin typeface="Noto Sans"/>
              </a:rPr>
              <a:t>Real AWS resource listing · taskboard namespace</a:t>
            </a:r>
          </a:p>
        </p:txBody>
      </p:sp>
      <p:sp>
        <p:nvSpPr>
          <p:cNvPr id="15" name="TextBox 14"/>
          <p:cNvSpPr txBox="1"/>
          <p:nvPr/>
        </p:nvSpPr>
        <p:spPr>
          <a:xfrm>
            <a:off x="7658100" y="2095500"/>
            <a:ext cx="381000" cy="258572"/>
          </a:xfrm>
          <a:prstGeom prst="rect">
            <a:avLst/>
          </a:prstGeom>
          <a:noFill/>
        </p:spPr>
        <p:txBody>
          <a:bodyPr wrap="none" tIns="0" bIns="0" lIns="0" rIns="0" anchor="t">
            <a:spAutoFit/>
          </a:bodyPr>
          <a:lstStyle/>
          <a:p>
            <a:pPr>
              <a:lnSpc>
                <a:spcPts val="1536"/>
              </a:lnSpc>
              <a:spcBef>
                <a:spcPts val="0"/>
              </a:spcBef>
              <a:spcAft>
                <a:spcPts val="0"/>
              </a:spcAft>
            </a:pPr>
            <a:r>
              <a:rPr sz="1200" b="1">
                <a:solidFill>
                  <a:srgbClr val="087F76"/>
                </a:solidFill>
                <a:latin typeface="Noto Sans"/>
              </a:rPr>
              <a:t>01</a:t>
            </a:r>
          </a:p>
        </p:txBody>
      </p:sp>
      <p:sp>
        <p:nvSpPr>
          <p:cNvPr id="16" name="TextBox 15"/>
          <p:cNvSpPr txBox="1"/>
          <p:nvPr/>
        </p:nvSpPr>
        <p:spPr>
          <a:xfrm>
            <a:off x="8140700" y="2057400"/>
            <a:ext cx="3467100" cy="339852"/>
          </a:xfrm>
          <a:prstGeom prst="rect">
            <a:avLst/>
          </a:prstGeom>
          <a:noFill/>
        </p:spPr>
        <p:txBody>
          <a:bodyPr wrap="none" tIns="0" bIns="0" lIns="0" rIns="0" anchor="t">
            <a:spAutoFit/>
          </a:bodyPr>
          <a:lstStyle/>
          <a:p>
            <a:pPr>
              <a:lnSpc>
                <a:spcPts val="2176"/>
              </a:lnSpc>
              <a:spcBef>
                <a:spcPts val="0"/>
              </a:spcBef>
              <a:spcAft>
                <a:spcPts val="0"/>
              </a:spcAft>
            </a:pPr>
            <a:r>
              <a:rPr sz="1700" b="1">
                <a:solidFill>
                  <a:srgbClr val="15243A"/>
                </a:solidFill>
                <a:latin typeface="Noto Sans"/>
              </a:rPr>
              <a:t>Replicated workloads</a:t>
            </a:r>
          </a:p>
        </p:txBody>
      </p:sp>
      <p:sp>
        <p:nvSpPr>
          <p:cNvPr id="17" name="TextBox 16"/>
          <p:cNvSpPr txBox="1"/>
          <p:nvPr/>
        </p:nvSpPr>
        <p:spPr>
          <a:xfrm>
            <a:off x="8140700" y="2413000"/>
            <a:ext cx="3467100" cy="486156"/>
          </a:xfrm>
          <a:prstGeom prst="rect">
            <a:avLst/>
          </a:prstGeom>
          <a:noFill/>
        </p:spPr>
        <p:txBody>
          <a:bodyPr wrap="none" tIns="0" bIns="0" lIns="0" rIns="0" anchor="t">
            <a:spAutoFit/>
          </a:bodyPr>
          <a:lstStyle/>
          <a:p>
            <a:pPr>
              <a:lnSpc>
                <a:spcPts val="1664"/>
              </a:lnSpc>
              <a:spcBef>
                <a:spcPts val="0"/>
              </a:spcBef>
              <a:spcAft>
                <a:spcPts val="0"/>
              </a:spcAft>
            </a:pPr>
            <a:r>
              <a:rPr sz="1300" b="0">
                <a:solidFill>
                  <a:srgbClr val="596C80"/>
                </a:solidFill>
                <a:latin typeface="Noto Sans"/>
              </a:rPr>
              <a:t>2 frontend Pods; backend HPA starts at 2</a:t>
            </a:r>
          </a:p>
          <a:p>
            <a:pPr>
              <a:lnSpc>
                <a:spcPts val="1664"/>
              </a:lnSpc>
              <a:spcBef>
                <a:spcPts val="0"/>
              </a:spcBef>
              <a:spcAft>
                <a:spcPts val="0"/>
              </a:spcAft>
            </a:pPr>
            <a:r>
              <a:rPr sz="1300" b="0">
                <a:solidFill>
                  <a:srgbClr val="596C80"/>
                </a:solidFill>
                <a:latin typeface="Noto Sans"/>
              </a:rPr>
              <a:t>and can reach 4.</a:t>
            </a:r>
          </a:p>
        </p:txBody>
      </p:sp>
      <p:sp>
        <p:nvSpPr>
          <p:cNvPr id="18" name="TextBox 17"/>
          <p:cNvSpPr txBox="1"/>
          <p:nvPr/>
        </p:nvSpPr>
        <p:spPr>
          <a:xfrm>
            <a:off x="7658100" y="3403600"/>
            <a:ext cx="381000" cy="258572"/>
          </a:xfrm>
          <a:prstGeom prst="rect">
            <a:avLst/>
          </a:prstGeom>
          <a:noFill/>
        </p:spPr>
        <p:txBody>
          <a:bodyPr wrap="none" tIns="0" bIns="0" lIns="0" rIns="0" anchor="t">
            <a:spAutoFit/>
          </a:bodyPr>
          <a:lstStyle/>
          <a:p>
            <a:pPr>
              <a:lnSpc>
                <a:spcPts val="1536"/>
              </a:lnSpc>
              <a:spcBef>
                <a:spcPts val="0"/>
              </a:spcBef>
              <a:spcAft>
                <a:spcPts val="0"/>
              </a:spcAft>
            </a:pPr>
            <a:r>
              <a:rPr sz="1200" b="1">
                <a:solidFill>
                  <a:srgbClr val="087F76"/>
                </a:solidFill>
                <a:latin typeface="Noto Sans"/>
              </a:rPr>
              <a:t>02</a:t>
            </a:r>
          </a:p>
        </p:txBody>
      </p:sp>
      <p:sp>
        <p:nvSpPr>
          <p:cNvPr id="19" name="TextBox 18"/>
          <p:cNvSpPr txBox="1"/>
          <p:nvPr/>
        </p:nvSpPr>
        <p:spPr>
          <a:xfrm>
            <a:off x="8140700" y="3365500"/>
            <a:ext cx="3467100" cy="339852"/>
          </a:xfrm>
          <a:prstGeom prst="rect">
            <a:avLst/>
          </a:prstGeom>
          <a:noFill/>
        </p:spPr>
        <p:txBody>
          <a:bodyPr wrap="none" tIns="0" bIns="0" lIns="0" rIns="0" anchor="t">
            <a:spAutoFit/>
          </a:bodyPr>
          <a:lstStyle/>
          <a:p>
            <a:pPr>
              <a:lnSpc>
                <a:spcPts val="2176"/>
              </a:lnSpc>
              <a:spcBef>
                <a:spcPts val="0"/>
              </a:spcBef>
              <a:spcAft>
                <a:spcPts val="0"/>
              </a:spcAft>
            </a:pPr>
            <a:r>
              <a:rPr sz="1700" b="1">
                <a:solidFill>
                  <a:srgbClr val="15243A"/>
                </a:solidFill>
                <a:latin typeface="Noto Sans"/>
              </a:rPr>
              <a:t>Persistent database</a:t>
            </a:r>
          </a:p>
        </p:txBody>
      </p:sp>
      <p:sp>
        <p:nvSpPr>
          <p:cNvPr id="20" name="TextBox 19"/>
          <p:cNvSpPr txBox="1"/>
          <p:nvPr/>
        </p:nvSpPr>
        <p:spPr>
          <a:xfrm>
            <a:off x="8140700" y="3721100"/>
            <a:ext cx="3467100" cy="486156"/>
          </a:xfrm>
          <a:prstGeom prst="rect">
            <a:avLst/>
          </a:prstGeom>
          <a:noFill/>
        </p:spPr>
        <p:txBody>
          <a:bodyPr wrap="none" tIns="0" bIns="0" lIns="0" rIns="0" anchor="t">
            <a:spAutoFit/>
          </a:bodyPr>
          <a:lstStyle/>
          <a:p>
            <a:pPr>
              <a:lnSpc>
                <a:spcPts val="1664"/>
              </a:lnSpc>
              <a:spcBef>
                <a:spcPts val="0"/>
              </a:spcBef>
              <a:spcAft>
                <a:spcPts val="0"/>
              </a:spcAft>
            </a:pPr>
            <a:r>
              <a:rPr sz="1300" b="0">
                <a:solidFill>
                  <a:srgbClr val="596C80"/>
                </a:solidFill>
                <a:latin typeface="Noto Sans"/>
              </a:rPr>
              <a:t>PostgreSQL StatefulSet + encrypted 5 GiB</a:t>
            </a:r>
          </a:p>
          <a:p>
            <a:pPr>
              <a:lnSpc>
                <a:spcPts val="1664"/>
              </a:lnSpc>
              <a:spcBef>
                <a:spcPts val="0"/>
              </a:spcBef>
              <a:spcAft>
                <a:spcPts val="0"/>
              </a:spcAft>
            </a:pPr>
            <a:r>
              <a:rPr sz="1300" b="0">
                <a:solidFill>
                  <a:srgbClr val="596C80"/>
                </a:solidFill>
                <a:latin typeface="Noto Sans"/>
              </a:rPr>
              <a:t>gp3 volume.</a:t>
            </a:r>
          </a:p>
        </p:txBody>
      </p:sp>
      <p:sp>
        <p:nvSpPr>
          <p:cNvPr id="21" name="TextBox 20"/>
          <p:cNvSpPr txBox="1"/>
          <p:nvPr/>
        </p:nvSpPr>
        <p:spPr>
          <a:xfrm>
            <a:off x="7658100" y="4711700"/>
            <a:ext cx="381000" cy="258572"/>
          </a:xfrm>
          <a:prstGeom prst="rect">
            <a:avLst/>
          </a:prstGeom>
          <a:noFill/>
        </p:spPr>
        <p:txBody>
          <a:bodyPr wrap="none" tIns="0" bIns="0" lIns="0" rIns="0" anchor="t">
            <a:spAutoFit/>
          </a:bodyPr>
          <a:lstStyle/>
          <a:p>
            <a:pPr>
              <a:lnSpc>
                <a:spcPts val="1536"/>
              </a:lnSpc>
              <a:spcBef>
                <a:spcPts val="0"/>
              </a:spcBef>
              <a:spcAft>
                <a:spcPts val="0"/>
              </a:spcAft>
            </a:pPr>
            <a:r>
              <a:rPr sz="1200" b="1">
                <a:solidFill>
                  <a:srgbClr val="087F76"/>
                </a:solidFill>
                <a:latin typeface="Noto Sans"/>
              </a:rPr>
              <a:t>03</a:t>
            </a:r>
          </a:p>
        </p:txBody>
      </p:sp>
      <p:sp>
        <p:nvSpPr>
          <p:cNvPr id="22" name="TextBox 21"/>
          <p:cNvSpPr txBox="1"/>
          <p:nvPr/>
        </p:nvSpPr>
        <p:spPr>
          <a:xfrm>
            <a:off x="8140700" y="4673600"/>
            <a:ext cx="3467100" cy="339852"/>
          </a:xfrm>
          <a:prstGeom prst="rect">
            <a:avLst/>
          </a:prstGeom>
          <a:noFill/>
        </p:spPr>
        <p:txBody>
          <a:bodyPr wrap="none" tIns="0" bIns="0" lIns="0" rIns="0" anchor="t">
            <a:spAutoFit/>
          </a:bodyPr>
          <a:lstStyle/>
          <a:p>
            <a:pPr>
              <a:lnSpc>
                <a:spcPts val="2176"/>
              </a:lnSpc>
              <a:spcBef>
                <a:spcPts val="0"/>
              </a:spcBef>
              <a:spcAft>
                <a:spcPts val="0"/>
              </a:spcAft>
            </a:pPr>
            <a:r>
              <a:rPr sz="1700" b="1">
                <a:solidFill>
                  <a:srgbClr val="15243A"/>
                </a:solidFill>
                <a:latin typeface="Noto Sans"/>
              </a:rPr>
              <a:t>Controlled release</a:t>
            </a:r>
          </a:p>
        </p:txBody>
      </p:sp>
      <p:sp>
        <p:nvSpPr>
          <p:cNvPr id="23" name="TextBox 22"/>
          <p:cNvSpPr txBox="1"/>
          <p:nvPr/>
        </p:nvSpPr>
        <p:spPr>
          <a:xfrm>
            <a:off x="8140700" y="5029200"/>
            <a:ext cx="3467100" cy="486156"/>
          </a:xfrm>
          <a:prstGeom prst="rect">
            <a:avLst/>
          </a:prstGeom>
          <a:noFill/>
        </p:spPr>
        <p:txBody>
          <a:bodyPr wrap="none" tIns="0" bIns="0" lIns="0" rIns="0" anchor="t">
            <a:spAutoFit/>
          </a:bodyPr>
          <a:lstStyle/>
          <a:p>
            <a:pPr>
              <a:lnSpc>
                <a:spcPts val="1664"/>
              </a:lnSpc>
              <a:spcBef>
                <a:spcPts val="0"/>
              </a:spcBef>
              <a:spcAft>
                <a:spcPts val="0"/>
              </a:spcAft>
            </a:pPr>
            <a:r>
              <a:rPr sz="1300" b="0">
                <a:solidFill>
                  <a:srgbClr val="596C80"/>
                </a:solidFill>
                <a:latin typeface="Noto Sans"/>
              </a:rPr>
              <a:t>One migration Job with advisory lock;</a:t>
            </a:r>
          </a:p>
          <a:p>
            <a:pPr>
              <a:lnSpc>
                <a:spcPts val="1664"/>
              </a:lnSpc>
              <a:spcBef>
                <a:spcPts val="0"/>
              </a:spcBef>
              <a:spcAft>
                <a:spcPts val="0"/>
              </a:spcAft>
            </a:pPr>
            <a:r>
              <a:rPr sz="1300" b="0">
                <a:solidFill>
                  <a:srgbClr val="596C80"/>
                </a:solidFill>
                <a:latin typeface="Noto Sans"/>
              </a:rPr>
              <a:t>readiness gates traffic.</a:t>
            </a:r>
          </a:p>
        </p:txBody>
      </p:sp>
      <p:sp>
        <p:nvSpPr>
          <p:cNvPr id="24" name="TextBox 23"/>
          <p:cNvSpPr txBox="1"/>
          <p:nvPr/>
        </p:nvSpPr>
        <p:spPr>
          <a:xfrm>
            <a:off x="584200" y="5943600"/>
            <a:ext cx="10985500" cy="258572"/>
          </a:xfrm>
          <a:prstGeom prst="rect">
            <a:avLst/>
          </a:prstGeom>
          <a:noFill/>
        </p:spPr>
        <p:txBody>
          <a:bodyPr wrap="none" tIns="0" bIns="0" lIns="0" rIns="0" anchor="t">
            <a:spAutoFit/>
          </a:bodyPr>
          <a:lstStyle/>
          <a:p>
            <a:pPr>
              <a:lnSpc>
                <a:spcPts val="1536"/>
              </a:lnSpc>
              <a:spcBef>
                <a:spcPts val="0"/>
              </a:spcBef>
              <a:spcAft>
                <a:spcPts val="0"/>
              </a:spcAft>
            </a:pPr>
            <a:r>
              <a:rPr sz="1200" b="1">
                <a:solidFill>
                  <a:srgbClr val="2463EB"/>
                </a:solidFill>
                <a:latin typeface="DejaVu Sans Mono"/>
              </a:rPr>
              <a:t>Ingress: / </a:t>
            </a:r>
            <a:r>
              <a:rPr sz="1200" b="1">
                <a:solidFill>
                  <a:srgbClr val="2463EB"/>
                </a:solidFill>
                <a:latin typeface="DejaVu Sans"/>
              </a:rPr>
              <a:t>→</a:t>
            </a:r>
            <a:r>
              <a:rPr sz="1200" b="1">
                <a:solidFill>
                  <a:srgbClr val="2463EB"/>
                </a:solidFill>
                <a:latin typeface="DejaVu Sans Mono"/>
              </a:rPr>
              <a:t> frontend:8080 /api </a:t>
            </a:r>
            <a:r>
              <a:rPr sz="1200" b="1">
                <a:solidFill>
                  <a:srgbClr val="2463EB"/>
                </a:solidFill>
                <a:latin typeface="DejaVu Sans"/>
              </a:rPr>
              <a:t>→</a:t>
            </a:r>
            <a:r>
              <a:rPr sz="1200" b="1">
                <a:solidFill>
                  <a:srgbClr val="2463EB"/>
                </a:solidFill>
                <a:latin typeface="DejaVu Sans Mono"/>
              </a:rPr>
              <a:t> backend:8000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79400"/>
            <a:ext cx="4445000" cy="209804"/>
          </a:xfrm>
          <a:prstGeom prst="rect">
            <a:avLst/>
          </a:prstGeom>
          <a:noFill/>
        </p:spPr>
        <p:txBody>
          <a:bodyPr wrap="none" tIns="0" bIns="0" lIns="0" rIns="0" anchor="t">
            <a:spAutoFit/>
          </a:bodyPr>
          <a:lstStyle/>
          <a:p>
            <a:pPr>
              <a:lnSpc>
                <a:spcPts val="1152"/>
              </a:lnSpc>
              <a:spcBef>
                <a:spcPts val="0"/>
              </a:spcBef>
              <a:spcAft>
                <a:spcPts val="0"/>
              </a:spcAft>
            </a:pPr>
            <a:r>
              <a:rPr sz="900" b="1">
                <a:solidFill>
                  <a:srgbClr val="596C80"/>
                </a:solidFill>
                <a:latin typeface="Noto Sans"/>
              </a:rPr>
              <a:t>RH / RELEASE HELPDESK</a:t>
            </a:r>
          </a:p>
        </p:txBody>
      </p:sp>
      <p:sp>
        <p:nvSpPr>
          <p:cNvPr id="4" name="TextBox 3"/>
          <p:cNvSpPr txBox="1"/>
          <p:nvPr/>
        </p:nvSpPr>
        <p:spPr>
          <a:xfrm>
            <a:off x="8763000" y="279400"/>
            <a:ext cx="2857500" cy="209804"/>
          </a:xfrm>
          <a:prstGeom prst="rect">
            <a:avLst/>
          </a:prstGeom>
          <a:noFill/>
        </p:spPr>
        <p:txBody>
          <a:bodyPr wrap="none" tIns="0" bIns="0" lIns="0" rIns="0" anchor="t">
            <a:spAutoFit/>
          </a:bodyPr>
          <a:lstStyle/>
          <a:p>
            <a:pPr>
              <a:lnSpc>
                <a:spcPts val="1152"/>
              </a:lnSpc>
              <a:spcBef>
                <a:spcPts val="0"/>
              </a:spcBef>
              <a:spcAft>
                <a:spcPts val="0"/>
              </a:spcAft>
            </a:pPr>
            <a:r>
              <a:rPr sz="900" b="1">
                <a:solidFill>
                  <a:srgbClr val="596C80"/>
                </a:solidFill>
                <a:latin typeface="Noto Sans"/>
              </a:rPr>
              <a:t>09 / GITOPS</a:t>
            </a:r>
          </a:p>
        </p:txBody>
      </p:sp>
      <p:sp>
        <p:nvSpPr>
          <p:cNvPr id="5" name="Rectangle 4"/>
          <p:cNvSpPr/>
          <p:nvPr/>
        </p:nvSpPr>
        <p:spPr>
          <a:xfrm>
            <a:off x="584200" y="660400"/>
            <a:ext cx="355600" cy="38100"/>
          </a:xfrm>
          <a:prstGeom prst="rect">
            <a:avLst/>
          </a:prstGeom>
          <a:solidFill>
            <a:srgbClr val="24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84200" y="876300"/>
            <a:ext cx="11049000" cy="508380"/>
          </a:xfrm>
          <a:prstGeom prst="rect">
            <a:avLst/>
          </a:prstGeom>
          <a:noFill/>
        </p:spPr>
        <p:txBody>
          <a:bodyPr wrap="none" tIns="0" bIns="0" lIns="0" rIns="0" anchor="t">
            <a:spAutoFit/>
          </a:bodyPr>
          <a:lstStyle/>
          <a:p>
            <a:pPr>
              <a:lnSpc>
                <a:spcPts val="3502"/>
              </a:lnSpc>
              <a:spcBef>
                <a:spcPts val="0"/>
              </a:spcBef>
              <a:spcAft>
                <a:spcPts val="0"/>
              </a:spcAft>
            </a:pPr>
            <a:r>
              <a:rPr sz="3100" b="1">
                <a:solidFill>
                  <a:srgbClr val="15243A"/>
                </a:solidFill>
                <a:latin typeface="Noto Sans"/>
              </a:rPr>
              <a:t>Committed intent keeps the running service honest.</a:t>
            </a:r>
          </a:p>
        </p:txBody>
      </p:sp>
      <p:sp>
        <p:nvSpPr>
          <p:cNvPr id="7" name="TextBox 6"/>
          <p:cNvSpPr txBox="1"/>
          <p:nvPr/>
        </p:nvSpPr>
        <p:spPr>
          <a:xfrm>
            <a:off x="584200" y="1473200"/>
            <a:ext cx="10985500" cy="258572"/>
          </a:xfrm>
          <a:prstGeom prst="rect">
            <a:avLst/>
          </a:prstGeom>
          <a:noFill/>
        </p:spPr>
        <p:txBody>
          <a:bodyPr wrap="none" tIns="0" bIns="0" lIns="0" rIns="0" anchor="t">
            <a:spAutoFit/>
          </a:bodyPr>
          <a:lstStyle/>
          <a:p>
            <a:pPr>
              <a:lnSpc>
                <a:spcPts val="1536"/>
              </a:lnSpc>
              <a:spcBef>
                <a:spcPts val="0"/>
              </a:spcBef>
              <a:spcAft>
                <a:spcPts val="0"/>
              </a:spcAft>
            </a:pPr>
            <a:r>
              <a:rPr sz="1200" b="0">
                <a:solidFill>
                  <a:srgbClr val="596C80"/>
                </a:solidFill>
                <a:latin typeface="Noto Sans"/>
              </a:rPr>
              <a:t>Flux reconciles this application and Helm chart from the public repository on local Kubernetes.</a:t>
            </a:r>
          </a:p>
        </p:txBody>
      </p:sp>
      <p:cxnSp>
        <p:nvCxnSpPr>
          <p:cNvPr id="8" name="Connector 7"/>
          <p:cNvCxnSpPr/>
          <p:nvPr/>
        </p:nvCxnSpPr>
        <p:spPr>
          <a:xfrm>
            <a:off x="584200" y="6438900"/>
            <a:ext cx="11023600" cy="0"/>
          </a:xfrm>
          <a:prstGeom prst="line">
            <a:avLst/>
          </a:prstGeom>
          <a:ln w="10160">
            <a:solidFill>
              <a:srgbClr val="DCE4ED"/>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84200" y="6578600"/>
            <a:ext cx="4572000" cy="193548"/>
          </a:xfrm>
          <a:prstGeom prst="rect">
            <a:avLst/>
          </a:prstGeom>
          <a:noFill/>
        </p:spPr>
        <p:txBody>
          <a:bodyPr wrap="none" tIns="0" bIns="0" lIns="0" rIns="0" anchor="t">
            <a:spAutoFit/>
          </a:bodyPr>
          <a:lstStyle/>
          <a:p>
            <a:pPr>
              <a:lnSpc>
                <a:spcPts val="1024"/>
              </a:lnSpc>
              <a:spcBef>
                <a:spcPts val="0"/>
              </a:spcBef>
              <a:spcAft>
                <a:spcPts val="0"/>
              </a:spcAft>
            </a:pPr>
            <a:r>
              <a:rPr sz="800" b="0">
                <a:solidFill>
                  <a:srgbClr val="596C80"/>
                </a:solidFill>
                <a:latin typeface="Noto Sans"/>
              </a:rPr>
              <a:t>RELEASE ENGINEERING / PLATFORM WALKTHROUGH</a:t>
            </a:r>
          </a:p>
        </p:txBody>
      </p:sp>
      <p:sp>
        <p:nvSpPr>
          <p:cNvPr id="10" name="TextBox 9"/>
          <p:cNvSpPr txBox="1"/>
          <p:nvPr/>
        </p:nvSpPr>
        <p:spPr>
          <a:xfrm>
            <a:off x="10922000" y="6553200"/>
            <a:ext cx="736600" cy="209804"/>
          </a:xfrm>
          <a:prstGeom prst="rect">
            <a:avLst/>
          </a:prstGeom>
          <a:noFill/>
        </p:spPr>
        <p:txBody>
          <a:bodyPr wrap="none" tIns="0" bIns="0" lIns="0" rIns="0" anchor="t">
            <a:spAutoFit/>
          </a:bodyPr>
          <a:lstStyle/>
          <a:p>
            <a:pPr>
              <a:lnSpc>
                <a:spcPts val="1152"/>
              </a:lnSpc>
              <a:spcBef>
                <a:spcPts val="0"/>
              </a:spcBef>
              <a:spcAft>
                <a:spcPts val="0"/>
              </a:spcAft>
            </a:pPr>
            <a:r>
              <a:rPr sz="900" b="1">
                <a:solidFill>
                  <a:srgbClr val="596C80"/>
                </a:solidFill>
                <a:latin typeface="Noto Sans"/>
              </a:rPr>
              <a:t>10 / 16</a:t>
            </a:r>
          </a:p>
        </p:txBody>
      </p:sp>
      <p:sp>
        <p:nvSpPr>
          <p:cNvPr id="11" name="TextBox 10"/>
          <p:cNvSpPr txBox="1"/>
          <p:nvPr/>
        </p:nvSpPr>
        <p:spPr>
          <a:xfrm>
            <a:off x="584200" y="6210300"/>
            <a:ext cx="10414000" cy="193548"/>
          </a:xfrm>
          <a:prstGeom prst="rect">
            <a:avLst/>
          </a:prstGeom>
          <a:noFill/>
        </p:spPr>
        <p:txBody>
          <a:bodyPr wrap="none" tIns="0" bIns="0" lIns="0" rIns="0" anchor="t">
            <a:spAutoFit/>
          </a:bodyPr>
          <a:lstStyle/>
          <a:p>
            <a:pPr>
              <a:lnSpc>
                <a:spcPts val="1024"/>
              </a:lnSpc>
              <a:spcBef>
                <a:spcPts val="0"/>
              </a:spcBef>
              <a:spcAft>
                <a:spcPts val="0"/>
              </a:spcAft>
            </a:pPr>
            <a:r>
              <a:rPr sz="800" b="0">
                <a:solidFill>
                  <a:srgbClr val="596C80"/>
                </a:solidFill>
                <a:latin typeface="Noto Sans"/>
                <a:hlinkClick r:id="rId2"/>
              </a:rPr>
              <a:t>Evidence · Actual Flux promotion, drift recovery and digest checks</a:t>
            </a:r>
          </a:p>
        </p:txBody>
      </p:sp>
      <p:sp>
        <p:nvSpPr>
          <p:cNvPr id="12" name="Rounded Rectangle 11"/>
          <p:cNvSpPr/>
          <p:nvPr/>
        </p:nvSpPr>
        <p:spPr>
          <a:xfrm>
            <a:off x="571500" y="2006600"/>
            <a:ext cx="6629400" cy="3556000"/>
          </a:xfrm>
          <a:prstGeom prst="roundRect">
            <a:avLst>
              <a:gd name="adj" fmla="val 1071"/>
            </a:avLst>
          </a:prstGeom>
          <a:solidFill>
            <a:srgbClr val="FFFFFF"/>
          </a:solidFill>
          <a:ln w="889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gitops-verification.png">
            <a:hlinkClick r:id="rId4"/>
          </p:cNvPr>
          <p:cNvPicPr>
            <a:picLocks noChangeAspect="1"/>
          </p:cNvPicPr>
          <p:nvPr/>
        </p:nvPicPr>
        <p:blipFill>
          <a:blip r:embed="rId3"/>
          <a:stretch>
            <a:fillRect/>
          </a:stretch>
        </p:blipFill>
        <p:spPr>
          <a:xfrm>
            <a:off x="750971" y="2019300"/>
            <a:ext cx="6270456" cy="3530600"/>
          </a:xfrm>
          <a:prstGeom prst="rect">
            <a:avLst/>
          </a:prstGeom>
        </p:spPr>
      </p:pic>
      <p:sp>
        <p:nvSpPr>
          <p:cNvPr id="14" name="TextBox 13"/>
          <p:cNvSpPr txBox="1"/>
          <p:nvPr/>
        </p:nvSpPr>
        <p:spPr>
          <a:xfrm>
            <a:off x="584200" y="5638800"/>
            <a:ext cx="6604000" cy="209804"/>
          </a:xfrm>
          <a:prstGeom prst="rect">
            <a:avLst/>
          </a:prstGeom>
          <a:noFill/>
        </p:spPr>
        <p:txBody>
          <a:bodyPr wrap="none" tIns="0" bIns="0" lIns="0" rIns="0" anchor="t">
            <a:spAutoFit/>
          </a:bodyPr>
          <a:lstStyle/>
          <a:p>
            <a:pPr>
              <a:lnSpc>
                <a:spcPts val="1152"/>
              </a:lnSpc>
              <a:spcBef>
                <a:spcPts val="0"/>
              </a:spcBef>
              <a:spcAft>
                <a:spcPts val="0"/>
              </a:spcAft>
            </a:pPr>
            <a:r>
              <a:rPr sz="900" b="0">
                <a:solidFill>
                  <a:srgbClr val="596C80"/>
                </a:solidFill>
                <a:latin typeface="Noto Sans"/>
              </a:rPr>
              <a:t>Actual controller state and recorded verification · local kind</a:t>
            </a:r>
          </a:p>
        </p:txBody>
      </p:sp>
      <p:sp>
        <p:nvSpPr>
          <p:cNvPr id="15" name="TextBox 14"/>
          <p:cNvSpPr txBox="1"/>
          <p:nvPr/>
        </p:nvSpPr>
        <p:spPr>
          <a:xfrm>
            <a:off x="7658100" y="2006600"/>
            <a:ext cx="3949700" cy="583692"/>
          </a:xfrm>
          <a:prstGeom prst="rect">
            <a:avLst/>
          </a:prstGeom>
          <a:noFill/>
        </p:spPr>
        <p:txBody>
          <a:bodyPr wrap="none" tIns="0" bIns="0" lIns="0" rIns="0" anchor="t">
            <a:spAutoFit/>
          </a:bodyPr>
          <a:lstStyle/>
          <a:p>
            <a:pPr>
              <a:lnSpc>
                <a:spcPts val="4096"/>
              </a:lnSpc>
              <a:spcBef>
                <a:spcPts val="0"/>
              </a:spcBef>
              <a:spcAft>
                <a:spcPts val="0"/>
              </a:spcAft>
            </a:pPr>
            <a:r>
              <a:rPr sz="3200" b="1">
                <a:solidFill>
                  <a:srgbClr val="2463EB"/>
                </a:solidFill>
                <a:latin typeface="Noto Sans"/>
              </a:rPr>
              <a:t>2 </a:t>
            </a:r>
            <a:r>
              <a:rPr sz="3200" b="1">
                <a:solidFill>
                  <a:srgbClr val="2463EB"/>
                </a:solidFill>
                <a:latin typeface="DejaVu Sans"/>
              </a:rPr>
              <a:t>→</a:t>
            </a:r>
            <a:r>
              <a:rPr sz="3200" b="1">
                <a:solidFill>
                  <a:srgbClr val="2463EB"/>
                </a:solidFill>
                <a:latin typeface="Noto Sans"/>
              </a:rPr>
              <a:t> 1 </a:t>
            </a:r>
            <a:r>
              <a:rPr sz="3200" b="1">
                <a:solidFill>
                  <a:srgbClr val="2463EB"/>
                </a:solidFill>
                <a:latin typeface="DejaVu Sans"/>
              </a:rPr>
              <a:t>→</a:t>
            </a:r>
            <a:r>
              <a:rPr sz="3200" b="1">
                <a:solidFill>
                  <a:srgbClr val="2463EB"/>
                </a:solidFill>
                <a:latin typeface="Noto Sans"/>
              </a:rPr>
              <a:t> 2</a:t>
            </a:r>
          </a:p>
        </p:txBody>
      </p:sp>
      <p:sp>
        <p:nvSpPr>
          <p:cNvPr id="16" name="TextBox 15"/>
          <p:cNvSpPr txBox="1"/>
          <p:nvPr/>
        </p:nvSpPr>
        <p:spPr>
          <a:xfrm>
            <a:off x="7683500" y="2590800"/>
            <a:ext cx="3924300" cy="258572"/>
          </a:xfrm>
          <a:prstGeom prst="rect">
            <a:avLst/>
          </a:prstGeom>
          <a:noFill/>
        </p:spPr>
        <p:txBody>
          <a:bodyPr wrap="none" tIns="0" bIns="0" lIns="0" rIns="0" anchor="t">
            <a:spAutoFit/>
          </a:bodyPr>
          <a:lstStyle/>
          <a:p>
            <a:pPr>
              <a:lnSpc>
                <a:spcPts val="1536"/>
              </a:lnSpc>
              <a:spcBef>
                <a:spcPts val="0"/>
              </a:spcBef>
              <a:spcAft>
                <a:spcPts val="0"/>
              </a:spcAft>
            </a:pPr>
            <a:r>
              <a:rPr sz="1200" b="0">
                <a:solidFill>
                  <a:srgbClr val="596C80"/>
                </a:solidFill>
                <a:latin typeface="Noto Sans"/>
              </a:rPr>
              <a:t>Manual frontend drift </a:t>
            </a:r>
            <a:r>
              <a:rPr sz="1200" b="0">
                <a:solidFill>
                  <a:srgbClr val="596C80"/>
                </a:solidFill>
                <a:latin typeface="DejaVu Sans"/>
              </a:rPr>
              <a:t>→</a:t>
            </a:r>
            <a:r>
              <a:rPr sz="1200" b="0">
                <a:solidFill>
                  <a:srgbClr val="596C80"/>
                </a:solidFill>
                <a:latin typeface="Noto Sans"/>
              </a:rPr>
              <a:t> automatic repair</a:t>
            </a:r>
          </a:p>
        </p:txBody>
      </p:sp>
      <p:sp>
        <p:nvSpPr>
          <p:cNvPr id="17" name="TextBox 16"/>
          <p:cNvSpPr txBox="1"/>
          <p:nvPr/>
        </p:nvSpPr>
        <p:spPr>
          <a:xfrm>
            <a:off x="7658100" y="3136900"/>
            <a:ext cx="381000" cy="258572"/>
          </a:xfrm>
          <a:prstGeom prst="rect">
            <a:avLst/>
          </a:prstGeom>
          <a:noFill/>
        </p:spPr>
        <p:txBody>
          <a:bodyPr wrap="none" tIns="0" bIns="0" lIns="0" rIns="0" anchor="t">
            <a:spAutoFit/>
          </a:bodyPr>
          <a:lstStyle/>
          <a:p>
            <a:pPr>
              <a:lnSpc>
                <a:spcPts val="1536"/>
              </a:lnSpc>
              <a:spcBef>
                <a:spcPts val="0"/>
              </a:spcBef>
              <a:spcAft>
                <a:spcPts val="0"/>
              </a:spcAft>
            </a:pPr>
            <a:r>
              <a:rPr sz="1200" b="1">
                <a:solidFill>
                  <a:srgbClr val="087F76"/>
                </a:solidFill>
                <a:latin typeface="Noto Sans"/>
              </a:rPr>
              <a:t>01</a:t>
            </a:r>
          </a:p>
        </p:txBody>
      </p:sp>
      <p:sp>
        <p:nvSpPr>
          <p:cNvPr id="18" name="TextBox 17"/>
          <p:cNvSpPr txBox="1"/>
          <p:nvPr/>
        </p:nvSpPr>
        <p:spPr>
          <a:xfrm>
            <a:off x="8140700" y="3098800"/>
            <a:ext cx="3467100" cy="339852"/>
          </a:xfrm>
          <a:prstGeom prst="rect">
            <a:avLst/>
          </a:prstGeom>
          <a:noFill/>
        </p:spPr>
        <p:txBody>
          <a:bodyPr wrap="none" tIns="0" bIns="0" lIns="0" rIns="0" anchor="t">
            <a:spAutoFit/>
          </a:bodyPr>
          <a:lstStyle/>
          <a:p>
            <a:pPr>
              <a:lnSpc>
                <a:spcPts val="2176"/>
              </a:lnSpc>
              <a:spcBef>
                <a:spcPts val="0"/>
              </a:spcBef>
              <a:spcAft>
                <a:spcPts val="0"/>
              </a:spcAft>
            </a:pPr>
            <a:r>
              <a:rPr sz="1700" b="1">
                <a:solidFill>
                  <a:srgbClr val="15243A"/>
                </a:solidFill>
                <a:latin typeface="Noto Sans"/>
              </a:rPr>
              <a:t>Promote from Git</a:t>
            </a:r>
          </a:p>
        </p:txBody>
      </p:sp>
      <p:sp>
        <p:nvSpPr>
          <p:cNvPr id="19" name="TextBox 18"/>
          <p:cNvSpPr txBox="1"/>
          <p:nvPr/>
        </p:nvSpPr>
        <p:spPr>
          <a:xfrm>
            <a:off x="8140700" y="3454400"/>
            <a:ext cx="3467100" cy="486156"/>
          </a:xfrm>
          <a:prstGeom prst="rect">
            <a:avLst/>
          </a:prstGeom>
          <a:noFill/>
        </p:spPr>
        <p:txBody>
          <a:bodyPr wrap="none" tIns="0" bIns="0" lIns="0" rIns="0" anchor="t">
            <a:spAutoFit/>
          </a:bodyPr>
          <a:lstStyle/>
          <a:p>
            <a:pPr>
              <a:lnSpc>
                <a:spcPts val="1664"/>
              </a:lnSpc>
              <a:spcBef>
                <a:spcPts val="0"/>
              </a:spcBef>
              <a:spcAft>
                <a:spcPts val="0"/>
              </a:spcAft>
            </a:pPr>
            <a:r>
              <a:rPr sz="1300" b="0">
                <a:solidFill>
                  <a:srgbClr val="596C80"/>
                </a:solidFill>
                <a:latin typeface="Noto Sans"/>
              </a:rPr>
              <a:t>Scanned image SHA + gitops-v2 header</a:t>
            </a:r>
          </a:p>
          <a:p>
            <a:pPr>
              <a:lnSpc>
                <a:spcPts val="1664"/>
              </a:lnSpc>
              <a:spcBef>
                <a:spcPts val="0"/>
              </a:spcBef>
              <a:spcAft>
                <a:spcPts val="0"/>
              </a:spcAft>
            </a:pPr>
            <a:r>
              <a:rPr sz="1300" b="0">
                <a:solidFill>
                  <a:srgbClr val="596C80"/>
                </a:solidFill>
                <a:latin typeface="Noto Sans"/>
              </a:rPr>
              <a:t>arrived through Flux.</a:t>
            </a:r>
          </a:p>
        </p:txBody>
      </p:sp>
      <p:sp>
        <p:nvSpPr>
          <p:cNvPr id="20" name="TextBox 19"/>
          <p:cNvSpPr txBox="1"/>
          <p:nvPr/>
        </p:nvSpPr>
        <p:spPr>
          <a:xfrm>
            <a:off x="7658100" y="4229100"/>
            <a:ext cx="381000" cy="258572"/>
          </a:xfrm>
          <a:prstGeom prst="rect">
            <a:avLst/>
          </a:prstGeom>
          <a:noFill/>
        </p:spPr>
        <p:txBody>
          <a:bodyPr wrap="none" tIns="0" bIns="0" lIns="0" rIns="0" anchor="t">
            <a:spAutoFit/>
          </a:bodyPr>
          <a:lstStyle/>
          <a:p>
            <a:pPr>
              <a:lnSpc>
                <a:spcPts val="1536"/>
              </a:lnSpc>
              <a:spcBef>
                <a:spcPts val="0"/>
              </a:spcBef>
              <a:spcAft>
                <a:spcPts val="0"/>
              </a:spcAft>
            </a:pPr>
            <a:r>
              <a:rPr sz="1200" b="1">
                <a:solidFill>
                  <a:srgbClr val="087F76"/>
                </a:solidFill>
                <a:latin typeface="Noto Sans"/>
              </a:rPr>
              <a:t>02</a:t>
            </a:r>
          </a:p>
        </p:txBody>
      </p:sp>
      <p:sp>
        <p:nvSpPr>
          <p:cNvPr id="21" name="TextBox 20"/>
          <p:cNvSpPr txBox="1"/>
          <p:nvPr/>
        </p:nvSpPr>
        <p:spPr>
          <a:xfrm>
            <a:off x="8140700" y="4191000"/>
            <a:ext cx="3467100" cy="339852"/>
          </a:xfrm>
          <a:prstGeom prst="rect">
            <a:avLst/>
          </a:prstGeom>
          <a:noFill/>
        </p:spPr>
        <p:txBody>
          <a:bodyPr wrap="none" tIns="0" bIns="0" lIns="0" rIns="0" anchor="t">
            <a:spAutoFit/>
          </a:bodyPr>
          <a:lstStyle/>
          <a:p>
            <a:pPr>
              <a:lnSpc>
                <a:spcPts val="2176"/>
              </a:lnSpc>
              <a:spcBef>
                <a:spcPts val="0"/>
              </a:spcBef>
              <a:spcAft>
                <a:spcPts val="0"/>
              </a:spcAft>
            </a:pPr>
            <a:r>
              <a:rPr sz="1700" b="1">
                <a:solidFill>
                  <a:srgbClr val="15243A"/>
                </a:solidFill>
                <a:latin typeface="Noto Sans"/>
              </a:rPr>
              <a:t>Automatic recovery</a:t>
            </a:r>
          </a:p>
        </p:txBody>
      </p:sp>
      <p:sp>
        <p:nvSpPr>
          <p:cNvPr id="22" name="TextBox 21"/>
          <p:cNvSpPr txBox="1"/>
          <p:nvPr/>
        </p:nvSpPr>
        <p:spPr>
          <a:xfrm>
            <a:off x="8140700" y="4546600"/>
            <a:ext cx="3467100" cy="274828"/>
          </a:xfrm>
          <a:prstGeom prst="rect">
            <a:avLst/>
          </a:prstGeom>
          <a:noFill/>
        </p:spPr>
        <p:txBody>
          <a:bodyPr wrap="none" tIns="0" bIns="0" lIns="0" rIns="0" anchor="t">
            <a:spAutoFit/>
          </a:bodyPr>
          <a:lstStyle/>
          <a:p>
            <a:pPr>
              <a:lnSpc>
                <a:spcPts val="1664"/>
              </a:lnSpc>
              <a:spcBef>
                <a:spcPts val="0"/>
              </a:spcBef>
              <a:spcAft>
                <a:spcPts val="0"/>
              </a:spcAft>
            </a:pPr>
            <a:r>
              <a:rPr sz="1300" b="0">
                <a:solidFill>
                  <a:srgbClr val="596C80"/>
                </a:solidFill>
                <a:latin typeface="Noto Sans"/>
              </a:rPr>
              <a:t>2 frontend replicas restored in 34 seconds.</a:t>
            </a:r>
          </a:p>
        </p:txBody>
      </p:sp>
      <p:sp>
        <p:nvSpPr>
          <p:cNvPr id="23" name="TextBox 22"/>
          <p:cNvSpPr txBox="1"/>
          <p:nvPr/>
        </p:nvSpPr>
        <p:spPr>
          <a:xfrm>
            <a:off x="584200" y="5956300"/>
            <a:ext cx="10985500" cy="258572"/>
          </a:xfrm>
          <a:prstGeom prst="rect">
            <a:avLst/>
          </a:prstGeom>
          <a:noFill/>
        </p:spPr>
        <p:txBody>
          <a:bodyPr wrap="none" tIns="0" bIns="0" lIns="0" rIns="0" anchor="t">
            <a:spAutoFit/>
          </a:bodyPr>
          <a:lstStyle/>
          <a:p>
            <a:pPr>
              <a:lnSpc>
                <a:spcPts val="1536"/>
              </a:lnSpc>
              <a:spcBef>
                <a:spcPts val="0"/>
              </a:spcBef>
              <a:spcAft>
                <a:spcPts val="0"/>
              </a:spcAft>
            </a:pPr>
            <a:r>
              <a:rPr sz="1200" b="1">
                <a:solidFill>
                  <a:srgbClr val="087F76"/>
                </a:solidFill>
                <a:latin typeface="Noto Sans"/>
              </a:rPr>
              <a:t>Registry digests match both running application images.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79400"/>
            <a:ext cx="4445000" cy="209804"/>
          </a:xfrm>
          <a:prstGeom prst="rect">
            <a:avLst/>
          </a:prstGeom>
          <a:noFill/>
        </p:spPr>
        <p:txBody>
          <a:bodyPr wrap="none" tIns="0" bIns="0" lIns="0" rIns="0" anchor="t">
            <a:spAutoFit/>
          </a:bodyPr>
          <a:lstStyle/>
          <a:p>
            <a:pPr>
              <a:lnSpc>
                <a:spcPts val="1152"/>
              </a:lnSpc>
              <a:spcBef>
                <a:spcPts val="0"/>
              </a:spcBef>
              <a:spcAft>
                <a:spcPts val="0"/>
              </a:spcAft>
            </a:pPr>
            <a:r>
              <a:rPr sz="900" b="1">
                <a:solidFill>
                  <a:srgbClr val="596C80"/>
                </a:solidFill>
                <a:latin typeface="Noto Sans"/>
              </a:rPr>
              <a:t>RH / RELEASE HELPDESK</a:t>
            </a:r>
          </a:p>
        </p:txBody>
      </p:sp>
      <p:sp>
        <p:nvSpPr>
          <p:cNvPr id="4" name="TextBox 3"/>
          <p:cNvSpPr txBox="1"/>
          <p:nvPr/>
        </p:nvSpPr>
        <p:spPr>
          <a:xfrm>
            <a:off x="8763000" y="279400"/>
            <a:ext cx="2857500" cy="209804"/>
          </a:xfrm>
          <a:prstGeom prst="rect">
            <a:avLst/>
          </a:prstGeom>
          <a:noFill/>
        </p:spPr>
        <p:txBody>
          <a:bodyPr wrap="none" tIns="0" bIns="0" lIns="0" rIns="0" anchor="t">
            <a:spAutoFit/>
          </a:bodyPr>
          <a:lstStyle/>
          <a:p>
            <a:pPr>
              <a:lnSpc>
                <a:spcPts val="1152"/>
              </a:lnSpc>
              <a:spcBef>
                <a:spcPts val="0"/>
              </a:spcBef>
              <a:spcAft>
                <a:spcPts val="0"/>
              </a:spcAft>
            </a:pPr>
            <a:r>
              <a:rPr sz="900" b="1">
                <a:solidFill>
                  <a:srgbClr val="596C80"/>
                </a:solidFill>
                <a:latin typeface="Noto Sans"/>
              </a:rPr>
              <a:t>10 / END-TO-END RELEASE</a:t>
            </a:r>
          </a:p>
        </p:txBody>
      </p:sp>
      <p:sp>
        <p:nvSpPr>
          <p:cNvPr id="5" name="Rectangle 4"/>
          <p:cNvSpPr/>
          <p:nvPr/>
        </p:nvSpPr>
        <p:spPr>
          <a:xfrm>
            <a:off x="584200" y="660400"/>
            <a:ext cx="355600" cy="38100"/>
          </a:xfrm>
          <a:prstGeom prst="rect">
            <a:avLst/>
          </a:prstGeom>
          <a:solidFill>
            <a:srgbClr val="24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84200" y="876300"/>
            <a:ext cx="11049000" cy="508380"/>
          </a:xfrm>
          <a:prstGeom prst="rect">
            <a:avLst/>
          </a:prstGeom>
          <a:noFill/>
        </p:spPr>
        <p:txBody>
          <a:bodyPr wrap="none" tIns="0" bIns="0" lIns="0" rIns="0" anchor="t">
            <a:spAutoFit/>
          </a:bodyPr>
          <a:lstStyle/>
          <a:p>
            <a:pPr>
              <a:lnSpc>
                <a:spcPts val="3502"/>
              </a:lnSpc>
              <a:spcBef>
                <a:spcPts val="0"/>
              </a:spcBef>
              <a:spcAft>
                <a:spcPts val="0"/>
              </a:spcAft>
            </a:pPr>
            <a:r>
              <a:rPr sz="3100" b="1">
                <a:solidFill>
                  <a:srgbClr val="15243A"/>
                </a:solidFill>
                <a:latin typeface="Noto Sans"/>
              </a:rPr>
              <a:t>One small change proves the delivery chain.</a:t>
            </a:r>
          </a:p>
        </p:txBody>
      </p:sp>
      <p:sp>
        <p:nvSpPr>
          <p:cNvPr id="7" name="TextBox 6"/>
          <p:cNvSpPr txBox="1"/>
          <p:nvPr/>
        </p:nvSpPr>
        <p:spPr>
          <a:xfrm>
            <a:off x="584200" y="1473200"/>
            <a:ext cx="10985500" cy="258572"/>
          </a:xfrm>
          <a:prstGeom prst="rect">
            <a:avLst/>
          </a:prstGeom>
          <a:noFill/>
        </p:spPr>
        <p:txBody>
          <a:bodyPr wrap="none" tIns="0" bIns="0" lIns="0" rIns="0" anchor="t">
            <a:spAutoFit/>
          </a:bodyPr>
          <a:lstStyle/>
          <a:p>
            <a:pPr>
              <a:lnSpc>
                <a:spcPts val="1536"/>
              </a:lnSpc>
              <a:spcBef>
                <a:spcPts val="0"/>
              </a:spcBef>
              <a:spcAft>
                <a:spcPts val="0"/>
              </a:spcAft>
            </a:pPr>
            <a:r>
              <a:rPr sz="1200" b="0">
                <a:solidFill>
                  <a:srgbClr val="596C80"/>
                </a:solidFill>
                <a:latin typeface="Noto Sans"/>
              </a:rPr>
              <a:t>A visible triage-help change reached the real AWS application through CI.</a:t>
            </a:r>
          </a:p>
        </p:txBody>
      </p:sp>
      <p:cxnSp>
        <p:nvCxnSpPr>
          <p:cNvPr id="8" name="Connector 7"/>
          <p:cNvCxnSpPr/>
          <p:nvPr/>
        </p:nvCxnSpPr>
        <p:spPr>
          <a:xfrm>
            <a:off x="584200" y="6438900"/>
            <a:ext cx="11023600" cy="0"/>
          </a:xfrm>
          <a:prstGeom prst="line">
            <a:avLst/>
          </a:prstGeom>
          <a:ln w="10160">
            <a:solidFill>
              <a:srgbClr val="DCE4ED"/>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84200" y="6578600"/>
            <a:ext cx="4572000" cy="193548"/>
          </a:xfrm>
          <a:prstGeom prst="rect">
            <a:avLst/>
          </a:prstGeom>
          <a:noFill/>
        </p:spPr>
        <p:txBody>
          <a:bodyPr wrap="none" tIns="0" bIns="0" lIns="0" rIns="0" anchor="t">
            <a:spAutoFit/>
          </a:bodyPr>
          <a:lstStyle/>
          <a:p>
            <a:pPr>
              <a:lnSpc>
                <a:spcPts val="1024"/>
              </a:lnSpc>
              <a:spcBef>
                <a:spcPts val="0"/>
              </a:spcBef>
              <a:spcAft>
                <a:spcPts val="0"/>
              </a:spcAft>
            </a:pPr>
            <a:r>
              <a:rPr sz="800" b="0">
                <a:solidFill>
                  <a:srgbClr val="596C80"/>
                </a:solidFill>
                <a:latin typeface="Noto Sans"/>
              </a:rPr>
              <a:t>RELEASE ENGINEERING / PLATFORM WALKTHROUGH</a:t>
            </a:r>
          </a:p>
        </p:txBody>
      </p:sp>
      <p:sp>
        <p:nvSpPr>
          <p:cNvPr id="10" name="TextBox 9"/>
          <p:cNvSpPr txBox="1"/>
          <p:nvPr/>
        </p:nvSpPr>
        <p:spPr>
          <a:xfrm>
            <a:off x="10922000" y="6553200"/>
            <a:ext cx="736600" cy="209804"/>
          </a:xfrm>
          <a:prstGeom prst="rect">
            <a:avLst/>
          </a:prstGeom>
          <a:noFill/>
        </p:spPr>
        <p:txBody>
          <a:bodyPr wrap="none" tIns="0" bIns="0" lIns="0" rIns="0" anchor="t">
            <a:spAutoFit/>
          </a:bodyPr>
          <a:lstStyle/>
          <a:p>
            <a:pPr>
              <a:lnSpc>
                <a:spcPts val="1152"/>
              </a:lnSpc>
              <a:spcBef>
                <a:spcPts val="0"/>
              </a:spcBef>
              <a:spcAft>
                <a:spcPts val="0"/>
              </a:spcAft>
            </a:pPr>
            <a:r>
              <a:rPr sz="900" b="1">
                <a:solidFill>
                  <a:srgbClr val="596C80"/>
                </a:solidFill>
                <a:latin typeface="Noto Sans"/>
              </a:rPr>
              <a:t>11 / 16</a:t>
            </a:r>
          </a:p>
        </p:txBody>
      </p:sp>
      <p:sp>
        <p:nvSpPr>
          <p:cNvPr id="11" name="TextBox 10"/>
          <p:cNvSpPr txBox="1"/>
          <p:nvPr/>
        </p:nvSpPr>
        <p:spPr>
          <a:xfrm>
            <a:off x="584200" y="6210300"/>
            <a:ext cx="10414000" cy="193548"/>
          </a:xfrm>
          <a:prstGeom prst="rect">
            <a:avLst/>
          </a:prstGeom>
          <a:noFill/>
        </p:spPr>
        <p:txBody>
          <a:bodyPr wrap="none" tIns="0" bIns="0" lIns="0" rIns="0" anchor="t">
            <a:spAutoFit/>
          </a:bodyPr>
          <a:lstStyle/>
          <a:p>
            <a:pPr>
              <a:lnSpc>
                <a:spcPts val="1024"/>
              </a:lnSpc>
              <a:spcBef>
                <a:spcPts val="0"/>
              </a:spcBef>
              <a:spcAft>
                <a:spcPts val="0"/>
              </a:spcAft>
            </a:pPr>
            <a:r>
              <a:rPr sz="800" b="0">
                <a:solidFill>
                  <a:srgbClr val="596C80"/>
                </a:solidFill>
                <a:latin typeface="Noto Sans"/>
                <a:hlinkClick r:id="rId2"/>
              </a:rPr>
              <a:t>Evidence · Successful AWS update for commit 179ad20 · click to open</a:t>
            </a:r>
          </a:p>
        </p:txBody>
      </p:sp>
      <p:sp>
        <p:nvSpPr>
          <p:cNvPr id="12" name="Rounded Rectangle 11"/>
          <p:cNvSpPr/>
          <p:nvPr/>
        </p:nvSpPr>
        <p:spPr>
          <a:xfrm>
            <a:off x="584200" y="1993900"/>
            <a:ext cx="2222500" cy="317500"/>
          </a:xfrm>
          <a:prstGeom prst="roundRect">
            <a:avLst>
              <a:gd name="adj" fmla="val 20000"/>
            </a:avLst>
          </a:prstGeom>
          <a:solidFill>
            <a:srgbClr val="E8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1200" y="2057400"/>
            <a:ext cx="2032000" cy="226060"/>
          </a:xfrm>
          <a:prstGeom prst="rect">
            <a:avLst/>
          </a:prstGeom>
          <a:noFill/>
        </p:spPr>
        <p:txBody>
          <a:bodyPr wrap="none" tIns="0" bIns="0" lIns="0" rIns="0" anchor="t">
            <a:spAutoFit/>
          </a:bodyPr>
          <a:lstStyle/>
          <a:p>
            <a:pPr>
              <a:lnSpc>
                <a:spcPts val="1280"/>
              </a:lnSpc>
              <a:spcBef>
                <a:spcPts val="0"/>
              </a:spcBef>
              <a:spcAft>
                <a:spcPts val="0"/>
              </a:spcAft>
            </a:pPr>
            <a:r>
              <a:rPr sz="1000" b="1">
                <a:solidFill>
                  <a:srgbClr val="2463EB"/>
                </a:solidFill>
                <a:latin typeface="Noto Sans"/>
              </a:rPr>
              <a:t>BEFORE · 3ffe809</a:t>
            </a:r>
          </a:p>
        </p:txBody>
      </p:sp>
      <p:sp>
        <p:nvSpPr>
          <p:cNvPr id="14" name="Rounded Rectangle 13"/>
          <p:cNvSpPr/>
          <p:nvPr/>
        </p:nvSpPr>
        <p:spPr>
          <a:xfrm>
            <a:off x="6413500" y="1993900"/>
            <a:ext cx="2222500" cy="317500"/>
          </a:xfrm>
          <a:prstGeom prst="roundRect">
            <a:avLst>
              <a:gd name="adj" fmla="val 20000"/>
            </a:avLst>
          </a:prstGeom>
          <a:solidFill>
            <a:srgbClr val="E3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40500" y="2057400"/>
            <a:ext cx="2032000" cy="226060"/>
          </a:xfrm>
          <a:prstGeom prst="rect">
            <a:avLst/>
          </a:prstGeom>
          <a:noFill/>
        </p:spPr>
        <p:txBody>
          <a:bodyPr wrap="none" tIns="0" bIns="0" lIns="0" rIns="0" anchor="t">
            <a:spAutoFit/>
          </a:bodyPr>
          <a:lstStyle/>
          <a:p>
            <a:pPr>
              <a:lnSpc>
                <a:spcPts val="1280"/>
              </a:lnSpc>
              <a:spcBef>
                <a:spcPts val="0"/>
              </a:spcBef>
              <a:spcAft>
                <a:spcPts val="0"/>
              </a:spcAft>
            </a:pPr>
            <a:r>
              <a:rPr sz="1000" b="1">
                <a:solidFill>
                  <a:srgbClr val="087F76"/>
                </a:solidFill>
                <a:latin typeface="Noto Sans"/>
              </a:rPr>
              <a:t>AFTER · 179ad20</a:t>
            </a:r>
          </a:p>
        </p:txBody>
      </p:sp>
      <p:sp>
        <p:nvSpPr>
          <p:cNvPr id="16" name="Rounded Rectangle 15"/>
          <p:cNvSpPr/>
          <p:nvPr/>
        </p:nvSpPr>
        <p:spPr>
          <a:xfrm>
            <a:off x="571500" y="2476500"/>
            <a:ext cx="5219700" cy="3073400"/>
          </a:xfrm>
          <a:prstGeom prst="roundRect">
            <a:avLst>
              <a:gd name="adj" fmla="val 1239"/>
            </a:avLst>
          </a:prstGeom>
          <a:solidFill>
            <a:srgbClr val="FFFFFF"/>
          </a:solidFill>
          <a:ln w="889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aws-live-update-before.png">
            <a:hlinkClick r:id="rId4"/>
          </p:cNvPr>
          <p:cNvPicPr>
            <a:picLocks noChangeAspect="1"/>
          </p:cNvPicPr>
          <p:nvPr/>
        </p:nvPicPr>
        <p:blipFill>
          <a:blip r:embed="rId3"/>
          <a:stretch>
            <a:fillRect/>
          </a:stretch>
        </p:blipFill>
        <p:spPr>
          <a:xfrm>
            <a:off x="895350" y="2489200"/>
            <a:ext cx="4572000" cy="3048000"/>
          </a:xfrm>
          <a:prstGeom prst="rect">
            <a:avLst/>
          </a:prstGeom>
        </p:spPr>
      </p:pic>
      <p:sp>
        <p:nvSpPr>
          <p:cNvPr id="18" name="Rounded Rectangle 17"/>
          <p:cNvSpPr/>
          <p:nvPr/>
        </p:nvSpPr>
        <p:spPr>
          <a:xfrm>
            <a:off x="6400800" y="2476500"/>
            <a:ext cx="5219700" cy="3073400"/>
          </a:xfrm>
          <a:prstGeom prst="roundRect">
            <a:avLst>
              <a:gd name="adj" fmla="val 1239"/>
            </a:avLst>
          </a:prstGeom>
          <a:solidFill>
            <a:srgbClr val="FFFFFF"/>
          </a:solidFill>
          <a:ln w="889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aws-application-desktop.png">
            <a:hlinkClick r:id="rId6"/>
          </p:cNvPr>
          <p:cNvPicPr>
            <a:picLocks noChangeAspect="1"/>
          </p:cNvPicPr>
          <p:nvPr/>
        </p:nvPicPr>
        <p:blipFill>
          <a:blip r:embed="rId5"/>
          <a:stretch>
            <a:fillRect/>
          </a:stretch>
        </p:blipFill>
        <p:spPr>
          <a:xfrm>
            <a:off x="6724650" y="2489200"/>
            <a:ext cx="4572000" cy="3048000"/>
          </a:xfrm>
          <a:prstGeom prst="rect">
            <a:avLst/>
          </a:prstGeom>
        </p:spPr>
      </p:pic>
      <p:cxnSp>
        <p:nvCxnSpPr>
          <p:cNvPr id="20" name="Connector 19"/>
          <p:cNvCxnSpPr/>
          <p:nvPr/>
        </p:nvCxnSpPr>
        <p:spPr>
          <a:xfrm>
            <a:off x="5892800" y="3949700"/>
            <a:ext cx="393700" cy="0"/>
          </a:xfrm>
          <a:prstGeom prst="line">
            <a:avLst/>
          </a:prstGeom>
          <a:ln w="30480">
            <a:solidFill>
              <a:srgbClr val="087F7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6207646" y="3949700"/>
            <a:ext cx="78854" cy="41052"/>
          </a:xfrm>
          <a:prstGeom prst="line">
            <a:avLst/>
          </a:prstGeom>
          <a:ln w="30480">
            <a:solidFill>
              <a:srgbClr val="087F76"/>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flipV="1">
            <a:off x="6207646" y="3908647"/>
            <a:ext cx="78854" cy="41053"/>
          </a:xfrm>
          <a:prstGeom prst="line">
            <a:avLst/>
          </a:prstGeom>
          <a:ln w="30480">
            <a:solidFill>
              <a:srgbClr val="087F76"/>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84200" y="5778500"/>
            <a:ext cx="11023600" cy="291084"/>
          </a:xfrm>
          <a:prstGeom prst="rect">
            <a:avLst/>
          </a:prstGeom>
          <a:noFill/>
        </p:spPr>
        <p:txBody>
          <a:bodyPr wrap="none" tIns="0" bIns="0" lIns="0" rIns="0" anchor="t">
            <a:spAutoFit/>
          </a:bodyPr>
          <a:lstStyle/>
          <a:p>
            <a:pPr>
              <a:lnSpc>
                <a:spcPts val="1792"/>
              </a:lnSpc>
              <a:spcBef>
                <a:spcPts val="0"/>
              </a:spcBef>
              <a:spcAft>
                <a:spcPts val="0"/>
              </a:spcAft>
            </a:pPr>
            <a:r>
              <a:rPr sz="1400" b="1">
                <a:solidFill>
                  <a:srgbClr val="15243A"/>
                </a:solidFill>
                <a:latin typeface="Noto Sans"/>
              </a:rPr>
              <a:t>Commit </a:t>
            </a:r>
            <a:r>
              <a:rPr sz="1400" b="1">
                <a:solidFill>
                  <a:srgbClr val="15243A"/>
                </a:solidFill>
                <a:latin typeface="DejaVu Sans"/>
              </a:rPr>
              <a:t>→</a:t>
            </a:r>
            <a:r>
              <a:rPr sz="1400" b="1">
                <a:solidFill>
                  <a:srgbClr val="15243A"/>
                </a:solidFill>
                <a:latin typeface="Noto Sans"/>
              </a:rPr>
              <a:t> tests </a:t>
            </a:r>
            <a:r>
              <a:rPr sz="1400" b="1">
                <a:solidFill>
                  <a:srgbClr val="15243A"/>
                </a:solidFill>
                <a:latin typeface="DejaVu Sans"/>
              </a:rPr>
              <a:t>→</a:t>
            </a:r>
            <a:r>
              <a:rPr sz="1400" b="1">
                <a:solidFill>
                  <a:srgbClr val="15243A"/>
                </a:solidFill>
                <a:latin typeface="Noto Sans"/>
              </a:rPr>
              <a:t> build </a:t>
            </a:r>
            <a:r>
              <a:rPr sz="1400" b="1">
                <a:solidFill>
                  <a:srgbClr val="15243A"/>
                </a:solidFill>
                <a:latin typeface="DejaVu Sans"/>
              </a:rPr>
              <a:t>→</a:t>
            </a:r>
            <a:r>
              <a:rPr sz="1400" b="1">
                <a:solidFill>
                  <a:srgbClr val="15243A"/>
                </a:solidFill>
                <a:latin typeface="Noto Sans"/>
              </a:rPr>
              <a:t> scan </a:t>
            </a:r>
            <a:r>
              <a:rPr sz="1400" b="1">
                <a:solidFill>
                  <a:srgbClr val="15243A"/>
                </a:solidFill>
                <a:latin typeface="DejaVu Sans"/>
              </a:rPr>
              <a:t>→</a:t>
            </a:r>
            <a:r>
              <a:rPr sz="1400" b="1">
                <a:solidFill>
                  <a:srgbClr val="15243A"/>
                </a:solidFill>
                <a:latin typeface="Noto Sans"/>
              </a:rPr>
              <a:t> SHA-tagged GHCR images </a:t>
            </a:r>
            <a:r>
              <a:rPr sz="1400" b="1">
                <a:solidFill>
                  <a:srgbClr val="15243A"/>
                </a:solidFill>
                <a:latin typeface="DejaVu Sans"/>
              </a:rPr>
              <a:t>→</a:t>
            </a:r>
            <a:r>
              <a:rPr sz="1400" b="1">
                <a:solidFill>
                  <a:srgbClr val="15243A"/>
                </a:solidFill>
                <a:latin typeface="Noto Sans"/>
              </a:rPr>
              <a:t> OIDC / Helm </a:t>
            </a:r>
            <a:r>
              <a:rPr sz="1400" b="1">
                <a:solidFill>
                  <a:srgbClr val="15243A"/>
                </a:solidFill>
                <a:latin typeface="DejaVu Sans"/>
              </a:rPr>
              <a:t>→</a:t>
            </a:r>
            <a:r>
              <a:rPr sz="1400" b="1">
                <a:solidFill>
                  <a:srgbClr val="15243A"/>
                </a:solidFill>
                <a:latin typeface="Noto Sans"/>
              </a:rPr>
              <a:t> visible update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79400"/>
            <a:ext cx="4445000" cy="209804"/>
          </a:xfrm>
          <a:prstGeom prst="rect">
            <a:avLst/>
          </a:prstGeom>
          <a:noFill/>
        </p:spPr>
        <p:txBody>
          <a:bodyPr wrap="none" tIns="0" bIns="0" lIns="0" rIns="0" anchor="t">
            <a:spAutoFit/>
          </a:bodyPr>
          <a:lstStyle/>
          <a:p>
            <a:pPr>
              <a:lnSpc>
                <a:spcPts val="1152"/>
              </a:lnSpc>
              <a:spcBef>
                <a:spcPts val="0"/>
              </a:spcBef>
              <a:spcAft>
                <a:spcPts val="0"/>
              </a:spcAft>
            </a:pPr>
            <a:r>
              <a:rPr sz="900" b="1">
                <a:solidFill>
                  <a:srgbClr val="596C80"/>
                </a:solidFill>
                <a:latin typeface="Noto Sans"/>
              </a:rPr>
              <a:t>RH / RELEASE HELPDESK</a:t>
            </a:r>
          </a:p>
        </p:txBody>
      </p:sp>
      <p:sp>
        <p:nvSpPr>
          <p:cNvPr id="4" name="TextBox 3"/>
          <p:cNvSpPr txBox="1"/>
          <p:nvPr/>
        </p:nvSpPr>
        <p:spPr>
          <a:xfrm>
            <a:off x="8763000" y="279400"/>
            <a:ext cx="2857500" cy="209804"/>
          </a:xfrm>
          <a:prstGeom prst="rect">
            <a:avLst/>
          </a:prstGeom>
          <a:noFill/>
        </p:spPr>
        <p:txBody>
          <a:bodyPr wrap="none" tIns="0" bIns="0" lIns="0" rIns="0" anchor="t">
            <a:spAutoFit/>
          </a:bodyPr>
          <a:lstStyle/>
          <a:p>
            <a:pPr>
              <a:lnSpc>
                <a:spcPts val="1152"/>
              </a:lnSpc>
              <a:spcBef>
                <a:spcPts val="0"/>
              </a:spcBef>
              <a:spcAft>
                <a:spcPts val="0"/>
              </a:spcAft>
            </a:pPr>
            <a:r>
              <a:rPr sz="900" b="1">
                <a:solidFill>
                  <a:srgbClr val="596C80"/>
                </a:solidFill>
                <a:latin typeface="Noto Sans"/>
              </a:rPr>
              <a:t>11 / AUTOSCALING</a:t>
            </a:r>
          </a:p>
        </p:txBody>
      </p:sp>
      <p:sp>
        <p:nvSpPr>
          <p:cNvPr id="5" name="Rectangle 4"/>
          <p:cNvSpPr/>
          <p:nvPr/>
        </p:nvSpPr>
        <p:spPr>
          <a:xfrm>
            <a:off x="584200" y="660400"/>
            <a:ext cx="355600" cy="38100"/>
          </a:xfrm>
          <a:prstGeom prst="rect">
            <a:avLst/>
          </a:prstGeom>
          <a:solidFill>
            <a:srgbClr val="24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84200" y="876300"/>
            <a:ext cx="11049000" cy="508380"/>
          </a:xfrm>
          <a:prstGeom prst="rect">
            <a:avLst/>
          </a:prstGeom>
          <a:noFill/>
        </p:spPr>
        <p:txBody>
          <a:bodyPr wrap="none" tIns="0" bIns="0" lIns="0" rIns="0" anchor="t">
            <a:spAutoFit/>
          </a:bodyPr>
          <a:lstStyle/>
          <a:p>
            <a:pPr>
              <a:lnSpc>
                <a:spcPts val="3502"/>
              </a:lnSpc>
              <a:spcBef>
                <a:spcPts val="0"/>
              </a:spcBef>
              <a:spcAft>
                <a:spcPts val="0"/>
              </a:spcAft>
            </a:pPr>
            <a:r>
              <a:rPr sz="3100" b="1">
                <a:solidFill>
                  <a:srgbClr val="15243A"/>
                </a:solidFill>
                <a:latin typeface="Noto Sans"/>
              </a:rPr>
              <a:t>CPU demand produced real scaling and recovery.</a:t>
            </a:r>
          </a:p>
        </p:txBody>
      </p:sp>
      <p:sp>
        <p:nvSpPr>
          <p:cNvPr id="7" name="TextBox 6"/>
          <p:cNvSpPr txBox="1"/>
          <p:nvPr/>
        </p:nvSpPr>
        <p:spPr>
          <a:xfrm>
            <a:off x="584200" y="1473200"/>
            <a:ext cx="10985500" cy="258572"/>
          </a:xfrm>
          <a:prstGeom prst="rect">
            <a:avLst/>
          </a:prstGeom>
          <a:noFill/>
        </p:spPr>
        <p:txBody>
          <a:bodyPr wrap="none" tIns="0" bIns="0" lIns="0" rIns="0" anchor="t">
            <a:spAutoFit/>
          </a:bodyPr>
          <a:lstStyle/>
          <a:p>
            <a:pPr>
              <a:lnSpc>
                <a:spcPts val="1536"/>
              </a:lnSpc>
              <a:spcBef>
                <a:spcPts val="0"/>
              </a:spcBef>
              <a:spcAft>
                <a:spcPts val="0"/>
              </a:spcAft>
            </a:pPr>
            <a:r>
              <a:rPr sz="1200" b="0">
                <a:solidFill>
                  <a:srgbClr val="596C80"/>
                </a:solidFill>
                <a:latin typeface="Noto Sans"/>
              </a:rPr>
              <a:t>Observed on AWS: ready backend replicas increased under load, then recovered automatically.</a:t>
            </a:r>
          </a:p>
        </p:txBody>
      </p:sp>
      <p:cxnSp>
        <p:nvCxnSpPr>
          <p:cNvPr id="8" name="Connector 7"/>
          <p:cNvCxnSpPr/>
          <p:nvPr/>
        </p:nvCxnSpPr>
        <p:spPr>
          <a:xfrm>
            <a:off x="584200" y="6438900"/>
            <a:ext cx="11023600" cy="0"/>
          </a:xfrm>
          <a:prstGeom prst="line">
            <a:avLst/>
          </a:prstGeom>
          <a:ln w="10160">
            <a:solidFill>
              <a:srgbClr val="DCE4ED"/>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84200" y="6578600"/>
            <a:ext cx="4572000" cy="193548"/>
          </a:xfrm>
          <a:prstGeom prst="rect">
            <a:avLst/>
          </a:prstGeom>
          <a:noFill/>
        </p:spPr>
        <p:txBody>
          <a:bodyPr wrap="none" tIns="0" bIns="0" lIns="0" rIns="0" anchor="t">
            <a:spAutoFit/>
          </a:bodyPr>
          <a:lstStyle/>
          <a:p>
            <a:pPr>
              <a:lnSpc>
                <a:spcPts val="1024"/>
              </a:lnSpc>
              <a:spcBef>
                <a:spcPts val="0"/>
              </a:spcBef>
              <a:spcAft>
                <a:spcPts val="0"/>
              </a:spcAft>
            </a:pPr>
            <a:r>
              <a:rPr sz="800" b="0">
                <a:solidFill>
                  <a:srgbClr val="596C80"/>
                </a:solidFill>
                <a:latin typeface="Noto Sans"/>
              </a:rPr>
              <a:t>RELEASE ENGINEERING / PLATFORM WALKTHROUGH</a:t>
            </a:r>
          </a:p>
        </p:txBody>
      </p:sp>
      <p:sp>
        <p:nvSpPr>
          <p:cNvPr id="10" name="TextBox 9"/>
          <p:cNvSpPr txBox="1"/>
          <p:nvPr/>
        </p:nvSpPr>
        <p:spPr>
          <a:xfrm>
            <a:off x="10922000" y="6553200"/>
            <a:ext cx="736600" cy="209804"/>
          </a:xfrm>
          <a:prstGeom prst="rect">
            <a:avLst/>
          </a:prstGeom>
          <a:noFill/>
        </p:spPr>
        <p:txBody>
          <a:bodyPr wrap="none" tIns="0" bIns="0" lIns="0" rIns="0" anchor="t">
            <a:spAutoFit/>
          </a:bodyPr>
          <a:lstStyle/>
          <a:p>
            <a:pPr>
              <a:lnSpc>
                <a:spcPts val="1152"/>
              </a:lnSpc>
              <a:spcBef>
                <a:spcPts val="0"/>
              </a:spcBef>
              <a:spcAft>
                <a:spcPts val="0"/>
              </a:spcAft>
            </a:pPr>
            <a:r>
              <a:rPr sz="900" b="1">
                <a:solidFill>
                  <a:srgbClr val="596C80"/>
                </a:solidFill>
                <a:latin typeface="Noto Sans"/>
              </a:rPr>
              <a:t>12 / 16</a:t>
            </a:r>
          </a:p>
        </p:txBody>
      </p:sp>
      <p:sp>
        <p:nvSpPr>
          <p:cNvPr id="11" name="TextBox 10"/>
          <p:cNvSpPr txBox="1"/>
          <p:nvPr/>
        </p:nvSpPr>
        <p:spPr>
          <a:xfrm>
            <a:off x="584200" y="6210300"/>
            <a:ext cx="10414000" cy="193548"/>
          </a:xfrm>
          <a:prstGeom prst="rect">
            <a:avLst/>
          </a:prstGeom>
          <a:noFill/>
        </p:spPr>
        <p:txBody>
          <a:bodyPr wrap="none" tIns="0" bIns="0" lIns="0" rIns="0" anchor="t">
            <a:spAutoFit/>
          </a:bodyPr>
          <a:lstStyle/>
          <a:p>
            <a:pPr>
              <a:lnSpc>
                <a:spcPts val="1024"/>
              </a:lnSpc>
              <a:spcBef>
                <a:spcPts val="0"/>
              </a:spcBef>
              <a:spcAft>
                <a:spcPts val="0"/>
              </a:spcAft>
            </a:pPr>
            <a:r>
              <a:rPr sz="800" b="0">
                <a:solidFill>
                  <a:srgbClr val="596C80"/>
                </a:solidFill>
                <a:latin typeface="Noto Sans"/>
                <a:hlinkClick r:id="rId2"/>
              </a:rPr>
              <a:t>Evidence · Chart drawn from actual timestamped HPA observations</a:t>
            </a:r>
          </a:p>
        </p:txBody>
      </p:sp>
      <p:sp>
        <p:nvSpPr>
          <p:cNvPr id="12" name="Rounded Rectangle 11"/>
          <p:cNvSpPr/>
          <p:nvPr/>
        </p:nvSpPr>
        <p:spPr>
          <a:xfrm>
            <a:off x="584200" y="2019300"/>
            <a:ext cx="7366000" cy="3556000"/>
          </a:xfrm>
          <a:prstGeom prst="roundRect">
            <a:avLst>
              <a:gd name="adj" fmla="val 2500"/>
            </a:avLst>
          </a:prstGeom>
          <a:solidFill>
            <a:srgbClr val="FFFFFF"/>
          </a:solidFill>
          <a:ln w="889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5500" y="2222500"/>
            <a:ext cx="6350000" cy="226060"/>
          </a:xfrm>
          <a:prstGeom prst="rect">
            <a:avLst/>
          </a:prstGeom>
          <a:noFill/>
        </p:spPr>
        <p:txBody>
          <a:bodyPr wrap="none" tIns="0" bIns="0" lIns="0" rIns="0" anchor="t">
            <a:spAutoFit/>
          </a:bodyPr>
          <a:lstStyle/>
          <a:p>
            <a:pPr>
              <a:lnSpc>
                <a:spcPts val="1280"/>
              </a:lnSpc>
              <a:spcBef>
                <a:spcPts val="0"/>
              </a:spcBef>
              <a:spcAft>
                <a:spcPts val="0"/>
              </a:spcAft>
            </a:pPr>
            <a:r>
              <a:rPr sz="1000" b="1">
                <a:solidFill>
                  <a:srgbClr val="2463EB"/>
                </a:solidFill>
                <a:latin typeface="Noto Sans"/>
              </a:rPr>
              <a:t>READY BACKEND REPLICAS</a:t>
            </a:r>
          </a:p>
        </p:txBody>
      </p:sp>
      <p:cxnSp>
        <p:nvCxnSpPr>
          <p:cNvPr id="14" name="Connector 13"/>
          <p:cNvCxnSpPr/>
          <p:nvPr/>
        </p:nvCxnSpPr>
        <p:spPr>
          <a:xfrm>
            <a:off x="1168400" y="4229100"/>
            <a:ext cx="6375400" cy="0"/>
          </a:xfrm>
          <a:prstGeom prst="line">
            <a:avLst/>
          </a:prstGeom>
          <a:ln w="10160">
            <a:solidFill>
              <a:srgbClr val="DCE4ED"/>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63600" y="4127500"/>
            <a:ext cx="279400" cy="242315"/>
          </a:xfrm>
          <a:prstGeom prst="rect">
            <a:avLst/>
          </a:prstGeom>
          <a:noFill/>
        </p:spPr>
        <p:txBody>
          <a:bodyPr wrap="none" tIns="0" bIns="0" lIns="0" rIns="0" anchor="t">
            <a:spAutoFit/>
          </a:bodyPr>
          <a:lstStyle/>
          <a:p>
            <a:pPr>
              <a:lnSpc>
                <a:spcPts val="1408"/>
              </a:lnSpc>
              <a:spcBef>
                <a:spcPts val="0"/>
              </a:spcBef>
              <a:spcAft>
                <a:spcPts val="0"/>
              </a:spcAft>
            </a:pPr>
            <a:r>
              <a:rPr sz="1100" b="0">
                <a:solidFill>
                  <a:srgbClr val="596C80"/>
                </a:solidFill>
                <a:latin typeface="Noto Sans"/>
              </a:rPr>
              <a:t>2</a:t>
            </a:r>
          </a:p>
        </p:txBody>
      </p:sp>
      <p:cxnSp>
        <p:nvCxnSpPr>
          <p:cNvPr id="16" name="Connector 15"/>
          <p:cNvCxnSpPr/>
          <p:nvPr/>
        </p:nvCxnSpPr>
        <p:spPr>
          <a:xfrm>
            <a:off x="1168400" y="3492500"/>
            <a:ext cx="6375400" cy="0"/>
          </a:xfrm>
          <a:prstGeom prst="line">
            <a:avLst/>
          </a:prstGeom>
          <a:ln w="10160">
            <a:solidFill>
              <a:srgbClr val="DCE4ED"/>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63600" y="3390900"/>
            <a:ext cx="279400" cy="242315"/>
          </a:xfrm>
          <a:prstGeom prst="rect">
            <a:avLst/>
          </a:prstGeom>
          <a:noFill/>
        </p:spPr>
        <p:txBody>
          <a:bodyPr wrap="none" tIns="0" bIns="0" lIns="0" rIns="0" anchor="t">
            <a:spAutoFit/>
          </a:bodyPr>
          <a:lstStyle/>
          <a:p>
            <a:pPr>
              <a:lnSpc>
                <a:spcPts val="1408"/>
              </a:lnSpc>
              <a:spcBef>
                <a:spcPts val="0"/>
              </a:spcBef>
              <a:spcAft>
                <a:spcPts val="0"/>
              </a:spcAft>
            </a:pPr>
            <a:r>
              <a:rPr sz="1100" b="0">
                <a:solidFill>
                  <a:srgbClr val="596C80"/>
                </a:solidFill>
                <a:latin typeface="Noto Sans"/>
              </a:rPr>
              <a:t>3</a:t>
            </a:r>
          </a:p>
        </p:txBody>
      </p:sp>
      <p:cxnSp>
        <p:nvCxnSpPr>
          <p:cNvPr id="18" name="Connector 17"/>
          <p:cNvCxnSpPr/>
          <p:nvPr/>
        </p:nvCxnSpPr>
        <p:spPr>
          <a:xfrm>
            <a:off x="1168400" y="2755900"/>
            <a:ext cx="6375400" cy="0"/>
          </a:xfrm>
          <a:prstGeom prst="line">
            <a:avLst/>
          </a:prstGeom>
          <a:ln w="10160">
            <a:solidFill>
              <a:srgbClr val="DCE4ED"/>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63600" y="2654300"/>
            <a:ext cx="279400" cy="242315"/>
          </a:xfrm>
          <a:prstGeom prst="rect">
            <a:avLst/>
          </a:prstGeom>
          <a:noFill/>
        </p:spPr>
        <p:txBody>
          <a:bodyPr wrap="none" tIns="0" bIns="0" lIns="0" rIns="0" anchor="t">
            <a:spAutoFit/>
          </a:bodyPr>
          <a:lstStyle/>
          <a:p>
            <a:pPr>
              <a:lnSpc>
                <a:spcPts val="1408"/>
              </a:lnSpc>
              <a:spcBef>
                <a:spcPts val="0"/>
              </a:spcBef>
              <a:spcAft>
                <a:spcPts val="0"/>
              </a:spcAft>
            </a:pPr>
            <a:r>
              <a:rPr sz="1100" b="0">
                <a:solidFill>
                  <a:srgbClr val="596C80"/>
                </a:solidFill>
                <a:latin typeface="Noto Sans"/>
              </a:rPr>
              <a:t>4</a:t>
            </a:r>
          </a:p>
        </p:txBody>
      </p:sp>
      <p:cxnSp>
        <p:nvCxnSpPr>
          <p:cNvPr id="20" name="Connector 19"/>
          <p:cNvCxnSpPr/>
          <p:nvPr/>
        </p:nvCxnSpPr>
        <p:spPr>
          <a:xfrm>
            <a:off x="1168400" y="2755900"/>
            <a:ext cx="0" cy="2209800"/>
          </a:xfrm>
          <a:prstGeom prst="line">
            <a:avLst/>
          </a:prstGeom>
          <a:ln w="10160">
            <a:solidFill>
              <a:srgbClr val="596C8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168400" y="4965700"/>
            <a:ext cx="6375400" cy="0"/>
          </a:xfrm>
          <a:prstGeom prst="line">
            <a:avLst/>
          </a:prstGeom>
          <a:ln w="10160">
            <a:solidFill>
              <a:srgbClr val="596C80"/>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1041400" y="5067300"/>
            <a:ext cx="482600" cy="209804"/>
          </a:xfrm>
          <a:prstGeom prst="rect">
            <a:avLst/>
          </a:prstGeom>
          <a:noFill/>
        </p:spPr>
        <p:txBody>
          <a:bodyPr wrap="none" tIns="0" bIns="0" lIns="0" rIns="0" anchor="t">
            <a:spAutoFit/>
          </a:bodyPr>
          <a:lstStyle/>
          <a:p>
            <a:pPr>
              <a:lnSpc>
                <a:spcPts val="1152"/>
              </a:lnSpc>
              <a:spcBef>
                <a:spcPts val="0"/>
              </a:spcBef>
              <a:spcAft>
                <a:spcPts val="0"/>
              </a:spcAft>
            </a:pPr>
            <a:r>
              <a:rPr sz="900" b="0">
                <a:solidFill>
                  <a:srgbClr val="596C80"/>
                </a:solidFill>
                <a:latin typeface="Noto Sans"/>
              </a:rPr>
              <a:t>0</a:t>
            </a:r>
          </a:p>
        </p:txBody>
      </p:sp>
      <p:sp>
        <p:nvSpPr>
          <p:cNvPr id="23" name="TextBox 22"/>
          <p:cNvSpPr txBox="1"/>
          <p:nvPr/>
        </p:nvSpPr>
        <p:spPr>
          <a:xfrm>
            <a:off x="2103966" y="5067300"/>
            <a:ext cx="482600" cy="209804"/>
          </a:xfrm>
          <a:prstGeom prst="rect">
            <a:avLst/>
          </a:prstGeom>
          <a:noFill/>
        </p:spPr>
        <p:txBody>
          <a:bodyPr wrap="none" tIns="0" bIns="0" lIns="0" rIns="0" anchor="t">
            <a:spAutoFit/>
          </a:bodyPr>
          <a:lstStyle/>
          <a:p>
            <a:pPr>
              <a:lnSpc>
                <a:spcPts val="1152"/>
              </a:lnSpc>
              <a:spcBef>
                <a:spcPts val="0"/>
              </a:spcBef>
              <a:spcAft>
                <a:spcPts val="0"/>
              </a:spcAft>
            </a:pPr>
            <a:r>
              <a:rPr sz="900" b="0">
                <a:solidFill>
                  <a:srgbClr val="596C80"/>
                </a:solidFill>
                <a:latin typeface="Noto Sans"/>
              </a:rPr>
              <a:t>60</a:t>
            </a:r>
          </a:p>
        </p:txBody>
      </p:sp>
      <p:sp>
        <p:nvSpPr>
          <p:cNvPr id="24" name="TextBox 23"/>
          <p:cNvSpPr txBox="1"/>
          <p:nvPr/>
        </p:nvSpPr>
        <p:spPr>
          <a:xfrm>
            <a:off x="3166533" y="5067300"/>
            <a:ext cx="482600" cy="209804"/>
          </a:xfrm>
          <a:prstGeom prst="rect">
            <a:avLst/>
          </a:prstGeom>
          <a:noFill/>
        </p:spPr>
        <p:txBody>
          <a:bodyPr wrap="none" tIns="0" bIns="0" lIns="0" rIns="0" anchor="t">
            <a:spAutoFit/>
          </a:bodyPr>
          <a:lstStyle/>
          <a:p>
            <a:pPr>
              <a:lnSpc>
                <a:spcPts val="1152"/>
              </a:lnSpc>
              <a:spcBef>
                <a:spcPts val="0"/>
              </a:spcBef>
              <a:spcAft>
                <a:spcPts val="0"/>
              </a:spcAft>
            </a:pPr>
            <a:r>
              <a:rPr sz="900" b="0">
                <a:solidFill>
                  <a:srgbClr val="596C80"/>
                </a:solidFill>
                <a:latin typeface="Noto Sans"/>
              </a:rPr>
              <a:t>120</a:t>
            </a:r>
          </a:p>
        </p:txBody>
      </p:sp>
      <p:sp>
        <p:nvSpPr>
          <p:cNvPr id="25" name="TextBox 24"/>
          <p:cNvSpPr txBox="1"/>
          <p:nvPr/>
        </p:nvSpPr>
        <p:spPr>
          <a:xfrm>
            <a:off x="4229100" y="5067300"/>
            <a:ext cx="482600" cy="209804"/>
          </a:xfrm>
          <a:prstGeom prst="rect">
            <a:avLst/>
          </a:prstGeom>
          <a:noFill/>
        </p:spPr>
        <p:txBody>
          <a:bodyPr wrap="none" tIns="0" bIns="0" lIns="0" rIns="0" anchor="t">
            <a:spAutoFit/>
          </a:bodyPr>
          <a:lstStyle/>
          <a:p>
            <a:pPr>
              <a:lnSpc>
                <a:spcPts val="1152"/>
              </a:lnSpc>
              <a:spcBef>
                <a:spcPts val="0"/>
              </a:spcBef>
              <a:spcAft>
                <a:spcPts val="0"/>
              </a:spcAft>
            </a:pPr>
            <a:r>
              <a:rPr sz="900" b="0">
                <a:solidFill>
                  <a:srgbClr val="596C80"/>
                </a:solidFill>
                <a:latin typeface="Noto Sans"/>
              </a:rPr>
              <a:t>180</a:t>
            </a:r>
          </a:p>
        </p:txBody>
      </p:sp>
      <p:sp>
        <p:nvSpPr>
          <p:cNvPr id="26" name="TextBox 25"/>
          <p:cNvSpPr txBox="1"/>
          <p:nvPr/>
        </p:nvSpPr>
        <p:spPr>
          <a:xfrm>
            <a:off x="5291666" y="5067300"/>
            <a:ext cx="482600" cy="209804"/>
          </a:xfrm>
          <a:prstGeom prst="rect">
            <a:avLst/>
          </a:prstGeom>
          <a:noFill/>
        </p:spPr>
        <p:txBody>
          <a:bodyPr wrap="none" tIns="0" bIns="0" lIns="0" rIns="0" anchor="t">
            <a:spAutoFit/>
          </a:bodyPr>
          <a:lstStyle/>
          <a:p>
            <a:pPr>
              <a:lnSpc>
                <a:spcPts val="1152"/>
              </a:lnSpc>
              <a:spcBef>
                <a:spcPts val="0"/>
              </a:spcBef>
              <a:spcAft>
                <a:spcPts val="0"/>
              </a:spcAft>
            </a:pPr>
            <a:r>
              <a:rPr sz="900" b="0">
                <a:solidFill>
                  <a:srgbClr val="596C80"/>
                </a:solidFill>
                <a:latin typeface="Noto Sans"/>
              </a:rPr>
              <a:t>240</a:t>
            </a:r>
          </a:p>
        </p:txBody>
      </p:sp>
      <p:sp>
        <p:nvSpPr>
          <p:cNvPr id="27" name="TextBox 26"/>
          <p:cNvSpPr txBox="1"/>
          <p:nvPr/>
        </p:nvSpPr>
        <p:spPr>
          <a:xfrm>
            <a:off x="6354233" y="5067300"/>
            <a:ext cx="482600" cy="209804"/>
          </a:xfrm>
          <a:prstGeom prst="rect">
            <a:avLst/>
          </a:prstGeom>
          <a:noFill/>
        </p:spPr>
        <p:txBody>
          <a:bodyPr wrap="none" tIns="0" bIns="0" lIns="0" rIns="0" anchor="t">
            <a:spAutoFit/>
          </a:bodyPr>
          <a:lstStyle/>
          <a:p>
            <a:pPr>
              <a:lnSpc>
                <a:spcPts val="1152"/>
              </a:lnSpc>
              <a:spcBef>
                <a:spcPts val="0"/>
              </a:spcBef>
              <a:spcAft>
                <a:spcPts val="0"/>
              </a:spcAft>
            </a:pPr>
            <a:r>
              <a:rPr sz="900" b="0">
                <a:solidFill>
                  <a:srgbClr val="596C80"/>
                </a:solidFill>
                <a:latin typeface="Noto Sans"/>
              </a:rPr>
              <a:t>300</a:t>
            </a:r>
          </a:p>
        </p:txBody>
      </p:sp>
      <p:sp>
        <p:nvSpPr>
          <p:cNvPr id="28" name="TextBox 27"/>
          <p:cNvSpPr txBox="1"/>
          <p:nvPr/>
        </p:nvSpPr>
        <p:spPr>
          <a:xfrm>
            <a:off x="7416800" y="5067300"/>
            <a:ext cx="482600" cy="209804"/>
          </a:xfrm>
          <a:prstGeom prst="rect">
            <a:avLst/>
          </a:prstGeom>
          <a:noFill/>
        </p:spPr>
        <p:txBody>
          <a:bodyPr wrap="none" tIns="0" bIns="0" lIns="0" rIns="0" anchor="t">
            <a:spAutoFit/>
          </a:bodyPr>
          <a:lstStyle/>
          <a:p>
            <a:pPr>
              <a:lnSpc>
                <a:spcPts val="1152"/>
              </a:lnSpc>
              <a:spcBef>
                <a:spcPts val="0"/>
              </a:spcBef>
              <a:spcAft>
                <a:spcPts val="0"/>
              </a:spcAft>
            </a:pPr>
            <a:r>
              <a:rPr sz="900" b="0">
                <a:solidFill>
                  <a:srgbClr val="596C80"/>
                </a:solidFill>
                <a:latin typeface="Noto Sans"/>
              </a:rPr>
              <a:t>360</a:t>
            </a:r>
          </a:p>
        </p:txBody>
      </p:sp>
      <p:sp>
        <p:nvSpPr>
          <p:cNvPr id="29" name="TextBox 28"/>
          <p:cNvSpPr txBox="1"/>
          <p:nvPr/>
        </p:nvSpPr>
        <p:spPr>
          <a:xfrm>
            <a:off x="2425700" y="5308600"/>
            <a:ext cx="5080000" cy="209804"/>
          </a:xfrm>
          <a:prstGeom prst="rect">
            <a:avLst/>
          </a:prstGeom>
          <a:noFill/>
        </p:spPr>
        <p:txBody>
          <a:bodyPr wrap="none" tIns="0" bIns="0" lIns="0" rIns="0" anchor="t">
            <a:spAutoFit/>
          </a:bodyPr>
          <a:lstStyle/>
          <a:p>
            <a:pPr>
              <a:lnSpc>
                <a:spcPts val="1152"/>
              </a:lnSpc>
              <a:spcBef>
                <a:spcPts val="0"/>
              </a:spcBef>
              <a:spcAft>
                <a:spcPts val="0"/>
              </a:spcAft>
            </a:pPr>
            <a:r>
              <a:rPr sz="900" b="0">
                <a:solidFill>
                  <a:srgbClr val="596C80"/>
                </a:solidFill>
                <a:latin typeface="Noto Sans"/>
              </a:rPr>
              <a:t>Elapsed seconds · sampled observations</a:t>
            </a:r>
          </a:p>
        </p:txBody>
      </p:sp>
      <p:cxnSp>
        <p:nvCxnSpPr>
          <p:cNvPr id="30" name="Connector 29"/>
          <p:cNvCxnSpPr/>
          <p:nvPr/>
        </p:nvCxnSpPr>
        <p:spPr>
          <a:xfrm>
            <a:off x="1235695" y="4229100"/>
            <a:ext cx="214285" cy="0"/>
          </a:xfrm>
          <a:prstGeom prst="line">
            <a:avLst/>
          </a:prstGeom>
          <a:ln w="31750">
            <a:solidFill>
              <a:srgbClr val="2463EB"/>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449980" y="4229100"/>
            <a:ext cx="0" cy="0"/>
          </a:xfrm>
          <a:prstGeom prst="line">
            <a:avLst/>
          </a:prstGeom>
          <a:ln w="31750">
            <a:solidFill>
              <a:srgbClr val="2463EB"/>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449980" y="4229100"/>
            <a:ext cx="162927" cy="0"/>
          </a:xfrm>
          <a:prstGeom prst="line">
            <a:avLst/>
          </a:prstGeom>
          <a:ln w="31750">
            <a:solidFill>
              <a:srgbClr val="2463EB"/>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612907" y="4229100"/>
            <a:ext cx="0" cy="0"/>
          </a:xfrm>
          <a:prstGeom prst="line">
            <a:avLst/>
          </a:prstGeom>
          <a:ln w="31750">
            <a:solidFill>
              <a:srgbClr val="2463EB"/>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612907" y="4229100"/>
            <a:ext cx="159385" cy="0"/>
          </a:xfrm>
          <a:prstGeom prst="line">
            <a:avLst/>
          </a:prstGeom>
          <a:ln w="31750">
            <a:solidFill>
              <a:srgbClr val="2463EB"/>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772292" y="4229100"/>
            <a:ext cx="0" cy="0"/>
          </a:xfrm>
          <a:prstGeom prst="line">
            <a:avLst/>
          </a:prstGeom>
          <a:ln w="31750">
            <a:solidFill>
              <a:srgbClr val="2463EB"/>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772292" y="4229100"/>
            <a:ext cx="162926" cy="0"/>
          </a:xfrm>
          <a:prstGeom prst="line">
            <a:avLst/>
          </a:prstGeom>
          <a:ln w="31750">
            <a:solidFill>
              <a:srgbClr val="2463EB"/>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1935218" y="3492500"/>
            <a:ext cx="0" cy="736600"/>
          </a:xfrm>
          <a:prstGeom prst="line">
            <a:avLst/>
          </a:prstGeom>
          <a:ln w="31750">
            <a:solidFill>
              <a:srgbClr val="2463EB"/>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935218" y="3492500"/>
            <a:ext cx="148760" cy="0"/>
          </a:xfrm>
          <a:prstGeom prst="line">
            <a:avLst/>
          </a:prstGeom>
          <a:ln w="31750">
            <a:solidFill>
              <a:srgbClr val="2463EB"/>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2083978" y="2755900"/>
            <a:ext cx="0" cy="736600"/>
          </a:xfrm>
          <a:prstGeom prst="line">
            <a:avLst/>
          </a:prstGeom>
          <a:ln w="31750">
            <a:solidFill>
              <a:srgbClr val="2463EB"/>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2083978" y="2755900"/>
            <a:ext cx="182407" cy="0"/>
          </a:xfrm>
          <a:prstGeom prst="line">
            <a:avLst/>
          </a:prstGeom>
          <a:ln w="31750">
            <a:solidFill>
              <a:srgbClr val="2463EB"/>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2266385" y="2755900"/>
            <a:ext cx="0" cy="0"/>
          </a:xfrm>
          <a:prstGeom prst="line">
            <a:avLst/>
          </a:prstGeom>
          <a:ln w="31750">
            <a:solidFill>
              <a:srgbClr val="2463EB"/>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2266385" y="2755900"/>
            <a:ext cx="162927" cy="0"/>
          </a:xfrm>
          <a:prstGeom prst="line">
            <a:avLst/>
          </a:prstGeom>
          <a:ln w="31750">
            <a:solidFill>
              <a:srgbClr val="2463EB"/>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2429312" y="2755900"/>
            <a:ext cx="0" cy="0"/>
          </a:xfrm>
          <a:prstGeom prst="line">
            <a:avLst/>
          </a:prstGeom>
          <a:ln w="31750">
            <a:solidFill>
              <a:srgbClr val="2463EB"/>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2429312" y="2755900"/>
            <a:ext cx="191262" cy="0"/>
          </a:xfrm>
          <a:prstGeom prst="line">
            <a:avLst/>
          </a:prstGeom>
          <a:ln w="31750">
            <a:solidFill>
              <a:srgbClr val="2463EB"/>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2620574" y="2755900"/>
            <a:ext cx="0" cy="0"/>
          </a:xfrm>
          <a:prstGeom prst="line">
            <a:avLst/>
          </a:prstGeom>
          <a:ln w="31750">
            <a:solidFill>
              <a:srgbClr val="2463EB"/>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2620574" y="2755900"/>
            <a:ext cx="166469" cy="0"/>
          </a:xfrm>
          <a:prstGeom prst="line">
            <a:avLst/>
          </a:prstGeom>
          <a:ln w="31750">
            <a:solidFill>
              <a:srgbClr val="2463EB"/>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2787043" y="2755900"/>
            <a:ext cx="0" cy="0"/>
          </a:xfrm>
          <a:prstGeom prst="line">
            <a:avLst/>
          </a:prstGeom>
          <a:ln w="31750">
            <a:solidFill>
              <a:srgbClr val="2463EB"/>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2787043" y="2755900"/>
            <a:ext cx="164698" cy="0"/>
          </a:xfrm>
          <a:prstGeom prst="line">
            <a:avLst/>
          </a:prstGeom>
          <a:ln w="31750">
            <a:solidFill>
              <a:srgbClr val="2463EB"/>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2951741" y="2755900"/>
            <a:ext cx="0" cy="0"/>
          </a:xfrm>
          <a:prstGeom prst="line">
            <a:avLst/>
          </a:prstGeom>
          <a:ln w="31750">
            <a:solidFill>
              <a:srgbClr val="2463EB"/>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2951741" y="2755900"/>
            <a:ext cx="187720" cy="0"/>
          </a:xfrm>
          <a:prstGeom prst="line">
            <a:avLst/>
          </a:prstGeom>
          <a:ln w="31750">
            <a:solidFill>
              <a:srgbClr val="2463EB"/>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3139461" y="2755900"/>
            <a:ext cx="0" cy="0"/>
          </a:xfrm>
          <a:prstGeom prst="line">
            <a:avLst/>
          </a:prstGeom>
          <a:ln w="31750">
            <a:solidFill>
              <a:srgbClr val="2463EB"/>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3139461" y="2755900"/>
            <a:ext cx="162927" cy="0"/>
          </a:xfrm>
          <a:prstGeom prst="line">
            <a:avLst/>
          </a:prstGeom>
          <a:ln w="31750">
            <a:solidFill>
              <a:srgbClr val="2463EB"/>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3302388" y="2755900"/>
            <a:ext cx="0" cy="0"/>
          </a:xfrm>
          <a:prstGeom prst="line">
            <a:avLst/>
          </a:prstGeom>
          <a:ln w="31750">
            <a:solidFill>
              <a:srgbClr val="2463EB"/>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3302388" y="2755900"/>
            <a:ext cx="162926" cy="0"/>
          </a:xfrm>
          <a:prstGeom prst="line">
            <a:avLst/>
          </a:prstGeom>
          <a:ln w="31750">
            <a:solidFill>
              <a:srgbClr val="2463EB"/>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3465314" y="2755900"/>
            <a:ext cx="0" cy="0"/>
          </a:xfrm>
          <a:prstGeom prst="line">
            <a:avLst/>
          </a:prstGeom>
          <a:ln w="31750">
            <a:solidFill>
              <a:srgbClr val="2463EB"/>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3465314" y="2755900"/>
            <a:ext cx="196575" cy="0"/>
          </a:xfrm>
          <a:prstGeom prst="line">
            <a:avLst/>
          </a:prstGeom>
          <a:ln w="31750">
            <a:solidFill>
              <a:srgbClr val="2463EB"/>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3661889" y="2755900"/>
            <a:ext cx="0" cy="0"/>
          </a:xfrm>
          <a:prstGeom prst="line">
            <a:avLst/>
          </a:prstGeom>
          <a:ln w="31750">
            <a:solidFill>
              <a:srgbClr val="2463EB"/>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3661889" y="2755900"/>
            <a:ext cx="208972" cy="0"/>
          </a:xfrm>
          <a:prstGeom prst="line">
            <a:avLst/>
          </a:prstGeom>
          <a:ln w="31750">
            <a:solidFill>
              <a:srgbClr val="2463EB"/>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3870861" y="2755900"/>
            <a:ext cx="0" cy="0"/>
          </a:xfrm>
          <a:prstGeom prst="line">
            <a:avLst/>
          </a:prstGeom>
          <a:ln w="31750">
            <a:solidFill>
              <a:srgbClr val="2463EB"/>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3870861" y="2755900"/>
            <a:ext cx="161156" cy="0"/>
          </a:xfrm>
          <a:prstGeom prst="line">
            <a:avLst/>
          </a:prstGeom>
          <a:ln w="31750">
            <a:solidFill>
              <a:srgbClr val="2463EB"/>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4032017" y="2755900"/>
            <a:ext cx="0" cy="0"/>
          </a:xfrm>
          <a:prstGeom prst="line">
            <a:avLst/>
          </a:prstGeom>
          <a:ln w="31750">
            <a:solidFill>
              <a:srgbClr val="2463EB"/>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4032017" y="2755900"/>
            <a:ext cx="159385" cy="0"/>
          </a:xfrm>
          <a:prstGeom prst="line">
            <a:avLst/>
          </a:prstGeom>
          <a:ln w="31750">
            <a:solidFill>
              <a:srgbClr val="2463EB"/>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4191402" y="2755900"/>
            <a:ext cx="0" cy="0"/>
          </a:xfrm>
          <a:prstGeom prst="line">
            <a:avLst/>
          </a:prstGeom>
          <a:ln w="31750">
            <a:solidFill>
              <a:srgbClr val="2463EB"/>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4191402" y="2755900"/>
            <a:ext cx="161156" cy="0"/>
          </a:xfrm>
          <a:prstGeom prst="line">
            <a:avLst/>
          </a:prstGeom>
          <a:ln w="31750">
            <a:solidFill>
              <a:srgbClr val="2463EB"/>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4352558" y="2755900"/>
            <a:ext cx="0" cy="0"/>
          </a:xfrm>
          <a:prstGeom prst="line">
            <a:avLst/>
          </a:prstGeom>
          <a:ln w="31750">
            <a:solidFill>
              <a:srgbClr val="2463EB"/>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4352558" y="2755900"/>
            <a:ext cx="164697" cy="0"/>
          </a:xfrm>
          <a:prstGeom prst="line">
            <a:avLst/>
          </a:prstGeom>
          <a:ln w="31750">
            <a:solidFill>
              <a:srgbClr val="2463EB"/>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4517255" y="2755900"/>
            <a:ext cx="0" cy="0"/>
          </a:xfrm>
          <a:prstGeom prst="line">
            <a:avLst/>
          </a:prstGeom>
          <a:ln w="31750">
            <a:solidFill>
              <a:srgbClr val="2463EB"/>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4517255" y="2755900"/>
            <a:ext cx="187721" cy="0"/>
          </a:xfrm>
          <a:prstGeom prst="line">
            <a:avLst/>
          </a:prstGeom>
          <a:ln w="31750">
            <a:solidFill>
              <a:srgbClr val="2463EB"/>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4704976" y="2755900"/>
            <a:ext cx="0" cy="0"/>
          </a:xfrm>
          <a:prstGeom prst="line">
            <a:avLst/>
          </a:prstGeom>
          <a:ln w="31750">
            <a:solidFill>
              <a:srgbClr val="2463EB"/>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4704976" y="2755900"/>
            <a:ext cx="189491" cy="0"/>
          </a:xfrm>
          <a:prstGeom prst="line">
            <a:avLst/>
          </a:prstGeom>
          <a:ln w="31750">
            <a:solidFill>
              <a:srgbClr val="2463EB"/>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4894467" y="2755900"/>
            <a:ext cx="0" cy="0"/>
          </a:xfrm>
          <a:prstGeom prst="line">
            <a:avLst/>
          </a:prstGeom>
          <a:ln w="31750">
            <a:solidFill>
              <a:srgbClr val="2463EB"/>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4894467" y="2755900"/>
            <a:ext cx="166468" cy="0"/>
          </a:xfrm>
          <a:prstGeom prst="line">
            <a:avLst/>
          </a:prstGeom>
          <a:ln w="31750">
            <a:solidFill>
              <a:srgbClr val="2463EB"/>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5060935" y="2755900"/>
            <a:ext cx="0" cy="0"/>
          </a:xfrm>
          <a:prstGeom prst="line">
            <a:avLst/>
          </a:prstGeom>
          <a:ln w="31750">
            <a:solidFill>
              <a:srgbClr val="2463EB"/>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5060935" y="2755900"/>
            <a:ext cx="162927" cy="0"/>
          </a:xfrm>
          <a:prstGeom prst="line">
            <a:avLst/>
          </a:prstGeom>
          <a:ln w="31750">
            <a:solidFill>
              <a:srgbClr val="2463EB"/>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5223862" y="2755900"/>
            <a:ext cx="0" cy="0"/>
          </a:xfrm>
          <a:prstGeom prst="line">
            <a:avLst/>
          </a:prstGeom>
          <a:ln w="31750">
            <a:solidFill>
              <a:srgbClr val="2463EB"/>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5223862" y="2755900"/>
            <a:ext cx="208972" cy="0"/>
          </a:xfrm>
          <a:prstGeom prst="line">
            <a:avLst/>
          </a:prstGeom>
          <a:ln w="31750">
            <a:solidFill>
              <a:srgbClr val="2463EB"/>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5432834" y="2755900"/>
            <a:ext cx="0" cy="0"/>
          </a:xfrm>
          <a:prstGeom prst="line">
            <a:avLst/>
          </a:prstGeom>
          <a:ln w="31750">
            <a:solidFill>
              <a:srgbClr val="2463EB"/>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5432834" y="2755900"/>
            <a:ext cx="170010" cy="0"/>
          </a:xfrm>
          <a:prstGeom prst="line">
            <a:avLst/>
          </a:prstGeom>
          <a:ln w="31750">
            <a:solidFill>
              <a:srgbClr val="2463EB"/>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5602844" y="2755900"/>
            <a:ext cx="0" cy="0"/>
          </a:xfrm>
          <a:prstGeom prst="line">
            <a:avLst/>
          </a:prstGeom>
          <a:ln w="31750">
            <a:solidFill>
              <a:srgbClr val="2463EB"/>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5602844" y="2755900"/>
            <a:ext cx="159385" cy="0"/>
          </a:xfrm>
          <a:prstGeom prst="line">
            <a:avLst/>
          </a:prstGeom>
          <a:ln w="31750">
            <a:solidFill>
              <a:srgbClr val="2463EB"/>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5762229" y="2755900"/>
            <a:ext cx="0" cy="0"/>
          </a:xfrm>
          <a:prstGeom prst="line">
            <a:avLst/>
          </a:prstGeom>
          <a:ln w="31750">
            <a:solidFill>
              <a:srgbClr val="2463EB"/>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5762229" y="2755900"/>
            <a:ext cx="162927" cy="0"/>
          </a:xfrm>
          <a:prstGeom prst="line">
            <a:avLst/>
          </a:prstGeom>
          <a:ln w="31750">
            <a:solidFill>
              <a:srgbClr val="2463EB"/>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5925156" y="2755900"/>
            <a:ext cx="0" cy="0"/>
          </a:xfrm>
          <a:prstGeom prst="line">
            <a:avLst/>
          </a:prstGeom>
          <a:ln w="31750">
            <a:solidFill>
              <a:srgbClr val="2463EB"/>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5925156" y="2755900"/>
            <a:ext cx="166469" cy="0"/>
          </a:xfrm>
          <a:prstGeom prst="line">
            <a:avLst/>
          </a:prstGeom>
          <a:ln w="31750">
            <a:solidFill>
              <a:srgbClr val="2463EB"/>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6091625" y="2755900"/>
            <a:ext cx="0" cy="0"/>
          </a:xfrm>
          <a:prstGeom prst="line">
            <a:avLst/>
          </a:prstGeom>
          <a:ln w="31750">
            <a:solidFill>
              <a:srgbClr val="2463EB"/>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6091625" y="2755900"/>
            <a:ext cx="278038" cy="0"/>
          </a:xfrm>
          <a:prstGeom prst="line">
            <a:avLst/>
          </a:prstGeom>
          <a:ln w="31750">
            <a:solidFill>
              <a:srgbClr val="2463EB"/>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6369663" y="2755900"/>
            <a:ext cx="0" cy="0"/>
          </a:xfrm>
          <a:prstGeom prst="line">
            <a:avLst/>
          </a:prstGeom>
          <a:ln w="31750">
            <a:solidFill>
              <a:srgbClr val="2463EB"/>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6369663" y="2755900"/>
            <a:ext cx="184179" cy="0"/>
          </a:xfrm>
          <a:prstGeom prst="line">
            <a:avLst/>
          </a:prstGeom>
          <a:ln w="31750">
            <a:solidFill>
              <a:srgbClr val="2463EB"/>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6553842" y="2755900"/>
            <a:ext cx="0" cy="0"/>
          </a:xfrm>
          <a:prstGeom prst="line">
            <a:avLst/>
          </a:prstGeom>
          <a:ln w="31750">
            <a:solidFill>
              <a:srgbClr val="2463EB"/>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6553842" y="2755900"/>
            <a:ext cx="214284" cy="0"/>
          </a:xfrm>
          <a:prstGeom prst="line">
            <a:avLst/>
          </a:prstGeom>
          <a:ln w="31750">
            <a:solidFill>
              <a:srgbClr val="2463EB"/>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6768126" y="2755900"/>
            <a:ext cx="0" cy="0"/>
          </a:xfrm>
          <a:prstGeom prst="line">
            <a:avLst/>
          </a:prstGeom>
          <a:ln w="31750">
            <a:solidFill>
              <a:srgbClr val="2463EB"/>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6768126" y="2755900"/>
            <a:ext cx="166469" cy="0"/>
          </a:xfrm>
          <a:prstGeom prst="line">
            <a:avLst/>
          </a:prstGeom>
          <a:ln w="31750">
            <a:solidFill>
              <a:srgbClr val="2463EB"/>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6934595" y="2755900"/>
            <a:ext cx="0" cy="0"/>
          </a:xfrm>
          <a:prstGeom prst="line">
            <a:avLst/>
          </a:prstGeom>
          <a:ln w="31750">
            <a:solidFill>
              <a:srgbClr val="2463EB"/>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6934595" y="2755900"/>
            <a:ext cx="177094" cy="0"/>
          </a:xfrm>
          <a:prstGeom prst="line">
            <a:avLst/>
          </a:prstGeom>
          <a:ln w="31750">
            <a:solidFill>
              <a:srgbClr val="2463EB"/>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7111689" y="2755900"/>
            <a:ext cx="0" cy="0"/>
          </a:xfrm>
          <a:prstGeom prst="line">
            <a:avLst/>
          </a:prstGeom>
          <a:ln w="31750">
            <a:solidFill>
              <a:srgbClr val="2463EB"/>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7111689" y="2755900"/>
            <a:ext cx="228452" cy="0"/>
          </a:xfrm>
          <a:prstGeom prst="line">
            <a:avLst/>
          </a:prstGeom>
          <a:ln w="31750">
            <a:solidFill>
              <a:srgbClr val="2463EB"/>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7340141" y="2755900"/>
            <a:ext cx="0" cy="1473200"/>
          </a:xfrm>
          <a:prstGeom prst="line">
            <a:avLst/>
          </a:prstGeom>
          <a:ln w="31750">
            <a:solidFill>
              <a:srgbClr val="2463EB"/>
            </a:solidFill>
          </a:ln>
        </p:spPr>
        <p:style>
          <a:lnRef idx="2">
            <a:schemeClr val="accent1"/>
          </a:lnRef>
          <a:fillRef idx="0">
            <a:schemeClr val="accent1"/>
          </a:fillRef>
          <a:effectRef idx="1">
            <a:schemeClr val="accent1"/>
          </a:effectRef>
          <a:fontRef idx="minor">
            <a:schemeClr val="tx1"/>
          </a:fontRef>
        </p:style>
      </p:cxnSp>
      <p:sp>
        <p:nvSpPr>
          <p:cNvPr id="98" name="Rounded Rectangle 97"/>
          <p:cNvSpPr/>
          <p:nvPr/>
        </p:nvSpPr>
        <p:spPr>
          <a:xfrm>
            <a:off x="1197595" y="4191000"/>
            <a:ext cx="76200" cy="76200"/>
          </a:xfrm>
          <a:prstGeom prst="roundRect">
            <a:avLst>
              <a:gd name="adj" fmla="val 50000"/>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ounded Rectangle 98"/>
          <p:cNvSpPr/>
          <p:nvPr/>
        </p:nvSpPr>
        <p:spPr>
          <a:xfrm>
            <a:off x="2045878" y="2717800"/>
            <a:ext cx="76200" cy="76200"/>
          </a:xfrm>
          <a:prstGeom prst="roundRect">
            <a:avLst>
              <a:gd name="adj" fmla="val 50000"/>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ounded Rectangle 99"/>
          <p:cNvSpPr/>
          <p:nvPr/>
        </p:nvSpPr>
        <p:spPr>
          <a:xfrm>
            <a:off x="7302041" y="4191000"/>
            <a:ext cx="76200" cy="76200"/>
          </a:xfrm>
          <a:prstGeom prst="roundRect">
            <a:avLst>
              <a:gd name="adj" fmla="val 50000"/>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8445500" y="2019300"/>
            <a:ext cx="3162300" cy="632460"/>
          </a:xfrm>
          <a:prstGeom prst="rect">
            <a:avLst/>
          </a:prstGeom>
          <a:noFill/>
        </p:spPr>
        <p:txBody>
          <a:bodyPr wrap="none" tIns="0" bIns="0" lIns="0" rIns="0" anchor="t">
            <a:spAutoFit/>
          </a:bodyPr>
          <a:lstStyle/>
          <a:p>
            <a:pPr>
              <a:lnSpc>
                <a:spcPts val="4480"/>
              </a:lnSpc>
              <a:spcBef>
                <a:spcPts val="0"/>
              </a:spcBef>
              <a:spcAft>
                <a:spcPts val="0"/>
              </a:spcAft>
            </a:pPr>
            <a:r>
              <a:rPr sz="3500" b="1">
                <a:solidFill>
                  <a:srgbClr val="2463EB"/>
                </a:solidFill>
                <a:latin typeface="Noto Sans"/>
              </a:rPr>
              <a:t>2 </a:t>
            </a:r>
            <a:r>
              <a:rPr sz="3500" b="1">
                <a:solidFill>
                  <a:srgbClr val="2463EB"/>
                </a:solidFill>
                <a:latin typeface="DejaVu Sans"/>
              </a:rPr>
              <a:t>→</a:t>
            </a:r>
            <a:r>
              <a:rPr sz="3500" b="1">
                <a:solidFill>
                  <a:srgbClr val="2463EB"/>
                </a:solidFill>
                <a:latin typeface="Noto Sans"/>
              </a:rPr>
              <a:t> 4 </a:t>
            </a:r>
            <a:r>
              <a:rPr sz="3500" b="1">
                <a:solidFill>
                  <a:srgbClr val="2463EB"/>
                </a:solidFill>
                <a:latin typeface="DejaVu Sans"/>
              </a:rPr>
              <a:t>→</a:t>
            </a:r>
            <a:r>
              <a:rPr sz="3500" b="1">
                <a:solidFill>
                  <a:srgbClr val="2463EB"/>
                </a:solidFill>
                <a:latin typeface="Noto Sans"/>
              </a:rPr>
              <a:t> 2</a:t>
            </a:r>
          </a:p>
        </p:txBody>
      </p:sp>
      <p:sp>
        <p:nvSpPr>
          <p:cNvPr id="102" name="TextBox 101"/>
          <p:cNvSpPr txBox="1"/>
          <p:nvPr/>
        </p:nvSpPr>
        <p:spPr>
          <a:xfrm>
            <a:off x="8470900" y="2628900"/>
            <a:ext cx="3136900" cy="258572"/>
          </a:xfrm>
          <a:prstGeom prst="rect">
            <a:avLst/>
          </a:prstGeom>
          <a:noFill/>
        </p:spPr>
        <p:txBody>
          <a:bodyPr wrap="none" tIns="0" bIns="0" lIns="0" rIns="0" anchor="t">
            <a:spAutoFit/>
          </a:bodyPr>
          <a:lstStyle/>
          <a:p>
            <a:pPr>
              <a:lnSpc>
                <a:spcPts val="1536"/>
              </a:lnSpc>
              <a:spcBef>
                <a:spcPts val="0"/>
              </a:spcBef>
              <a:spcAft>
                <a:spcPts val="0"/>
              </a:spcAft>
            </a:pPr>
            <a:r>
              <a:rPr sz="1200" b="0">
                <a:solidFill>
                  <a:srgbClr val="596C80"/>
                </a:solidFill>
                <a:latin typeface="Noto Sans"/>
              </a:rPr>
              <a:t>Ready replicas, measured</a:t>
            </a:r>
          </a:p>
        </p:txBody>
      </p:sp>
      <p:sp>
        <p:nvSpPr>
          <p:cNvPr id="103" name="TextBox 102"/>
          <p:cNvSpPr txBox="1"/>
          <p:nvPr/>
        </p:nvSpPr>
        <p:spPr>
          <a:xfrm>
            <a:off x="8470900" y="3149600"/>
            <a:ext cx="3136900" cy="502412"/>
          </a:xfrm>
          <a:prstGeom prst="rect">
            <a:avLst/>
          </a:prstGeom>
          <a:noFill/>
        </p:spPr>
        <p:txBody>
          <a:bodyPr wrap="none" tIns="0" bIns="0" lIns="0" rIns="0" anchor="t">
            <a:spAutoFit/>
          </a:bodyPr>
          <a:lstStyle/>
          <a:p>
            <a:pPr>
              <a:lnSpc>
                <a:spcPts val="3456"/>
              </a:lnSpc>
              <a:spcBef>
                <a:spcPts val="0"/>
              </a:spcBef>
              <a:spcAft>
                <a:spcPts val="0"/>
              </a:spcAft>
            </a:pPr>
            <a:r>
              <a:rPr sz="2700" b="1">
                <a:solidFill>
                  <a:srgbClr val="15243A"/>
                </a:solidFill>
                <a:latin typeface="Noto Sans"/>
              </a:rPr>
              <a:t>68,466</a:t>
            </a:r>
          </a:p>
        </p:txBody>
      </p:sp>
      <p:sp>
        <p:nvSpPr>
          <p:cNvPr id="104" name="TextBox 103"/>
          <p:cNvSpPr txBox="1"/>
          <p:nvPr/>
        </p:nvSpPr>
        <p:spPr>
          <a:xfrm>
            <a:off x="8470900" y="3619500"/>
            <a:ext cx="3136900" cy="242315"/>
          </a:xfrm>
          <a:prstGeom prst="rect">
            <a:avLst/>
          </a:prstGeom>
          <a:noFill/>
        </p:spPr>
        <p:txBody>
          <a:bodyPr wrap="none" tIns="0" bIns="0" lIns="0" rIns="0" anchor="t">
            <a:spAutoFit/>
          </a:bodyPr>
          <a:lstStyle/>
          <a:p>
            <a:pPr>
              <a:lnSpc>
                <a:spcPts val="1408"/>
              </a:lnSpc>
              <a:spcBef>
                <a:spcPts val="0"/>
              </a:spcBef>
              <a:spcAft>
                <a:spcPts val="0"/>
              </a:spcAft>
            </a:pPr>
            <a:r>
              <a:rPr sz="1100" b="0">
                <a:solidFill>
                  <a:srgbClr val="596C80"/>
                </a:solidFill>
                <a:latin typeface="Noto Sans"/>
              </a:rPr>
              <a:t>successful requests</a:t>
            </a:r>
          </a:p>
        </p:txBody>
      </p:sp>
      <p:sp>
        <p:nvSpPr>
          <p:cNvPr id="105" name="TextBox 104"/>
          <p:cNvSpPr txBox="1"/>
          <p:nvPr/>
        </p:nvSpPr>
        <p:spPr>
          <a:xfrm>
            <a:off x="8470900" y="3962400"/>
            <a:ext cx="3136900" cy="502412"/>
          </a:xfrm>
          <a:prstGeom prst="rect">
            <a:avLst/>
          </a:prstGeom>
          <a:noFill/>
        </p:spPr>
        <p:txBody>
          <a:bodyPr wrap="none" tIns="0" bIns="0" lIns="0" rIns="0" anchor="t">
            <a:spAutoFit/>
          </a:bodyPr>
          <a:lstStyle/>
          <a:p>
            <a:pPr>
              <a:lnSpc>
                <a:spcPts val="3456"/>
              </a:lnSpc>
              <a:spcBef>
                <a:spcPts val="0"/>
              </a:spcBef>
              <a:spcAft>
                <a:spcPts val="0"/>
              </a:spcAft>
            </a:pPr>
            <a:r>
              <a:rPr sz="2700" b="1">
                <a:solidFill>
                  <a:srgbClr val="15243A"/>
                </a:solidFill>
                <a:latin typeface="Noto Sans"/>
              </a:rPr>
              <a:t>0</a:t>
            </a:r>
          </a:p>
        </p:txBody>
      </p:sp>
      <p:sp>
        <p:nvSpPr>
          <p:cNvPr id="106" name="TextBox 105"/>
          <p:cNvSpPr txBox="1"/>
          <p:nvPr/>
        </p:nvSpPr>
        <p:spPr>
          <a:xfrm>
            <a:off x="8470900" y="4432300"/>
            <a:ext cx="3136900" cy="242315"/>
          </a:xfrm>
          <a:prstGeom prst="rect">
            <a:avLst/>
          </a:prstGeom>
          <a:noFill/>
        </p:spPr>
        <p:txBody>
          <a:bodyPr wrap="none" tIns="0" bIns="0" lIns="0" rIns="0" anchor="t">
            <a:spAutoFit/>
          </a:bodyPr>
          <a:lstStyle/>
          <a:p>
            <a:pPr>
              <a:lnSpc>
                <a:spcPts val="1408"/>
              </a:lnSpc>
              <a:spcBef>
                <a:spcPts val="0"/>
              </a:spcBef>
              <a:spcAft>
                <a:spcPts val="0"/>
              </a:spcAft>
            </a:pPr>
            <a:r>
              <a:rPr sz="1100" b="0">
                <a:solidFill>
                  <a:srgbClr val="596C80"/>
                </a:solidFill>
                <a:latin typeface="Noto Sans"/>
              </a:rPr>
              <a:t>failed load requests</a:t>
            </a:r>
          </a:p>
        </p:txBody>
      </p:sp>
      <p:sp>
        <p:nvSpPr>
          <p:cNvPr id="107" name="TextBox 106"/>
          <p:cNvSpPr txBox="1"/>
          <p:nvPr/>
        </p:nvSpPr>
        <p:spPr>
          <a:xfrm>
            <a:off x="8470900" y="4775200"/>
            <a:ext cx="3136900" cy="502412"/>
          </a:xfrm>
          <a:prstGeom prst="rect">
            <a:avLst/>
          </a:prstGeom>
          <a:noFill/>
        </p:spPr>
        <p:txBody>
          <a:bodyPr wrap="none" tIns="0" bIns="0" lIns="0" rIns="0" anchor="t">
            <a:spAutoFit/>
          </a:bodyPr>
          <a:lstStyle/>
          <a:p>
            <a:pPr>
              <a:lnSpc>
                <a:spcPts val="3456"/>
              </a:lnSpc>
              <a:spcBef>
                <a:spcPts val="0"/>
              </a:spcBef>
              <a:spcAft>
                <a:spcPts val="0"/>
              </a:spcAft>
            </a:pPr>
            <a:r>
              <a:rPr sz="2700" b="1">
                <a:solidFill>
                  <a:srgbClr val="15243A"/>
                </a:solidFill>
                <a:latin typeface="Noto Sans"/>
              </a:rPr>
              <a:t>180.1 s</a:t>
            </a:r>
          </a:p>
        </p:txBody>
      </p:sp>
      <p:sp>
        <p:nvSpPr>
          <p:cNvPr id="108" name="TextBox 107"/>
          <p:cNvSpPr txBox="1"/>
          <p:nvPr/>
        </p:nvSpPr>
        <p:spPr>
          <a:xfrm>
            <a:off x="8470900" y="5245100"/>
            <a:ext cx="3136900" cy="242315"/>
          </a:xfrm>
          <a:prstGeom prst="rect">
            <a:avLst/>
          </a:prstGeom>
          <a:noFill/>
        </p:spPr>
        <p:txBody>
          <a:bodyPr wrap="none" tIns="0" bIns="0" lIns="0" rIns="0" anchor="t">
            <a:spAutoFit/>
          </a:bodyPr>
          <a:lstStyle/>
          <a:p>
            <a:pPr>
              <a:lnSpc>
                <a:spcPts val="1408"/>
              </a:lnSpc>
              <a:spcBef>
                <a:spcPts val="0"/>
              </a:spcBef>
              <a:spcAft>
                <a:spcPts val="0"/>
              </a:spcAft>
            </a:pPr>
            <a:r>
              <a:rPr sz="1100" b="0">
                <a:solidFill>
                  <a:srgbClr val="596C80"/>
                </a:solidFill>
                <a:latin typeface="Noto Sans"/>
              </a:rPr>
              <a:t>24-worker in-cluster load</a:t>
            </a:r>
          </a:p>
        </p:txBody>
      </p:sp>
      <p:sp>
        <p:nvSpPr>
          <p:cNvPr id="109" name="TextBox 108"/>
          <p:cNvSpPr txBox="1"/>
          <p:nvPr/>
        </p:nvSpPr>
        <p:spPr>
          <a:xfrm>
            <a:off x="584200" y="5829300"/>
            <a:ext cx="11023600" cy="242315"/>
          </a:xfrm>
          <a:prstGeom prst="rect">
            <a:avLst/>
          </a:prstGeom>
          <a:noFill/>
        </p:spPr>
        <p:txBody>
          <a:bodyPr wrap="none" tIns="0" bIns="0" lIns="0" rIns="0" anchor="t">
            <a:spAutoFit/>
          </a:bodyPr>
          <a:lstStyle/>
          <a:p>
            <a:pPr>
              <a:lnSpc>
                <a:spcPts val="1408"/>
              </a:lnSpc>
              <a:spcBef>
                <a:spcPts val="0"/>
              </a:spcBef>
              <a:spcAft>
                <a:spcPts val="0"/>
              </a:spcAft>
            </a:pPr>
            <a:r>
              <a:rPr sz="1100" b="1">
                <a:solidFill>
                  <a:srgbClr val="087F76"/>
                </a:solidFill>
                <a:latin typeface="Noto Sans"/>
              </a:rPr>
              <a:t>HPA: 60% CPU target · 100m request / Pod · min 2, max 4 · peak 442% of requested CPU</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79400"/>
            <a:ext cx="4445000" cy="209804"/>
          </a:xfrm>
          <a:prstGeom prst="rect">
            <a:avLst/>
          </a:prstGeom>
          <a:noFill/>
        </p:spPr>
        <p:txBody>
          <a:bodyPr wrap="none" tIns="0" bIns="0" lIns="0" rIns="0" anchor="t">
            <a:spAutoFit/>
          </a:bodyPr>
          <a:lstStyle/>
          <a:p>
            <a:pPr>
              <a:lnSpc>
                <a:spcPts val="1152"/>
              </a:lnSpc>
              <a:spcBef>
                <a:spcPts val="0"/>
              </a:spcBef>
              <a:spcAft>
                <a:spcPts val="0"/>
              </a:spcAft>
            </a:pPr>
            <a:r>
              <a:rPr sz="900" b="1">
                <a:solidFill>
                  <a:srgbClr val="596C80"/>
                </a:solidFill>
                <a:latin typeface="Noto Sans"/>
              </a:rPr>
              <a:t>RH / RELEASE HELPDESK</a:t>
            </a:r>
          </a:p>
        </p:txBody>
      </p:sp>
      <p:sp>
        <p:nvSpPr>
          <p:cNvPr id="4" name="TextBox 3"/>
          <p:cNvSpPr txBox="1"/>
          <p:nvPr/>
        </p:nvSpPr>
        <p:spPr>
          <a:xfrm>
            <a:off x="8763000" y="279400"/>
            <a:ext cx="2857500" cy="209804"/>
          </a:xfrm>
          <a:prstGeom prst="rect">
            <a:avLst/>
          </a:prstGeom>
          <a:noFill/>
        </p:spPr>
        <p:txBody>
          <a:bodyPr wrap="none" tIns="0" bIns="0" lIns="0" rIns="0" anchor="t">
            <a:spAutoFit/>
          </a:bodyPr>
          <a:lstStyle/>
          <a:p>
            <a:pPr>
              <a:lnSpc>
                <a:spcPts val="1152"/>
              </a:lnSpc>
              <a:spcBef>
                <a:spcPts val="0"/>
              </a:spcBef>
              <a:spcAft>
                <a:spcPts val="0"/>
              </a:spcAft>
            </a:pPr>
            <a:r>
              <a:rPr sz="900" b="1">
                <a:solidFill>
                  <a:srgbClr val="596C80"/>
                </a:solidFill>
                <a:latin typeface="Noto Sans"/>
              </a:rPr>
              <a:t>12 / OBSERVABILITY</a:t>
            </a:r>
          </a:p>
        </p:txBody>
      </p:sp>
      <p:sp>
        <p:nvSpPr>
          <p:cNvPr id="5" name="Rectangle 4"/>
          <p:cNvSpPr/>
          <p:nvPr/>
        </p:nvSpPr>
        <p:spPr>
          <a:xfrm>
            <a:off x="584200" y="660400"/>
            <a:ext cx="355600" cy="38100"/>
          </a:xfrm>
          <a:prstGeom prst="rect">
            <a:avLst/>
          </a:prstGeom>
          <a:solidFill>
            <a:srgbClr val="24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84200" y="876300"/>
            <a:ext cx="11049000" cy="508380"/>
          </a:xfrm>
          <a:prstGeom prst="rect">
            <a:avLst/>
          </a:prstGeom>
          <a:noFill/>
        </p:spPr>
        <p:txBody>
          <a:bodyPr wrap="none" tIns="0" bIns="0" lIns="0" rIns="0" anchor="t">
            <a:spAutoFit/>
          </a:bodyPr>
          <a:lstStyle/>
          <a:p>
            <a:pPr>
              <a:lnSpc>
                <a:spcPts val="3502"/>
              </a:lnSpc>
              <a:spcBef>
                <a:spcPts val="0"/>
              </a:spcBef>
              <a:spcAft>
                <a:spcPts val="0"/>
              </a:spcAft>
            </a:pPr>
            <a:r>
              <a:rPr sz="3100" b="1">
                <a:solidFill>
                  <a:srgbClr val="15243A"/>
                </a:solidFill>
                <a:latin typeface="Noto Sans"/>
              </a:rPr>
              <a:t>See traffic, latency and errors in one place.</a:t>
            </a:r>
          </a:p>
        </p:txBody>
      </p:sp>
      <p:sp>
        <p:nvSpPr>
          <p:cNvPr id="7" name="TextBox 6"/>
          <p:cNvSpPr txBox="1"/>
          <p:nvPr/>
        </p:nvSpPr>
        <p:spPr>
          <a:xfrm>
            <a:off x="584200" y="1473200"/>
            <a:ext cx="10985500" cy="258572"/>
          </a:xfrm>
          <a:prstGeom prst="rect">
            <a:avLst/>
          </a:prstGeom>
          <a:noFill/>
        </p:spPr>
        <p:txBody>
          <a:bodyPr wrap="none" tIns="0" bIns="0" lIns="0" rIns="0" anchor="t">
            <a:spAutoFit/>
          </a:bodyPr>
          <a:lstStyle/>
          <a:p>
            <a:pPr>
              <a:lnSpc>
                <a:spcPts val="1536"/>
              </a:lnSpc>
              <a:spcBef>
                <a:spcPts val="0"/>
              </a:spcBef>
              <a:spcAft>
                <a:spcPts val="0"/>
              </a:spcAft>
            </a:pPr>
            <a:r>
              <a:rPr sz="1200" b="0">
                <a:solidFill>
                  <a:srgbClr val="596C80"/>
                </a:solidFill>
                <a:latin typeface="Noto Sans"/>
              </a:rPr>
              <a:t>Application instrumentation </a:t>
            </a:r>
            <a:r>
              <a:rPr sz="1200" b="0">
                <a:solidFill>
                  <a:srgbClr val="596C80"/>
                </a:solidFill>
                <a:latin typeface="DejaVu Sans"/>
              </a:rPr>
              <a:t>→</a:t>
            </a:r>
            <a:r>
              <a:rPr sz="1200" b="0">
                <a:solidFill>
                  <a:srgbClr val="596C80"/>
                </a:solidFill>
                <a:latin typeface="Noto Sans"/>
              </a:rPr>
              <a:t> ServiceMonitor </a:t>
            </a:r>
            <a:r>
              <a:rPr sz="1200" b="0">
                <a:solidFill>
                  <a:srgbClr val="596C80"/>
                </a:solidFill>
                <a:latin typeface="DejaVu Sans"/>
              </a:rPr>
              <a:t>→</a:t>
            </a:r>
            <a:r>
              <a:rPr sz="1200" b="0">
                <a:solidFill>
                  <a:srgbClr val="596C80"/>
                </a:solidFill>
                <a:latin typeface="Noto Sans"/>
              </a:rPr>
              <a:t> Prometheus </a:t>
            </a:r>
            <a:r>
              <a:rPr sz="1200" b="0">
                <a:solidFill>
                  <a:srgbClr val="596C80"/>
                </a:solidFill>
                <a:latin typeface="DejaVu Sans"/>
              </a:rPr>
              <a:t>→</a:t>
            </a:r>
            <a:r>
              <a:rPr sz="1200" b="0">
                <a:solidFill>
                  <a:srgbClr val="596C80"/>
                </a:solidFill>
                <a:latin typeface="Noto Sans"/>
              </a:rPr>
              <a:t> authenticated Grafana.</a:t>
            </a:r>
          </a:p>
        </p:txBody>
      </p:sp>
      <p:cxnSp>
        <p:nvCxnSpPr>
          <p:cNvPr id="8" name="Connector 7"/>
          <p:cNvCxnSpPr/>
          <p:nvPr/>
        </p:nvCxnSpPr>
        <p:spPr>
          <a:xfrm>
            <a:off x="584200" y="6438900"/>
            <a:ext cx="11023600" cy="0"/>
          </a:xfrm>
          <a:prstGeom prst="line">
            <a:avLst/>
          </a:prstGeom>
          <a:ln w="10160">
            <a:solidFill>
              <a:srgbClr val="DCE4ED"/>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84200" y="6578600"/>
            <a:ext cx="4572000" cy="193548"/>
          </a:xfrm>
          <a:prstGeom prst="rect">
            <a:avLst/>
          </a:prstGeom>
          <a:noFill/>
        </p:spPr>
        <p:txBody>
          <a:bodyPr wrap="none" tIns="0" bIns="0" lIns="0" rIns="0" anchor="t">
            <a:spAutoFit/>
          </a:bodyPr>
          <a:lstStyle/>
          <a:p>
            <a:pPr>
              <a:lnSpc>
                <a:spcPts val="1024"/>
              </a:lnSpc>
              <a:spcBef>
                <a:spcPts val="0"/>
              </a:spcBef>
              <a:spcAft>
                <a:spcPts val="0"/>
              </a:spcAft>
            </a:pPr>
            <a:r>
              <a:rPr sz="800" b="0">
                <a:solidFill>
                  <a:srgbClr val="596C80"/>
                </a:solidFill>
                <a:latin typeface="Noto Sans"/>
              </a:rPr>
              <a:t>RELEASE ENGINEERING / PLATFORM WALKTHROUGH</a:t>
            </a:r>
          </a:p>
        </p:txBody>
      </p:sp>
      <p:sp>
        <p:nvSpPr>
          <p:cNvPr id="10" name="TextBox 9"/>
          <p:cNvSpPr txBox="1"/>
          <p:nvPr/>
        </p:nvSpPr>
        <p:spPr>
          <a:xfrm>
            <a:off x="10922000" y="6553200"/>
            <a:ext cx="736600" cy="209804"/>
          </a:xfrm>
          <a:prstGeom prst="rect">
            <a:avLst/>
          </a:prstGeom>
          <a:noFill/>
        </p:spPr>
        <p:txBody>
          <a:bodyPr wrap="none" tIns="0" bIns="0" lIns="0" rIns="0" anchor="t">
            <a:spAutoFit/>
          </a:bodyPr>
          <a:lstStyle/>
          <a:p>
            <a:pPr>
              <a:lnSpc>
                <a:spcPts val="1152"/>
              </a:lnSpc>
              <a:spcBef>
                <a:spcPts val="0"/>
              </a:spcBef>
              <a:spcAft>
                <a:spcPts val="0"/>
              </a:spcAft>
            </a:pPr>
            <a:r>
              <a:rPr sz="900" b="1">
                <a:solidFill>
                  <a:srgbClr val="596C80"/>
                </a:solidFill>
                <a:latin typeface="Noto Sans"/>
              </a:rPr>
              <a:t>13 / 16</a:t>
            </a:r>
          </a:p>
        </p:txBody>
      </p:sp>
      <p:sp>
        <p:nvSpPr>
          <p:cNvPr id="11" name="TextBox 10"/>
          <p:cNvSpPr txBox="1"/>
          <p:nvPr/>
        </p:nvSpPr>
        <p:spPr>
          <a:xfrm>
            <a:off x="584200" y="6210300"/>
            <a:ext cx="10414000" cy="193548"/>
          </a:xfrm>
          <a:prstGeom prst="rect">
            <a:avLst/>
          </a:prstGeom>
          <a:noFill/>
        </p:spPr>
        <p:txBody>
          <a:bodyPr wrap="none" tIns="0" bIns="0" lIns="0" rIns="0" anchor="t">
            <a:spAutoFit/>
          </a:bodyPr>
          <a:lstStyle/>
          <a:p>
            <a:pPr>
              <a:lnSpc>
                <a:spcPts val="1024"/>
              </a:lnSpc>
              <a:spcBef>
                <a:spcPts val="0"/>
              </a:spcBef>
              <a:spcAft>
                <a:spcPts val="0"/>
              </a:spcAft>
            </a:pPr>
            <a:r>
              <a:rPr sz="800" b="0">
                <a:solidFill>
                  <a:srgbClr val="596C80"/>
                </a:solidFill>
                <a:latin typeface="Noto Sans"/>
                <a:hlinkClick r:id="rId2"/>
              </a:rPr>
              <a:t>Evidence · Authenticated AWS Grafana dashboard with populated panels</a:t>
            </a:r>
          </a:p>
        </p:txBody>
      </p:sp>
      <p:sp>
        <p:nvSpPr>
          <p:cNvPr id="12" name="Rounded Rectangle 11"/>
          <p:cNvSpPr/>
          <p:nvPr/>
        </p:nvSpPr>
        <p:spPr>
          <a:xfrm>
            <a:off x="571500" y="2006600"/>
            <a:ext cx="7251700" cy="3886200"/>
          </a:xfrm>
          <a:prstGeom prst="roundRect">
            <a:avLst>
              <a:gd name="adj" fmla="val 980"/>
            </a:avLst>
          </a:prstGeom>
          <a:solidFill>
            <a:srgbClr val="FFFFFF"/>
          </a:solidFill>
          <a:ln w="889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aws-grafana-live-dashboard.png">
            <a:hlinkClick r:id="rId2"/>
          </p:cNvPr>
          <p:cNvPicPr>
            <a:picLocks noChangeAspect="1"/>
          </p:cNvPicPr>
          <p:nvPr/>
        </p:nvPicPr>
        <p:blipFill>
          <a:blip r:embed="rId3"/>
          <a:stretch>
            <a:fillRect/>
          </a:stretch>
        </p:blipFill>
        <p:spPr>
          <a:xfrm>
            <a:off x="1255788" y="2019300"/>
            <a:ext cx="5883123" cy="3860800"/>
          </a:xfrm>
          <a:prstGeom prst="rect">
            <a:avLst/>
          </a:prstGeom>
        </p:spPr>
      </p:pic>
      <p:sp>
        <p:nvSpPr>
          <p:cNvPr id="14" name="TextBox 13"/>
          <p:cNvSpPr txBox="1"/>
          <p:nvPr/>
        </p:nvSpPr>
        <p:spPr>
          <a:xfrm>
            <a:off x="584200" y="5969000"/>
            <a:ext cx="7226300" cy="209804"/>
          </a:xfrm>
          <a:prstGeom prst="rect">
            <a:avLst/>
          </a:prstGeom>
          <a:noFill/>
        </p:spPr>
        <p:txBody>
          <a:bodyPr wrap="none" tIns="0" bIns="0" lIns="0" rIns="0" anchor="t">
            <a:spAutoFit/>
          </a:bodyPr>
          <a:lstStyle/>
          <a:p>
            <a:pPr>
              <a:lnSpc>
                <a:spcPts val="1152"/>
              </a:lnSpc>
              <a:spcBef>
                <a:spcPts val="0"/>
              </a:spcBef>
              <a:spcAft>
                <a:spcPts val="0"/>
              </a:spcAft>
            </a:pPr>
            <a:r>
              <a:rPr sz="900" b="0">
                <a:solidFill>
                  <a:srgbClr val="596C80"/>
                </a:solidFill>
                <a:latin typeface="Noto Sans"/>
              </a:rPr>
              <a:t>Actual recorded AWS dashboard · HTTP traffic, errors, latency and replicas</a:t>
            </a:r>
          </a:p>
        </p:txBody>
      </p:sp>
      <p:sp>
        <p:nvSpPr>
          <p:cNvPr id="15" name="TextBox 14"/>
          <p:cNvSpPr txBox="1"/>
          <p:nvPr/>
        </p:nvSpPr>
        <p:spPr>
          <a:xfrm>
            <a:off x="8267700" y="2082800"/>
            <a:ext cx="381000" cy="258572"/>
          </a:xfrm>
          <a:prstGeom prst="rect">
            <a:avLst/>
          </a:prstGeom>
          <a:noFill/>
        </p:spPr>
        <p:txBody>
          <a:bodyPr wrap="none" tIns="0" bIns="0" lIns="0" rIns="0" anchor="t">
            <a:spAutoFit/>
          </a:bodyPr>
          <a:lstStyle/>
          <a:p>
            <a:pPr>
              <a:lnSpc>
                <a:spcPts val="1536"/>
              </a:lnSpc>
              <a:spcBef>
                <a:spcPts val="0"/>
              </a:spcBef>
              <a:spcAft>
                <a:spcPts val="0"/>
              </a:spcAft>
            </a:pPr>
            <a:r>
              <a:rPr sz="1200" b="1">
                <a:solidFill>
                  <a:srgbClr val="087F76"/>
                </a:solidFill>
                <a:latin typeface="Noto Sans"/>
              </a:rPr>
              <a:t>01</a:t>
            </a:r>
          </a:p>
        </p:txBody>
      </p:sp>
      <p:sp>
        <p:nvSpPr>
          <p:cNvPr id="16" name="TextBox 15"/>
          <p:cNvSpPr txBox="1"/>
          <p:nvPr/>
        </p:nvSpPr>
        <p:spPr>
          <a:xfrm>
            <a:off x="8750300" y="2044700"/>
            <a:ext cx="2857500" cy="339852"/>
          </a:xfrm>
          <a:prstGeom prst="rect">
            <a:avLst/>
          </a:prstGeom>
          <a:noFill/>
        </p:spPr>
        <p:txBody>
          <a:bodyPr wrap="none" tIns="0" bIns="0" lIns="0" rIns="0" anchor="t">
            <a:spAutoFit/>
          </a:bodyPr>
          <a:lstStyle/>
          <a:p>
            <a:pPr>
              <a:lnSpc>
                <a:spcPts val="2176"/>
              </a:lnSpc>
              <a:spcBef>
                <a:spcPts val="0"/>
              </a:spcBef>
              <a:spcAft>
                <a:spcPts val="0"/>
              </a:spcAft>
            </a:pPr>
            <a:r>
              <a:rPr sz="1700" b="1">
                <a:solidFill>
                  <a:srgbClr val="15243A"/>
                </a:solidFill>
                <a:latin typeface="Noto Sans"/>
              </a:rPr>
              <a:t>Instrument</a:t>
            </a:r>
          </a:p>
        </p:txBody>
      </p:sp>
      <p:sp>
        <p:nvSpPr>
          <p:cNvPr id="17" name="TextBox 16"/>
          <p:cNvSpPr txBox="1"/>
          <p:nvPr/>
        </p:nvSpPr>
        <p:spPr>
          <a:xfrm>
            <a:off x="8750300" y="2400300"/>
            <a:ext cx="2857500" cy="486156"/>
          </a:xfrm>
          <a:prstGeom prst="rect">
            <a:avLst/>
          </a:prstGeom>
          <a:noFill/>
        </p:spPr>
        <p:txBody>
          <a:bodyPr wrap="none" tIns="0" bIns="0" lIns="0" rIns="0" anchor="t">
            <a:spAutoFit/>
          </a:bodyPr>
          <a:lstStyle/>
          <a:p>
            <a:pPr>
              <a:lnSpc>
                <a:spcPts val="1664"/>
              </a:lnSpc>
              <a:spcBef>
                <a:spcPts val="0"/>
              </a:spcBef>
              <a:spcAft>
                <a:spcPts val="0"/>
              </a:spcAft>
            </a:pPr>
            <a:r>
              <a:rPr sz="1300" b="0">
                <a:solidFill>
                  <a:srgbClr val="596C80"/>
                </a:solidFill>
                <a:latin typeface="Noto Sans"/>
              </a:rPr>
              <a:t>Request counter + latency</a:t>
            </a:r>
          </a:p>
          <a:p>
            <a:pPr>
              <a:lnSpc>
                <a:spcPts val="1664"/>
              </a:lnSpc>
              <a:spcBef>
                <a:spcPts val="0"/>
              </a:spcBef>
              <a:spcAft>
                <a:spcPts val="0"/>
              </a:spcAft>
            </a:pPr>
            <a:r>
              <a:rPr sz="1300" b="0">
                <a:solidFill>
                  <a:srgbClr val="596C80"/>
                </a:solidFill>
                <a:latin typeface="Noto Sans"/>
              </a:rPr>
              <a:t>histogram; route-template labels.</a:t>
            </a:r>
          </a:p>
        </p:txBody>
      </p:sp>
      <p:sp>
        <p:nvSpPr>
          <p:cNvPr id="18" name="TextBox 17"/>
          <p:cNvSpPr txBox="1"/>
          <p:nvPr/>
        </p:nvSpPr>
        <p:spPr>
          <a:xfrm>
            <a:off x="8267700" y="3365500"/>
            <a:ext cx="381000" cy="258572"/>
          </a:xfrm>
          <a:prstGeom prst="rect">
            <a:avLst/>
          </a:prstGeom>
          <a:noFill/>
        </p:spPr>
        <p:txBody>
          <a:bodyPr wrap="none" tIns="0" bIns="0" lIns="0" rIns="0" anchor="t">
            <a:spAutoFit/>
          </a:bodyPr>
          <a:lstStyle/>
          <a:p>
            <a:pPr>
              <a:lnSpc>
                <a:spcPts val="1536"/>
              </a:lnSpc>
              <a:spcBef>
                <a:spcPts val="0"/>
              </a:spcBef>
              <a:spcAft>
                <a:spcPts val="0"/>
              </a:spcAft>
            </a:pPr>
            <a:r>
              <a:rPr sz="1200" b="1">
                <a:solidFill>
                  <a:srgbClr val="087F76"/>
                </a:solidFill>
                <a:latin typeface="Noto Sans"/>
              </a:rPr>
              <a:t>02</a:t>
            </a:r>
          </a:p>
        </p:txBody>
      </p:sp>
      <p:sp>
        <p:nvSpPr>
          <p:cNvPr id="19" name="TextBox 18"/>
          <p:cNvSpPr txBox="1"/>
          <p:nvPr/>
        </p:nvSpPr>
        <p:spPr>
          <a:xfrm>
            <a:off x="8750300" y="3327400"/>
            <a:ext cx="2857500" cy="339852"/>
          </a:xfrm>
          <a:prstGeom prst="rect">
            <a:avLst/>
          </a:prstGeom>
          <a:noFill/>
        </p:spPr>
        <p:txBody>
          <a:bodyPr wrap="none" tIns="0" bIns="0" lIns="0" rIns="0" anchor="t">
            <a:spAutoFit/>
          </a:bodyPr>
          <a:lstStyle/>
          <a:p>
            <a:pPr>
              <a:lnSpc>
                <a:spcPts val="2176"/>
              </a:lnSpc>
              <a:spcBef>
                <a:spcPts val="0"/>
              </a:spcBef>
              <a:spcAft>
                <a:spcPts val="0"/>
              </a:spcAft>
            </a:pPr>
            <a:r>
              <a:rPr sz="1700" b="1">
                <a:solidFill>
                  <a:srgbClr val="15243A"/>
                </a:solidFill>
                <a:latin typeface="Noto Sans"/>
              </a:rPr>
              <a:t>Scrape</a:t>
            </a:r>
          </a:p>
        </p:txBody>
      </p:sp>
      <p:sp>
        <p:nvSpPr>
          <p:cNvPr id="20" name="TextBox 19"/>
          <p:cNvSpPr txBox="1"/>
          <p:nvPr/>
        </p:nvSpPr>
        <p:spPr>
          <a:xfrm>
            <a:off x="8750300" y="3683000"/>
            <a:ext cx="2857500" cy="486156"/>
          </a:xfrm>
          <a:prstGeom prst="rect">
            <a:avLst/>
          </a:prstGeom>
          <a:noFill/>
        </p:spPr>
        <p:txBody>
          <a:bodyPr wrap="none" tIns="0" bIns="0" lIns="0" rIns="0" anchor="t">
            <a:spAutoFit/>
          </a:bodyPr>
          <a:lstStyle/>
          <a:p>
            <a:pPr>
              <a:lnSpc>
                <a:spcPts val="1664"/>
              </a:lnSpc>
              <a:spcBef>
                <a:spcPts val="0"/>
              </a:spcBef>
              <a:spcAft>
                <a:spcPts val="0"/>
              </a:spcAft>
            </a:pPr>
            <a:r>
              <a:rPr sz="1300" b="0">
                <a:solidFill>
                  <a:srgbClr val="596C80"/>
                </a:solidFill>
                <a:latin typeface="Noto Sans"/>
              </a:rPr>
              <a:t>Backend /metrics; real Prometheus</a:t>
            </a:r>
          </a:p>
          <a:p>
            <a:pPr>
              <a:lnSpc>
                <a:spcPts val="1664"/>
              </a:lnSpc>
              <a:spcBef>
                <a:spcPts val="0"/>
              </a:spcBef>
              <a:spcAft>
                <a:spcPts val="0"/>
              </a:spcAft>
            </a:pPr>
            <a:r>
              <a:rPr sz="1300" b="0">
                <a:solidFill>
                  <a:srgbClr val="596C80"/>
                </a:solidFill>
                <a:latin typeface="Noto Sans"/>
              </a:rPr>
              <a:t>application targets UP.</a:t>
            </a:r>
          </a:p>
        </p:txBody>
      </p:sp>
      <p:sp>
        <p:nvSpPr>
          <p:cNvPr id="21" name="TextBox 20"/>
          <p:cNvSpPr txBox="1"/>
          <p:nvPr/>
        </p:nvSpPr>
        <p:spPr>
          <a:xfrm>
            <a:off x="8267700" y="4648200"/>
            <a:ext cx="381000" cy="258572"/>
          </a:xfrm>
          <a:prstGeom prst="rect">
            <a:avLst/>
          </a:prstGeom>
          <a:noFill/>
        </p:spPr>
        <p:txBody>
          <a:bodyPr wrap="none" tIns="0" bIns="0" lIns="0" rIns="0" anchor="t">
            <a:spAutoFit/>
          </a:bodyPr>
          <a:lstStyle/>
          <a:p>
            <a:pPr>
              <a:lnSpc>
                <a:spcPts val="1536"/>
              </a:lnSpc>
              <a:spcBef>
                <a:spcPts val="0"/>
              </a:spcBef>
              <a:spcAft>
                <a:spcPts val="0"/>
              </a:spcAft>
            </a:pPr>
            <a:r>
              <a:rPr sz="1200" b="1">
                <a:solidFill>
                  <a:srgbClr val="087F76"/>
                </a:solidFill>
                <a:latin typeface="Noto Sans"/>
              </a:rPr>
              <a:t>03</a:t>
            </a:r>
          </a:p>
        </p:txBody>
      </p:sp>
      <p:sp>
        <p:nvSpPr>
          <p:cNvPr id="22" name="TextBox 21"/>
          <p:cNvSpPr txBox="1"/>
          <p:nvPr/>
        </p:nvSpPr>
        <p:spPr>
          <a:xfrm>
            <a:off x="8750300" y="4610100"/>
            <a:ext cx="2857500" cy="339852"/>
          </a:xfrm>
          <a:prstGeom prst="rect">
            <a:avLst/>
          </a:prstGeom>
          <a:noFill/>
        </p:spPr>
        <p:txBody>
          <a:bodyPr wrap="none" tIns="0" bIns="0" lIns="0" rIns="0" anchor="t">
            <a:spAutoFit/>
          </a:bodyPr>
          <a:lstStyle/>
          <a:p>
            <a:pPr>
              <a:lnSpc>
                <a:spcPts val="2176"/>
              </a:lnSpc>
              <a:spcBef>
                <a:spcPts val="0"/>
              </a:spcBef>
              <a:spcAft>
                <a:spcPts val="0"/>
              </a:spcAft>
            </a:pPr>
            <a:r>
              <a:rPr sz="1700" b="1">
                <a:solidFill>
                  <a:srgbClr val="15243A"/>
                </a:solidFill>
                <a:latin typeface="Noto Sans"/>
              </a:rPr>
              <a:t>Inspect privately</a:t>
            </a:r>
          </a:p>
        </p:txBody>
      </p:sp>
      <p:sp>
        <p:nvSpPr>
          <p:cNvPr id="23" name="TextBox 22"/>
          <p:cNvSpPr txBox="1"/>
          <p:nvPr/>
        </p:nvSpPr>
        <p:spPr>
          <a:xfrm>
            <a:off x="8750300" y="4965700"/>
            <a:ext cx="2857500" cy="486156"/>
          </a:xfrm>
          <a:prstGeom prst="rect">
            <a:avLst/>
          </a:prstGeom>
          <a:noFill/>
        </p:spPr>
        <p:txBody>
          <a:bodyPr wrap="none" tIns="0" bIns="0" lIns="0" rIns="0" anchor="t">
            <a:spAutoFit/>
          </a:bodyPr>
          <a:lstStyle/>
          <a:p>
            <a:pPr>
              <a:lnSpc>
                <a:spcPts val="1664"/>
              </a:lnSpc>
              <a:spcBef>
                <a:spcPts val="0"/>
              </a:spcBef>
              <a:spcAft>
                <a:spcPts val="0"/>
              </a:spcAft>
            </a:pPr>
            <a:r>
              <a:rPr sz="1300" b="0">
                <a:solidFill>
                  <a:srgbClr val="596C80"/>
                </a:solidFill>
                <a:latin typeface="Noto Sans"/>
              </a:rPr>
              <a:t>Grafana via private port-forward</a:t>
            </a:r>
          </a:p>
          <a:p>
            <a:pPr>
              <a:lnSpc>
                <a:spcPts val="1664"/>
              </a:lnSpc>
              <a:spcBef>
                <a:spcPts val="0"/>
              </a:spcBef>
              <a:spcAft>
                <a:spcPts val="0"/>
              </a:spcAft>
            </a:pPr>
            <a:r>
              <a:rPr sz="1300" b="0">
                <a:solidFill>
                  <a:srgbClr val="596C80"/>
                </a:solidFill>
                <a:latin typeface="Noto Sans"/>
              </a:rPr>
              <a:t>with generated credentials.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79400"/>
            <a:ext cx="4445000" cy="209804"/>
          </a:xfrm>
          <a:prstGeom prst="rect">
            <a:avLst/>
          </a:prstGeom>
          <a:noFill/>
        </p:spPr>
        <p:txBody>
          <a:bodyPr wrap="none" tIns="0" bIns="0" lIns="0" rIns="0" anchor="t">
            <a:spAutoFit/>
          </a:bodyPr>
          <a:lstStyle/>
          <a:p>
            <a:pPr>
              <a:lnSpc>
                <a:spcPts val="1152"/>
              </a:lnSpc>
              <a:spcBef>
                <a:spcPts val="0"/>
              </a:spcBef>
              <a:spcAft>
                <a:spcPts val="0"/>
              </a:spcAft>
            </a:pPr>
            <a:r>
              <a:rPr sz="900" b="1">
                <a:solidFill>
                  <a:srgbClr val="596C80"/>
                </a:solidFill>
                <a:latin typeface="Noto Sans"/>
              </a:rPr>
              <a:t>RH / RELEASE HELPDESK</a:t>
            </a:r>
          </a:p>
        </p:txBody>
      </p:sp>
      <p:sp>
        <p:nvSpPr>
          <p:cNvPr id="4" name="TextBox 3"/>
          <p:cNvSpPr txBox="1"/>
          <p:nvPr/>
        </p:nvSpPr>
        <p:spPr>
          <a:xfrm>
            <a:off x="8763000" y="279400"/>
            <a:ext cx="2857500" cy="209804"/>
          </a:xfrm>
          <a:prstGeom prst="rect">
            <a:avLst/>
          </a:prstGeom>
          <a:noFill/>
        </p:spPr>
        <p:txBody>
          <a:bodyPr wrap="none" tIns="0" bIns="0" lIns="0" rIns="0" anchor="t">
            <a:spAutoFit/>
          </a:bodyPr>
          <a:lstStyle/>
          <a:p>
            <a:pPr>
              <a:lnSpc>
                <a:spcPts val="1152"/>
              </a:lnSpc>
              <a:spcBef>
                <a:spcPts val="0"/>
              </a:spcBef>
              <a:spcAft>
                <a:spcPts val="0"/>
              </a:spcAft>
            </a:pPr>
            <a:r>
              <a:rPr sz="900" b="1">
                <a:solidFill>
                  <a:srgbClr val="596C80"/>
                </a:solidFill>
                <a:latin typeface="Noto Sans"/>
              </a:rPr>
              <a:t>13 / TROUBLESHOOTING</a:t>
            </a:r>
          </a:p>
        </p:txBody>
      </p:sp>
      <p:sp>
        <p:nvSpPr>
          <p:cNvPr id="5" name="Rectangle 4"/>
          <p:cNvSpPr/>
          <p:nvPr/>
        </p:nvSpPr>
        <p:spPr>
          <a:xfrm>
            <a:off x="584200" y="660400"/>
            <a:ext cx="355600" cy="38100"/>
          </a:xfrm>
          <a:prstGeom prst="rect">
            <a:avLst/>
          </a:prstGeom>
          <a:solidFill>
            <a:srgbClr val="24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84200" y="876300"/>
            <a:ext cx="11049000" cy="508380"/>
          </a:xfrm>
          <a:prstGeom prst="rect">
            <a:avLst/>
          </a:prstGeom>
          <a:noFill/>
        </p:spPr>
        <p:txBody>
          <a:bodyPr wrap="none" tIns="0" bIns="0" lIns="0" rIns="0" anchor="t">
            <a:spAutoFit/>
          </a:bodyPr>
          <a:lstStyle/>
          <a:p>
            <a:pPr>
              <a:lnSpc>
                <a:spcPts val="3502"/>
              </a:lnSpc>
              <a:spcBef>
                <a:spcPts val="0"/>
              </a:spcBef>
              <a:spcAft>
                <a:spcPts val="0"/>
              </a:spcAft>
            </a:pPr>
            <a:r>
              <a:rPr sz="3100" b="1">
                <a:solidFill>
                  <a:srgbClr val="15243A"/>
                </a:solidFill>
                <a:latin typeface="Noto Sans"/>
              </a:rPr>
              <a:t>Two failures. Two traceable recoveries.</a:t>
            </a:r>
          </a:p>
        </p:txBody>
      </p:sp>
      <p:sp>
        <p:nvSpPr>
          <p:cNvPr id="7" name="TextBox 6"/>
          <p:cNvSpPr txBox="1"/>
          <p:nvPr/>
        </p:nvSpPr>
        <p:spPr>
          <a:xfrm>
            <a:off x="584200" y="1473200"/>
            <a:ext cx="10985500" cy="258572"/>
          </a:xfrm>
          <a:prstGeom prst="rect">
            <a:avLst/>
          </a:prstGeom>
          <a:noFill/>
        </p:spPr>
        <p:txBody>
          <a:bodyPr wrap="none" tIns="0" bIns="0" lIns="0" rIns="0" anchor="t">
            <a:spAutoFit/>
          </a:bodyPr>
          <a:lstStyle/>
          <a:p>
            <a:pPr>
              <a:lnSpc>
                <a:spcPts val="1536"/>
              </a:lnSpc>
              <a:spcBef>
                <a:spcPts val="0"/>
              </a:spcBef>
              <a:spcAft>
                <a:spcPts val="0"/>
              </a:spcAft>
            </a:pPr>
            <a:r>
              <a:rPr sz="1200" b="0">
                <a:solidFill>
                  <a:srgbClr val="596C80"/>
                </a:solidFill>
                <a:latin typeface="Noto Sans"/>
              </a:rPr>
              <a:t>Controlled exercises ran in an isolated namespace; diagnosis followed observable evidence.</a:t>
            </a:r>
          </a:p>
        </p:txBody>
      </p:sp>
      <p:cxnSp>
        <p:nvCxnSpPr>
          <p:cNvPr id="8" name="Connector 7"/>
          <p:cNvCxnSpPr/>
          <p:nvPr/>
        </p:nvCxnSpPr>
        <p:spPr>
          <a:xfrm>
            <a:off x="584200" y="6438900"/>
            <a:ext cx="11023600" cy="0"/>
          </a:xfrm>
          <a:prstGeom prst="line">
            <a:avLst/>
          </a:prstGeom>
          <a:ln w="10160">
            <a:solidFill>
              <a:srgbClr val="DCE4ED"/>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84200" y="6578600"/>
            <a:ext cx="4572000" cy="193548"/>
          </a:xfrm>
          <a:prstGeom prst="rect">
            <a:avLst/>
          </a:prstGeom>
          <a:noFill/>
        </p:spPr>
        <p:txBody>
          <a:bodyPr wrap="none" tIns="0" bIns="0" lIns="0" rIns="0" anchor="t">
            <a:spAutoFit/>
          </a:bodyPr>
          <a:lstStyle/>
          <a:p>
            <a:pPr>
              <a:lnSpc>
                <a:spcPts val="1024"/>
              </a:lnSpc>
              <a:spcBef>
                <a:spcPts val="0"/>
              </a:spcBef>
              <a:spcAft>
                <a:spcPts val="0"/>
              </a:spcAft>
            </a:pPr>
            <a:r>
              <a:rPr sz="800" b="0">
                <a:solidFill>
                  <a:srgbClr val="596C80"/>
                </a:solidFill>
                <a:latin typeface="Noto Sans"/>
              </a:rPr>
              <a:t>RELEASE ENGINEERING / PLATFORM WALKTHROUGH</a:t>
            </a:r>
          </a:p>
        </p:txBody>
      </p:sp>
      <p:sp>
        <p:nvSpPr>
          <p:cNvPr id="10" name="TextBox 9"/>
          <p:cNvSpPr txBox="1"/>
          <p:nvPr/>
        </p:nvSpPr>
        <p:spPr>
          <a:xfrm>
            <a:off x="10922000" y="6553200"/>
            <a:ext cx="736600" cy="209804"/>
          </a:xfrm>
          <a:prstGeom prst="rect">
            <a:avLst/>
          </a:prstGeom>
          <a:noFill/>
        </p:spPr>
        <p:txBody>
          <a:bodyPr wrap="none" tIns="0" bIns="0" lIns="0" rIns="0" anchor="t">
            <a:spAutoFit/>
          </a:bodyPr>
          <a:lstStyle/>
          <a:p>
            <a:pPr>
              <a:lnSpc>
                <a:spcPts val="1152"/>
              </a:lnSpc>
              <a:spcBef>
                <a:spcPts val="0"/>
              </a:spcBef>
              <a:spcAft>
                <a:spcPts val="0"/>
              </a:spcAft>
            </a:pPr>
            <a:r>
              <a:rPr sz="900" b="1">
                <a:solidFill>
                  <a:srgbClr val="596C80"/>
                </a:solidFill>
                <a:latin typeface="Noto Sans"/>
              </a:rPr>
              <a:t>14 / 16</a:t>
            </a:r>
          </a:p>
        </p:txBody>
      </p:sp>
      <p:sp>
        <p:nvSpPr>
          <p:cNvPr id="11" name="TextBox 10"/>
          <p:cNvSpPr txBox="1"/>
          <p:nvPr/>
        </p:nvSpPr>
        <p:spPr>
          <a:xfrm>
            <a:off x="584200" y="6210300"/>
            <a:ext cx="10414000" cy="193548"/>
          </a:xfrm>
          <a:prstGeom prst="rect">
            <a:avLst/>
          </a:prstGeom>
          <a:noFill/>
        </p:spPr>
        <p:txBody>
          <a:bodyPr wrap="none" tIns="0" bIns="0" lIns="0" rIns="0" anchor="t">
            <a:spAutoFit/>
          </a:bodyPr>
          <a:lstStyle/>
          <a:p>
            <a:pPr>
              <a:lnSpc>
                <a:spcPts val="1024"/>
              </a:lnSpc>
              <a:spcBef>
                <a:spcPts val="0"/>
              </a:spcBef>
              <a:spcAft>
                <a:spcPts val="0"/>
              </a:spcAft>
            </a:pPr>
            <a:r>
              <a:rPr sz="800" b="0">
                <a:solidFill>
                  <a:srgbClr val="596C80"/>
                </a:solidFill>
                <a:latin typeface="Noto Sans"/>
                <a:hlinkClick r:id="rId2"/>
              </a:rPr>
              <a:t>Evidence · Actual AWS failure symptoms, diagnosis and recovered HTTP responses</a:t>
            </a:r>
          </a:p>
        </p:txBody>
      </p:sp>
      <p:sp>
        <p:nvSpPr>
          <p:cNvPr id="12" name="Rounded Rectangle 11"/>
          <p:cNvSpPr/>
          <p:nvPr/>
        </p:nvSpPr>
        <p:spPr>
          <a:xfrm>
            <a:off x="584200" y="2057400"/>
            <a:ext cx="5384800" cy="3886200"/>
          </a:xfrm>
          <a:prstGeom prst="roundRect">
            <a:avLst>
              <a:gd name="adj" fmla="val 2287"/>
            </a:avLst>
          </a:prstGeom>
          <a:solidFill>
            <a:srgbClr val="FFFFFF"/>
          </a:solidFill>
          <a:ln w="889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8200" y="2298700"/>
            <a:ext cx="4851400" cy="226060"/>
          </a:xfrm>
          <a:prstGeom prst="rect">
            <a:avLst/>
          </a:prstGeom>
          <a:noFill/>
        </p:spPr>
        <p:txBody>
          <a:bodyPr wrap="none" tIns="0" bIns="0" lIns="0" rIns="0" anchor="t">
            <a:spAutoFit/>
          </a:bodyPr>
          <a:lstStyle/>
          <a:p>
            <a:pPr>
              <a:lnSpc>
                <a:spcPts val="1280"/>
              </a:lnSpc>
              <a:spcBef>
                <a:spcPts val="0"/>
              </a:spcBef>
              <a:spcAft>
                <a:spcPts val="0"/>
              </a:spcAft>
            </a:pPr>
            <a:r>
              <a:rPr sz="1000" b="1">
                <a:solidFill>
                  <a:srgbClr val="AD650B"/>
                </a:solidFill>
                <a:latin typeface="Noto Sans"/>
              </a:rPr>
              <a:t>IMAGE FAILURE</a:t>
            </a:r>
          </a:p>
        </p:txBody>
      </p:sp>
      <p:sp>
        <p:nvSpPr>
          <p:cNvPr id="14" name="TextBox 13"/>
          <p:cNvSpPr txBox="1"/>
          <p:nvPr/>
        </p:nvSpPr>
        <p:spPr>
          <a:xfrm>
            <a:off x="838200" y="2654300"/>
            <a:ext cx="4851400" cy="437388"/>
          </a:xfrm>
          <a:prstGeom prst="rect">
            <a:avLst/>
          </a:prstGeom>
          <a:noFill/>
        </p:spPr>
        <p:txBody>
          <a:bodyPr wrap="none" tIns="0" bIns="0" lIns="0" rIns="0" anchor="t">
            <a:spAutoFit/>
          </a:bodyPr>
          <a:lstStyle/>
          <a:p>
            <a:pPr>
              <a:lnSpc>
                <a:spcPts val="2944"/>
              </a:lnSpc>
              <a:spcBef>
                <a:spcPts val="0"/>
              </a:spcBef>
              <a:spcAft>
                <a:spcPts val="0"/>
              </a:spcAft>
            </a:pPr>
            <a:r>
              <a:rPr sz="2300" b="1">
                <a:solidFill>
                  <a:srgbClr val="15243A"/>
                </a:solidFill>
                <a:latin typeface="Noto Sans"/>
              </a:rPr>
              <a:t>ImagePullBackOff</a:t>
            </a:r>
          </a:p>
        </p:txBody>
      </p:sp>
      <p:sp>
        <p:nvSpPr>
          <p:cNvPr id="15" name="TextBox 14"/>
          <p:cNvSpPr txBox="1"/>
          <p:nvPr/>
        </p:nvSpPr>
        <p:spPr>
          <a:xfrm>
            <a:off x="838200" y="3263900"/>
            <a:ext cx="406400" cy="242315"/>
          </a:xfrm>
          <a:prstGeom prst="rect">
            <a:avLst/>
          </a:prstGeom>
          <a:noFill/>
        </p:spPr>
        <p:txBody>
          <a:bodyPr wrap="none" tIns="0" bIns="0" lIns="0" rIns="0" anchor="t">
            <a:spAutoFit/>
          </a:bodyPr>
          <a:lstStyle/>
          <a:p>
            <a:pPr>
              <a:lnSpc>
                <a:spcPts val="1408"/>
              </a:lnSpc>
              <a:spcBef>
                <a:spcPts val="0"/>
              </a:spcBef>
              <a:spcAft>
                <a:spcPts val="0"/>
              </a:spcAft>
            </a:pPr>
            <a:r>
              <a:rPr sz="1100" b="1">
                <a:solidFill>
                  <a:srgbClr val="596C80"/>
                </a:solidFill>
                <a:latin typeface="Noto Sans"/>
              </a:rPr>
              <a:t>01</a:t>
            </a:r>
          </a:p>
        </p:txBody>
      </p:sp>
      <p:sp>
        <p:nvSpPr>
          <p:cNvPr id="16" name="TextBox 15"/>
          <p:cNvSpPr txBox="1"/>
          <p:nvPr/>
        </p:nvSpPr>
        <p:spPr>
          <a:xfrm>
            <a:off x="1308100" y="3225800"/>
            <a:ext cx="4343400" cy="307340"/>
          </a:xfrm>
          <a:prstGeom prst="rect">
            <a:avLst/>
          </a:prstGeom>
          <a:noFill/>
        </p:spPr>
        <p:txBody>
          <a:bodyPr wrap="none" tIns="0" bIns="0" lIns="0" rIns="0" anchor="t">
            <a:spAutoFit/>
          </a:bodyPr>
          <a:lstStyle/>
          <a:p>
            <a:pPr>
              <a:lnSpc>
                <a:spcPts val="1920"/>
              </a:lnSpc>
              <a:spcBef>
                <a:spcPts val="0"/>
              </a:spcBef>
              <a:spcAft>
                <a:spcPts val="0"/>
              </a:spcAft>
            </a:pPr>
            <a:r>
              <a:rPr sz="1500" b="0">
                <a:solidFill>
                  <a:srgbClr val="15243A"/>
                </a:solidFill>
                <a:latin typeface="Noto Sans"/>
              </a:rPr>
              <a:t>Pod not Ready</a:t>
            </a:r>
          </a:p>
        </p:txBody>
      </p:sp>
      <p:cxnSp>
        <p:nvCxnSpPr>
          <p:cNvPr id="17" name="Connector 16"/>
          <p:cNvCxnSpPr/>
          <p:nvPr/>
        </p:nvCxnSpPr>
        <p:spPr>
          <a:xfrm>
            <a:off x="990600" y="3505200"/>
            <a:ext cx="0" cy="139700"/>
          </a:xfrm>
          <a:prstGeom prst="line">
            <a:avLst/>
          </a:prstGeom>
          <a:ln w="17780">
            <a:solidFill>
              <a:srgbClr val="DCE4E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flipV="1">
            <a:off x="949547" y="3566046"/>
            <a:ext cx="41053" cy="78854"/>
          </a:xfrm>
          <a:prstGeom prst="line">
            <a:avLst/>
          </a:prstGeom>
          <a:ln w="17780">
            <a:solidFill>
              <a:srgbClr val="DCE4E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990600" y="3566046"/>
            <a:ext cx="41052" cy="78854"/>
          </a:xfrm>
          <a:prstGeom prst="line">
            <a:avLst/>
          </a:prstGeom>
          <a:ln w="17780">
            <a:solidFill>
              <a:srgbClr val="DCE4ED"/>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838200" y="3771900"/>
            <a:ext cx="406400" cy="242315"/>
          </a:xfrm>
          <a:prstGeom prst="rect">
            <a:avLst/>
          </a:prstGeom>
          <a:noFill/>
        </p:spPr>
        <p:txBody>
          <a:bodyPr wrap="none" tIns="0" bIns="0" lIns="0" rIns="0" anchor="t">
            <a:spAutoFit/>
          </a:bodyPr>
          <a:lstStyle/>
          <a:p>
            <a:pPr>
              <a:lnSpc>
                <a:spcPts val="1408"/>
              </a:lnSpc>
              <a:spcBef>
                <a:spcPts val="0"/>
              </a:spcBef>
              <a:spcAft>
                <a:spcPts val="0"/>
              </a:spcAft>
            </a:pPr>
            <a:r>
              <a:rPr sz="1100" b="1">
                <a:solidFill>
                  <a:srgbClr val="596C80"/>
                </a:solidFill>
                <a:latin typeface="Noto Sans"/>
              </a:rPr>
              <a:t>02</a:t>
            </a:r>
          </a:p>
        </p:txBody>
      </p:sp>
      <p:sp>
        <p:nvSpPr>
          <p:cNvPr id="21" name="TextBox 20"/>
          <p:cNvSpPr txBox="1"/>
          <p:nvPr/>
        </p:nvSpPr>
        <p:spPr>
          <a:xfrm>
            <a:off x="1308100" y="3733800"/>
            <a:ext cx="4343400" cy="307340"/>
          </a:xfrm>
          <a:prstGeom prst="rect">
            <a:avLst/>
          </a:prstGeom>
          <a:noFill/>
        </p:spPr>
        <p:txBody>
          <a:bodyPr wrap="none" tIns="0" bIns="0" lIns="0" rIns="0" anchor="t">
            <a:spAutoFit/>
          </a:bodyPr>
          <a:lstStyle/>
          <a:p>
            <a:pPr>
              <a:lnSpc>
                <a:spcPts val="1920"/>
              </a:lnSpc>
              <a:spcBef>
                <a:spcPts val="0"/>
              </a:spcBef>
              <a:spcAft>
                <a:spcPts val="0"/>
              </a:spcAft>
            </a:pPr>
            <a:r>
              <a:rPr sz="1500" b="0">
                <a:solidFill>
                  <a:srgbClr val="15243A"/>
                </a:solidFill>
                <a:latin typeface="Noto Sans"/>
              </a:rPr>
              <a:t>Describe Pod + events</a:t>
            </a:r>
          </a:p>
        </p:txBody>
      </p:sp>
      <p:cxnSp>
        <p:nvCxnSpPr>
          <p:cNvPr id="22" name="Connector 21"/>
          <p:cNvCxnSpPr/>
          <p:nvPr/>
        </p:nvCxnSpPr>
        <p:spPr>
          <a:xfrm>
            <a:off x="990600" y="4013200"/>
            <a:ext cx="0" cy="139700"/>
          </a:xfrm>
          <a:prstGeom prst="line">
            <a:avLst/>
          </a:prstGeom>
          <a:ln w="17780">
            <a:solidFill>
              <a:srgbClr val="DCE4E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flipV="1">
            <a:off x="949547" y="4074046"/>
            <a:ext cx="41053" cy="78854"/>
          </a:xfrm>
          <a:prstGeom prst="line">
            <a:avLst/>
          </a:prstGeom>
          <a:ln w="17780">
            <a:solidFill>
              <a:srgbClr val="DCE4E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990600" y="4074046"/>
            <a:ext cx="41052" cy="78854"/>
          </a:xfrm>
          <a:prstGeom prst="line">
            <a:avLst/>
          </a:prstGeom>
          <a:ln w="17780">
            <a:solidFill>
              <a:srgbClr val="DCE4ED"/>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838200" y="4279900"/>
            <a:ext cx="406400" cy="242315"/>
          </a:xfrm>
          <a:prstGeom prst="rect">
            <a:avLst/>
          </a:prstGeom>
          <a:noFill/>
        </p:spPr>
        <p:txBody>
          <a:bodyPr wrap="none" tIns="0" bIns="0" lIns="0" rIns="0" anchor="t">
            <a:spAutoFit/>
          </a:bodyPr>
          <a:lstStyle/>
          <a:p>
            <a:pPr>
              <a:lnSpc>
                <a:spcPts val="1408"/>
              </a:lnSpc>
              <a:spcBef>
                <a:spcPts val="0"/>
              </a:spcBef>
              <a:spcAft>
                <a:spcPts val="0"/>
              </a:spcAft>
            </a:pPr>
            <a:r>
              <a:rPr sz="1100" b="1">
                <a:solidFill>
                  <a:srgbClr val="596C80"/>
                </a:solidFill>
                <a:latin typeface="Noto Sans"/>
              </a:rPr>
              <a:t>03</a:t>
            </a:r>
          </a:p>
        </p:txBody>
      </p:sp>
      <p:sp>
        <p:nvSpPr>
          <p:cNvPr id="26" name="TextBox 25"/>
          <p:cNvSpPr txBox="1"/>
          <p:nvPr/>
        </p:nvSpPr>
        <p:spPr>
          <a:xfrm>
            <a:off x="1308100" y="4241800"/>
            <a:ext cx="4343400" cy="307340"/>
          </a:xfrm>
          <a:prstGeom prst="rect">
            <a:avLst/>
          </a:prstGeom>
          <a:noFill/>
        </p:spPr>
        <p:txBody>
          <a:bodyPr wrap="none" tIns="0" bIns="0" lIns="0" rIns="0" anchor="t">
            <a:spAutoFit/>
          </a:bodyPr>
          <a:lstStyle/>
          <a:p>
            <a:pPr>
              <a:lnSpc>
                <a:spcPts val="1920"/>
              </a:lnSpc>
              <a:spcBef>
                <a:spcPts val="0"/>
              </a:spcBef>
              <a:spcAft>
                <a:spcPts val="0"/>
              </a:spcAft>
            </a:pPr>
            <a:r>
              <a:rPr sz="1500" b="0">
                <a:solidFill>
                  <a:srgbClr val="15243A"/>
                </a:solidFill>
                <a:latin typeface="Noto Sans"/>
              </a:rPr>
              <a:t>Nonexistent image tag</a:t>
            </a:r>
          </a:p>
        </p:txBody>
      </p:sp>
      <p:sp>
        <p:nvSpPr>
          <p:cNvPr id="27" name="Rounded Rectangle 26"/>
          <p:cNvSpPr/>
          <p:nvPr/>
        </p:nvSpPr>
        <p:spPr>
          <a:xfrm>
            <a:off x="812800" y="5067300"/>
            <a:ext cx="4927600" cy="596900"/>
          </a:xfrm>
          <a:prstGeom prst="roundRect">
            <a:avLst>
              <a:gd name="adj" fmla="val 10638"/>
            </a:avLst>
          </a:prstGeom>
          <a:solidFill>
            <a:srgbClr val="E3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65200" y="5232400"/>
            <a:ext cx="4635500" cy="274828"/>
          </a:xfrm>
          <a:prstGeom prst="rect">
            <a:avLst/>
          </a:prstGeom>
          <a:noFill/>
        </p:spPr>
        <p:txBody>
          <a:bodyPr wrap="none" tIns="0" bIns="0" lIns="0" rIns="0" anchor="t">
            <a:spAutoFit/>
          </a:bodyPr>
          <a:lstStyle/>
          <a:p>
            <a:pPr>
              <a:lnSpc>
                <a:spcPts val="1664"/>
              </a:lnSpc>
              <a:spcBef>
                <a:spcPts val="0"/>
              </a:spcBef>
              <a:spcAft>
                <a:spcPts val="0"/>
              </a:spcAft>
            </a:pPr>
            <a:r>
              <a:rPr sz="1300" b="1">
                <a:solidFill>
                  <a:srgbClr val="087F76"/>
                </a:solidFill>
                <a:latin typeface="Noto Sans"/>
              </a:rPr>
              <a:t>Correct tag </a:t>
            </a:r>
            <a:r>
              <a:rPr sz="1300" b="1">
                <a:solidFill>
                  <a:srgbClr val="087F76"/>
                </a:solidFill>
                <a:latin typeface="DejaVu Sans"/>
              </a:rPr>
              <a:t>→</a:t>
            </a:r>
            <a:r>
              <a:rPr sz="1300" b="1">
                <a:solidFill>
                  <a:srgbClr val="087F76"/>
                </a:solidFill>
                <a:latin typeface="Noto Sans"/>
              </a:rPr>
              <a:t> rollout </a:t>
            </a:r>
            <a:r>
              <a:rPr sz="1300" b="1">
                <a:solidFill>
                  <a:srgbClr val="087F76"/>
                </a:solidFill>
                <a:latin typeface="DejaVu Sans"/>
              </a:rPr>
              <a:t>→</a:t>
            </a:r>
            <a:r>
              <a:rPr sz="1300" b="1">
                <a:solidFill>
                  <a:srgbClr val="087F76"/>
                </a:solidFill>
                <a:latin typeface="Noto Sans"/>
              </a:rPr>
              <a:t> Ready</a:t>
            </a:r>
          </a:p>
        </p:txBody>
      </p:sp>
      <p:sp>
        <p:nvSpPr>
          <p:cNvPr id="29" name="Rounded Rectangle 28"/>
          <p:cNvSpPr/>
          <p:nvPr/>
        </p:nvSpPr>
        <p:spPr>
          <a:xfrm>
            <a:off x="6223000" y="2057400"/>
            <a:ext cx="5384800" cy="3886200"/>
          </a:xfrm>
          <a:prstGeom prst="roundRect">
            <a:avLst>
              <a:gd name="adj" fmla="val 2287"/>
            </a:avLst>
          </a:prstGeom>
          <a:solidFill>
            <a:srgbClr val="FFFFFF"/>
          </a:solidFill>
          <a:ln w="889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77000" y="2298700"/>
            <a:ext cx="4851400" cy="226060"/>
          </a:xfrm>
          <a:prstGeom prst="rect">
            <a:avLst/>
          </a:prstGeom>
          <a:noFill/>
        </p:spPr>
        <p:txBody>
          <a:bodyPr wrap="none" tIns="0" bIns="0" lIns="0" rIns="0" anchor="t">
            <a:spAutoFit/>
          </a:bodyPr>
          <a:lstStyle/>
          <a:p>
            <a:pPr>
              <a:lnSpc>
                <a:spcPts val="1280"/>
              </a:lnSpc>
              <a:spcBef>
                <a:spcPts val="0"/>
              </a:spcBef>
              <a:spcAft>
                <a:spcPts val="0"/>
              </a:spcAft>
            </a:pPr>
            <a:r>
              <a:rPr sz="1000" b="1">
                <a:solidFill>
                  <a:srgbClr val="AD650B"/>
                </a:solidFill>
                <a:latin typeface="Noto Sans"/>
              </a:rPr>
              <a:t>SERVICE FAILURE</a:t>
            </a:r>
          </a:p>
        </p:txBody>
      </p:sp>
      <p:sp>
        <p:nvSpPr>
          <p:cNvPr id="31" name="TextBox 30"/>
          <p:cNvSpPr txBox="1"/>
          <p:nvPr/>
        </p:nvSpPr>
        <p:spPr>
          <a:xfrm>
            <a:off x="6477000" y="2654300"/>
            <a:ext cx="4851400" cy="437388"/>
          </a:xfrm>
          <a:prstGeom prst="rect">
            <a:avLst/>
          </a:prstGeom>
          <a:noFill/>
        </p:spPr>
        <p:txBody>
          <a:bodyPr wrap="none" tIns="0" bIns="0" lIns="0" rIns="0" anchor="t">
            <a:spAutoFit/>
          </a:bodyPr>
          <a:lstStyle/>
          <a:p>
            <a:pPr>
              <a:lnSpc>
                <a:spcPts val="2944"/>
              </a:lnSpc>
              <a:spcBef>
                <a:spcPts val="0"/>
              </a:spcBef>
              <a:spcAft>
                <a:spcPts val="0"/>
              </a:spcAft>
            </a:pPr>
            <a:r>
              <a:rPr sz="2300" b="1">
                <a:solidFill>
                  <a:srgbClr val="15243A"/>
                </a:solidFill>
                <a:latin typeface="Noto Sans"/>
              </a:rPr>
              <a:t>No reachable backend</a:t>
            </a:r>
          </a:p>
        </p:txBody>
      </p:sp>
      <p:sp>
        <p:nvSpPr>
          <p:cNvPr id="32" name="TextBox 31"/>
          <p:cNvSpPr txBox="1"/>
          <p:nvPr/>
        </p:nvSpPr>
        <p:spPr>
          <a:xfrm>
            <a:off x="6477000" y="3263900"/>
            <a:ext cx="406400" cy="242315"/>
          </a:xfrm>
          <a:prstGeom prst="rect">
            <a:avLst/>
          </a:prstGeom>
          <a:noFill/>
        </p:spPr>
        <p:txBody>
          <a:bodyPr wrap="none" tIns="0" bIns="0" lIns="0" rIns="0" anchor="t">
            <a:spAutoFit/>
          </a:bodyPr>
          <a:lstStyle/>
          <a:p>
            <a:pPr>
              <a:lnSpc>
                <a:spcPts val="1408"/>
              </a:lnSpc>
              <a:spcBef>
                <a:spcPts val="0"/>
              </a:spcBef>
              <a:spcAft>
                <a:spcPts val="0"/>
              </a:spcAft>
            </a:pPr>
            <a:r>
              <a:rPr sz="1100" b="1">
                <a:solidFill>
                  <a:srgbClr val="596C80"/>
                </a:solidFill>
                <a:latin typeface="Noto Sans"/>
              </a:rPr>
              <a:t>01</a:t>
            </a:r>
          </a:p>
        </p:txBody>
      </p:sp>
      <p:sp>
        <p:nvSpPr>
          <p:cNvPr id="33" name="TextBox 32"/>
          <p:cNvSpPr txBox="1"/>
          <p:nvPr/>
        </p:nvSpPr>
        <p:spPr>
          <a:xfrm>
            <a:off x="6946900" y="3225800"/>
            <a:ext cx="4343400" cy="307340"/>
          </a:xfrm>
          <a:prstGeom prst="rect">
            <a:avLst/>
          </a:prstGeom>
          <a:noFill/>
        </p:spPr>
        <p:txBody>
          <a:bodyPr wrap="none" tIns="0" bIns="0" lIns="0" rIns="0" anchor="t">
            <a:spAutoFit/>
          </a:bodyPr>
          <a:lstStyle/>
          <a:p>
            <a:pPr>
              <a:lnSpc>
                <a:spcPts val="1920"/>
              </a:lnSpc>
              <a:spcBef>
                <a:spcPts val="0"/>
              </a:spcBef>
              <a:spcAft>
                <a:spcPts val="0"/>
              </a:spcAft>
            </a:pPr>
            <a:r>
              <a:rPr sz="1500" b="0">
                <a:solidFill>
                  <a:srgbClr val="15243A"/>
                </a:solidFill>
                <a:latin typeface="Noto Sans"/>
              </a:rPr>
              <a:t>Service has no endpoints</a:t>
            </a:r>
          </a:p>
        </p:txBody>
      </p:sp>
      <p:cxnSp>
        <p:nvCxnSpPr>
          <p:cNvPr id="34" name="Connector 33"/>
          <p:cNvCxnSpPr/>
          <p:nvPr/>
        </p:nvCxnSpPr>
        <p:spPr>
          <a:xfrm>
            <a:off x="6629400" y="3505200"/>
            <a:ext cx="0" cy="139700"/>
          </a:xfrm>
          <a:prstGeom prst="line">
            <a:avLst/>
          </a:prstGeom>
          <a:ln w="17780">
            <a:solidFill>
              <a:srgbClr val="DCE4ED"/>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6588347" y="3566046"/>
            <a:ext cx="41053" cy="78854"/>
          </a:xfrm>
          <a:prstGeom prst="line">
            <a:avLst/>
          </a:prstGeom>
          <a:ln w="17780">
            <a:solidFill>
              <a:srgbClr val="DCE4ED"/>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6629400" y="3566046"/>
            <a:ext cx="41052" cy="78854"/>
          </a:xfrm>
          <a:prstGeom prst="line">
            <a:avLst/>
          </a:prstGeom>
          <a:ln w="17780">
            <a:solidFill>
              <a:srgbClr val="DCE4ED"/>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6477000" y="3771900"/>
            <a:ext cx="406400" cy="242315"/>
          </a:xfrm>
          <a:prstGeom prst="rect">
            <a:avLst/>
          </a:prstGeom>
          <a:noFill/>
        </p:spPr>
        <p:txBody>
          <a:bodyPr wrap="none" tIns="0" bIns="0" lIns="0" rIns="0" anchor="t">
            <a:spAutoFit/>
          </a:bodyPr>
          <a:lstStyle/>
          <a:p>
            <a:pPr>
              <a:lnSpc>
                <a:spcPts val="1408"/>
              </a:lnSpc>
              <a:spcBef>
                <a:spcPts val="0"/>
              </a:spcBef>
              <a:spcAft>
                <a:spcPts val="0"/>
              </a:spcAft>
            </a:pPr>
            <a:r>
              <a:rPr sz="1100" b="1">
                <a:solidFill>
                  <a:srgbClr val="596C80"/>
                </a:solidFill>
                <a:latin typeface="Noto Sans"/>
              </a:rPr>
              <a:t>02</a:t>
            </a:r>
          </a:p>
        </p:txBody>
      </p:sp>
      <p:sp>
        <p:nvSpPr>
          <p:cNvPr id="38" name="TextBox 37"/>
          <p:cNvSpPr txBox="1"/>
          <p:nvPr/>
        </p:nvSpPr>
        <p:spPr>
          <a:xfrm>
            <a:off x="6946900" y="3733800"/>
            <a:ext cx="4343400" cy="307340"/>
          </a:xfrm>
          <a:prstGeom prst="rect">
            <a:avLst/>
          </a:prstGeom>
          <a:noFill/>
        </p:spPr>
        <p:txBody>
          <a:bodyPr wrap="none" tIns="0" bIns="0" lIns="0" rIns="0" anchor="t">
            <a:spAutoFit/>
          </a:bodyPr>
          <a:lstStyle/>
          <a:p>
            <a:pPr>
              <a:lnSpc>
                <a:spcPts val="1920"/>
              </a:lnSpc>
              <a:spcBef>
                <a:spcPts val="0"/>
              </a:spcBef>
              <a:spcAft>
                <a:spcPts val="0"/>
              </a:spcAft>
            </a:pPr>
            <a:r>
              <a:rPr sz="1500" b="0">
                <a:solidFill>
                  <a:srgbClr val="15243A"/>
                </a:solidFill>
                <a:latin typeface="Noto Sans"/>
              </a:rPr>
              <a:t>Compare selector + Pod labels</a:t>
            </a:r>
          </a:p>
        </p:txBody>
      </p:sp>
      <p:cxnSp>
        <p:nvCxnSpPr>
          <p:cNvPr id="39" name="Connector 38"/>
          <p:cNvCxnSpPr/>
          <p:nvPr/>
        </p:nvCxnSpPr>
        <p:spPr>
          <a:xfrm>
            <a:off x="6629400" y="4013200"/>
            <a:ext cx="0" cy="139700"/>
          </a:xfrm>
          <a:prstGeom prst="line">
            <a:avLst/>
          </a:prstGeom>
          <a:ln w="17780">
            <a:solidFill>
              <a:srgbClr val="DCE4ED"/>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6588347" y="4074046"/>
            <a:ext cx="41053" cy="78854"/>
          </a:xfrm>
          <a:prstGeom prst="line">
            <a:avLst/>
          </a:prstGeom>
          <a:ln w="17780">
            <a:solidFill>
              <a:srgbClr val="DCE4ED"/>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6629400" y="4074046"/>
            <a:ext cx="41052" cy="78854"/>
          </a:xfrm>
          <a:prstGeom prst="line">
            <a:avLst/>
          </a:prstGeom>
          <a:ln w="17780">
            <a:solidFill>
              <a:srgbClr val="DCE4ED"/>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6477000" y="4279900"/>
            <a:ext cx="406400" cy="242315"/>
          </a:xfrm>
          <a:prstGeom prst="rect">
            <a:avLst/>
          </a:prstGeom>
          <a:noFill/>
        </p:spPr>
        <p:txBody>
          <a:bodyPr wrap="none" tIns="0" bIns="0" lIns="0" rIns="0" anchor="t">
            <a:spAutoFit/>
          </a:bodyPr>
          <a:lstStyle/>
          <a:p>
            <a:pPr>
              <a:lnSpc>
                <a:spcPts val="1408"/>
              </a:lnSpc>
              <a:spcBef>
                <a:spcPts val="0"/>
              </a:spcBef>
              <a:spcAft>
                <a:spcPts val="0"/>
              </a:spcAft>
            </a:pPr>
            <a:r>
              <a:rPr sz="1100" b="1">
                <a:solidFill>
                  <a:srgbClr val="596C80"/>
                </a:solidFill>
                <a:latin typeface="Noto Sans"/>
              </a:rPr>
              <a:t>03</a:t>
            </a:r>
          </a:p>
        </p:txBody>
      </p:sp>
      <p:sp>
        <p:nvSpPr>
          <p:cNvPr id="43" name="TextBox 42"/>
          <p:cNvSpPr txBox="1"/>
          <p:nvPr/>
        </p:nvSpPr>
        <p:spPr>
          <a:xfrm>
            <a:off x="6946900" y="4241800"/>
            <a:ext cx="4343400" cy="307340"/>
          </a:xfrm>
          <a:prstGeom prst="rect">
            <a:avLst/>
          </a:prstGeom>
          <a:noFill/>
        </p:spPr>
        <p:txBody>
          <a:bodyPr wrap="none" tIns="0" bIns="0" lIns="0" rIns="0" anchor="t">
            <a:spAutoFit/>
          </a:bodyPr>
          <a:lstStyle/>
          <a:p>
            <a:pPr>
              <a:lnSpc>
                <a:spcPts val="1920"/>
              </a:lnSpc>
              <a:spcBef>
                <a:spcPts val="0"/>
              </a:spcBef>
              <a:spcAft>
                <a:spcPts val="0"/>
              </a:spcAft>
            </a:pPr>
            <a:r>
              <a:rPr sz="1500" b="0">
                <a:solidFill>
                  <a:srgbClr val="15243A"/>
                </a:solidFill>
                <a:latin typeface="Noto Sans"/>
              </a:rPr>
              <a:t>Selector does not match</a:t>
            </a:r>
          </a:p>
        </p:txBody>
      </p:sp>
      <p:sp>
        <p:nvSpPr>
          <p:cNvPr id="44" name="Rounded Rectangle 43"/>
          <p:cNvSpPr/>
          <p:nvPr/>
        </p:nvSpPr>
        <p:spPr>
          <a:xfrm>
            <a:off x="6451600" y="5067300"/>
            <a:ext cx="4927600" cy="596900"/>
          </a:xfrm>
          <a:prstGeom prst="roundRect">
            <a:avLst>
              <a:gd name="adj" fmla="val 10638"/>
            </a:avLst>
          </a:prstGeom>
          <a:solidFill>
            <a:srgbClr val="E3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604000" y="5232400"/>
            <a:ext cx="4635500" cy="274828"/>
          </a:xfrm>
          <a:prstGeom prst="rect">
            <a:avLst/>
          </a:prstGeom>
          <a:noFill/>
        </p:spPr>
        <p:txBody>
          <a:bodyPr wrap="none" tIns="0" bIns="0" lIns="0" rIns="0" anchor="t">
            <a:spAutoFit/>
          </a:bodyPr>
          <a:lstStyle/>
          <a:p>
            <a:pPr>
              <a:lnSpc>
                <a:spcPts val="1664"/>
              </a:lnSpc>
              <a:spcBef>
                <a:spcPts val="0"/>
              </a:spcBef>
              <a:spcAft>
                <a:spcPts val="0"/>
              </a:spcAft>
            </a:pPr>
            <a:r>
              <a:rPr sz="1300" b="1">
                <a:solidFill>
                  <a:srgbClr val="087F76"/>
                </a:solidFill>
                <a:latin typeface="Noto Sans"/>
              </a:rPr>
              <a:t>Correct selector </a:t>
            </a:r>
            <a:r>
              <a:rPr sz="1300" b="1">
                <a:solidFill>
                  <a:srgbClr val="087F76"/>
                </a:solidFill>
                <a:latin typeface="DejaVu Sans"/>
              </a:rPr>
              <a:t>→</a:t>
            </a:r>
            <a:r>
              <a:rPr sz="1300" b="1">
                <a:solidFill>
                  <a:srgbClr val="087F76"/>
                </a:solidFill>
                <a:latin typeface="Noto Sans"/>
              </a:rPr>
              <a:t> HTTP success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79400"/>
            <a:ext cx="4445000" cy="209804"/>
          </a:xfrm>
          <a:prstGeom prst="rect">
            <a:avLst/>
          </a:prstGeom>
          <a:noFill/>
        </p:spPr>
        <p:txBody>
          <a:bodyPr wrap="none" tIns="0" bIns="0" lIns="0" rIns="0" anchor="t">
            <a:spAutoFit/>
          </a:bodyPr>
          <a:lstStyle/>
          <a:p>
            <a:pPr>
              <a:lnSpc>
                <a:spcPts val="1152"/>
              </a:lnSpc>
              <a:spcBef>
                <a:spcPts val="0"/>
              </a:spcBef>
              <a:spcAft>
                <a:spcPts val="0"/>
              </a:spcAft>
            </a:pPr>
            <a:r>
              <a:rPr sz="900" b="1">
                <a:solidFill>
                  <a:srgbClr val="596C80"/>
                </a:solidFill>
                <a:latin typeface="Noto Sans"/>
              </a:rPr>
              <a:t>RH / RELEASE HELPDESK</a:t>
            </a:r>
          </a:p>
        </p:txBody>
      </p:sp>
      <p:sp>
        <p:nvSpPr>
          <p:cNvPr id="4" name="TextBox 3"/>
          <p:cNvSpPr txBox="1"/>
          <p:nvPr/>
        </p:nvSpPr>
        <p:spPr>
          <a:xfrm>
            <a:off x="8763000" y="279400"/>
            <a:ext cx="2857500" cy="209804"/>
          </a:xfrm>
          <a:prstGeom prst="rect">
            <a:avLst/>
          </a:prstGeom>
          <a:noFill/>
        </p:spPr>
        <p:txBody>
          <a:bodyPr wrap="none" tIns="0" bIns="0" lIns="0" rIns="0" anchor="t">
            <a:spAutoFit/>
          </a:bodyPr>
          <a:lstStyle/>
          <a:p>
            <a:pPr>
              <a:lnSpc>
                <a:spcPts val="1152"/>
              </a:lnSpc>
              <a:spcBef>
                <a:spcPts val="0"/>
              </a:spcBef>
              <a:spcAft>
                <a:spcPts val="0"/>
              </a:spcAft>
            </a:pPr>
            <a:r>
              <a:rPr sz="900" b="1">
                <a:solidFill>
                  <a:srgbClr val="596C80"/>
                </a:solidFill>
                <a:latin typeface="Noto Sans"/>
              </a:rPr>
              <a:t>14 / TEARDOWN &amp; COST DISCIPLINE</a:t>
            </a:r>
          </a:p>
        </p:txBody>
      </p:sp>
      <p:sp>
        <p:nvSpPr>
          <p:cNvPr id="5" name="Rectangle 4"/>
          <p:cNvSpPr/>
          <p:nvPr/>
        </p:nvSpPr>
        <p:spPr>
          <a:xfrm>
            <a:off x="584200" y="660400"/>
            <a:ext cx="355600" cy="38100"/>
          </a:xfrm>
          <a:prstGeom prst="rect">
            <a:avLst/>
          </a:prstGeom>
          <a:solidFill>
            <a:srgbClr val="24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84200" y="876300"/>
            <a:ext cx="11049000" cy="508380"/>
          </a:xfrm>
          <a:prstGeom prst="rect">
            <a:avLst/>
          </a:prstGeom>
          <a:noFill/>
        </p:spPr>
        <p:txBody>
          <a:bodyPr wrap="none" tIns="0" bIns="0" lIns="0" rIns="0" anchor="t">
            <a:spAutoFit/>
          </a:bodyPr>
          <a:lstStyle/>
          <a:p>
            <a:pPr>
              <a:lnSpc>
                <a:spcPts val="3502"/>
              </a:lnSpc>
              <a:spcBef>
                <a:spcPts val="0"/>
              </a:spcBef>
              <a:spcAft>
                <a:spcPts val="0"/>
              </a:spcAft>
            </a:pPr>
            <a:r>
              <a:rPr sz="3100" b="1">
                <a:solidFill>
                  <a:srgbClr val="15243A"/>
                </a:solidFill>
                <a:latin typeface="Noto Sans"/>
              </a:rPr>
              <a:t>The deployment was verified, then removed.</a:t>
            </a:r>
          </a:p>
        </p:txBody>
      </p:sp>
      <p:sp>
        <p:nvSpPr>
          <p:cNvPr id="7" name="TextBox 6"/>
          <p:cNvSpPr txBox="1"/>
          <p:nvPr/>
        </p:nvSpPr>
        <p:spPr>
          <a:xfrm>
            <a:off x="584200" y="1473200"/>
            <a:ext cx="10985500" cy="258572"/>
          </a:xfrm>
          <a:prstGeom prst="rect">
            <a:avLst/>
          </a:prstGeom>
          <a:noFill/>
        </p:spPr>
        <p:txBody>
          <a:bodyPr wrap="none" tIns="0" bIns="0" lIns="0" rIns="0" anchor="t">
            <a:spAutoFit/>
          </a:bodyPr>
          <a:lstStyle/>
          <a:p>
            <a:pPr>
              <a:lnSpc>
                <a:spcPts val="1536"/>
              </a:lnSpc>
              <a:spcBef>
                <a:spcPts val="0"/>
              </a:spcBef>
              <a:spcAft>
                <a:spcPts val="0"/>
              </a:spcAft>
            </a:pPr>
            <a:r>
              <a:rPr sz="1200" b="0">
                <a:solidFill>
                  <a:srgbClr val="596C80"/>
                </a:solidFill>
                <a:latin typeface="Noto Sans"/>
              </a:rPr>
              <a:t>Cloud evidence was pushed and checked before the authorized teardown.</a:t>
            </a:r>
          </a:p>
        </p:txBody>
      </p:sp>
      <p:cxnSp>
        <p:nvCxnSpPr>
          <p:cNvPr id="8" name="Connector 7"/>
          <p:cNvCxnSpPr/>
          <p:nvPr/>
        </p:nvCxnSpPr>
        <p:spPr>
          <a:xfrm>
            <a:off x="584200" y="6438900"/>
            <a:ext cx="11023600" cy="0"/>
          </a:xfrm>
          <a:prstGeom prst="line">
            <a:avLst/>
          </a:prstGeom>
          <a:ln w="10160">
            <a:solidFill>
              <a:srgbClr val="DCE4ED"/>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84200" y="6578600"/>
            <a:ext cx="4572000" cy="193548"/>
          </a:xfrm>
          <a:prstGeom prst="rect">
            <a:avLst/>
          </a:prstGeom>
          <a:noFill/>
        </p:spPr>
        <p:txBody>
          <a:bodyPr wrap="none" tIns="0" bIns="0" lIns="0" rIns="0" anchor="t">
            <a:spAutoFit/>
          </a:bodyPr>
          <a:lstStyle/>
          <a:p>
            <a:pPr>
              <a:lnSpc>
                <a:spcPts val="1024"/>
              </a:lnSpc>
              <a:spcBef>
                <a:spcPts val="0"/>
              </a:spcBef>
              <a:spcAft>
                <a:spcPts val="0"/>
              </a:spcAft>
            </a:pPr>
            <a:r>
              <a:rPr sz="800" b="0">
                <a:solidFill>
                  <a:srgbClr val="596C80"/>
                </a:solidFill>
                <a:latin typeface="Noto Sans"/>
              </a:rPr>
              <a:t>RELEASE ENGINEERING / PLATFORM WALKTHROUGH</a:t>
            </a:r>
          </a:p>
        </p:txBody>
      </p:sp>
      <p:sp>
        <p:nvSpPr>
          <p:cNvPr id="10" name="TextBox 9"/>
          <p:cNvSpPr txBox="1"/>
          <p:nvPr/>
        </p:nvSpPr>
        <p:spPr>
          <a:xfrm>
            <a:off x="10922000" y="6553200"/>
            <a:ext cx="736600" cy="209804"/>
          </a:xfrm>
          <a:prstGeom prst="rect">
            <a:avLst/>
          </a:prstGeom>
          <a:noFill/>
        </p:spPr>
        <p:txBody>
          <a:bodyPr wrap="none" tIns="0" bIns="0" lIns="0" rIns="0" anchor="t">
            <a:spAutoFit/>
          </a:bodyPr>
          <a:lstStyle/>
          <a:p>
            <a:pPr>
              <a:lnSpc>
                <a:spcPts val="1152"/>
              </a:lnSpc>
              <a:spcBef>
                <a:spcPts val="0"/>
              </a:spcBef>
              <a:spcAft>
                <a:spcPts val="0"/>
              </a:spcAft>
            </a:pPr>
            <a:r>
              <a:rPr sz="900" b="1">
                <a:solidFill>
                  <a:srgbClr val="596C80"/>
                </a:solidFill>
                <a:latin typeface="Noto Sans"/>
              </a:rPr>
              <a:t>15 / 16</a:t>
            </a:r>
          </a:p>
        </p:txBody>
      </p:sp>
      <p:sp>
        <p:nvSpPr>
          <p:cNvPr id="11" name="TextBox 10"/>
          <p:cNvSpPr txBox="1"/>
          <p:nvPr/>
        </p:nvSpPr>
        <p:spPr>
          <a:xfrm>
            <a:off x="584200" y="6210300"/>
            <a:ext cx="10414000" cy="193548"/>
          </a:xfrm>
          <a:prstGeom prst="rect">
            <a:avLst/>
          </a:prstGeom>
          <a:noFill/>
        </p:spPr>
        <p:txBody>
          <a:bodyPr wrap="none" tIns="0" bIns="0" lIns="0" rIns="0" anchor="t">
            <a:spAutoFit/>
          </a:bodyPr>
          <a:lstStyle/>
          <a:p>
            <a:pPr>
              <a:lnSpc>
                <a:spcPts val="1024"/>
              </a:lnSpc>
              <a:spcBef>
                <a:spcPts val="0"/>
              </a:spcBef>
              <a:spcAft>
                <a:spcPts val="0"/>
              </a:spcAft>
            </a:pPr>
            <a:r>
              <a:rPr sz="800" b="0">
                <a:solidFill>
                  <a:srgbClr val="596C80"/>
                </a:solidFill>
                <a:latin typeface="Noto Sans"/>
                <a:hlinkClick r:id="rId2"/>
              </a:rPr>
              <a:t>Evidence · Destroy completion and recorded residual-resource checks</a:t>
            </a:r>
          </a:p>
        </p:txBody>
      </p:sp>
      <p:sp>
        <p:nvSpPr>
          <p:cNvPr id="12" name="Rounded Rectangle 11"/>
          <p:cNvSpPr/>
          <p:nvPr/>
        </p:nvSpPr>
        <p:spPr>
          <a:xfrm>
            <a:off x="571500" y="2032000"/>
            <a:ext cx="6502400" cy="3454400"/>
          </a:xfrm>
          <a:prstGeom prst="roundRect">
            <a:avLst>
              <a:gd name="adj" fmla="val 1102"/>
            </a:avLst>
          </a:prstGeom>
          <a:solidFill>
            <a:srgbClr val="FFFFFF"/>
          </a:solidFill>
          <a:ln w="889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aws-terraform-destroy-complete.png">
            <a:hlinkClick r:id="rId4"/>
          </p:cNvPr>
          <p:cNvPicPr>
            <a:picLocks noChangeAspect="1"/>
          </p:cNvPicPr>
          <p:nvPr/>
        </p:nvPicPr>
        <p:blipFill>
          <a:blip r:embed="rId3"/>
          <a:stretch>
            <a:fillRect/>
          </a:stretch>
        </p:blipFill>
        <p:spPr>
          <a:xfrm>
            <a:off x="777694" y="2044700"/>
            <a:ext cx="6090011" cy="3429000"/>
          </a:xfrm>
          <a:prstGeom prst="rect">
            <a:avLst/>
          </a:prstGeom>
        </p:spPr>
      </p:pic>
      <p:sp>
        <p:nvSpPr>
          <p:cNvPr id="14" name="TextBox 13"/>
          <p:cNvSpPr txBox="1"/>
          <p:nvPr/>
        </p:nvSpPr>
        <p:spPr>
          <a:xfrm>
            <a:off x="584200" y="5562600"/>
            <a:ext cx="6477000" cy="209804"/>
          </a:xfrm>
          <a:prstGeom prst="rect">
            <a:avLst/>
          </a:prstGeom>
          <a:noFill/>
        </p:spPr>
        <p:txBody>
          <a:bodyPr wrap="none" tIns="0" bIns="0" lIns="0" rIns="0" anchor="t">
            <a:spAutoFit/>
          </a:bodyPr>
          <a:lstStyle/>
          <a:p>
            <a:pPr>
              <a:lnSpc>
                <a:spcPts val="1152"/>
              </a:lnSpc>
              <a:spcBef>
                <a:spcPts val="0"/>
              </a:spcBef>
              <a:spcAft>
                <a:spcPts val="0"/>
              </a:spcAft>
            </a:pPr>
            <a:r>
              <a:rPr sz="900" b="0">
                <a:solidFill>
                  <a:srgbClr val="596C80"/>
                </a:solidFill>
                <a:latin typeface="Noto Sans"/>
              </a:rPr>
              <a:t>Actual Terraform destroy completion · 66 resources destroyed</a:t>
            </a:r>
          </a:p>
        </p:txBody>
      </p:sp>
      <p:sp>
        <p:nvSpPr>
          <p:cNvPr id="15" name="TextBox 14"/>
          <p:cNvSpPr txBox="1"/>
          <p:nvPr/>
        </p:nvSpPr>
        <p:spPr>
          <a:xfrm>
            <a:off x="7620000" y="1993900"/>
            <a:ext cx="3987800" cy="1055116"/>
          </a:xfrm>
          <a:prstGeom prst="rect">
            <a:avLst/>
          </a:prstGeom>
          <a:noFill/>
        </p:spPr>
        <p:txBody>
          <a:bodyPr wrap="none" tIns="0" bIns="0" lIns="0" rIns="0" anchor="t">
            <a:spAutoFit/>
          </a:bodyPr>
          <a:lstStyle/>
          <a:p>
            <a:pPr>
              <a:lnSpc>
                <a:spcPts val="7808"/>
              </a:lnSpc>
              <a:spcBef>
                <a:spcPts val="0"/>
              </a:spcBef>
              <a:spcAft>
                <a:spcPts val="0"/>
              </a:spcAft>
            </a:pPr>
            <a:r>
              <a:rPr sz="6100" b="1">
                <a:solidFill>
                  <a:srgbClr val="2463EB"/>
                </a:solidFill>
                <a:latin typeface="Noto Sans"/>
              </a:rPr>
              <a:t>66</a:t>
            </a:r>
          </a:p>
        </p:txBody>
      </p:sp>
      <p:sp>
        <p:nvSpPr>
          <p:cNvPr id="16" name="TextBox 15"/>
          <p:cNvSpPr txBox="1"/>
          <p:nvPr/>
        </p:nvSpPr>
        <p:spPr>
          <a:xfrm>
            <a:off x="7645400" y="2984500"/>
            <a:ext cx="3962400" cy="339852"/>
          </a:xfrm>
          <a:prstGeom prst="rect">
            <a:avLst/>
          </a:prstGeom>
          <a:noFill/>
        </p:spPr>
        <p:txBody>
          <a:bodyPr wrap="none" tIns="0" bIns="0" lIns="0" rIns="0" anchor="t">
            <a:spAutoFit/>
          </a:bodyPr>
          <a:lstStyle/>
          <a:p>
            <a:pPr>
              <a:lnSpc>
                <a:spcPts val="2176"/>
              </a:lnSpc>
              <a:spcBef>
                <a:spcPts val="0"/>
              </a:spcBef>
              <a:spcAft>
                <a:spcPts val="0"/>
              </a:spcAft>
            </a:pPr>
            <a:r>
              <a:rPr sz="1700" b="1">
                <a:solidFill>
                  <a:srgbClr val="15243A"/>
                </a:solidFill>
                <a:latin typeface="Noto Sans"/>
              </a:rPr>
              <a:t>Terraform resources destroyed</a:t>
            </a:r>
          </a:p>
        </p:txBody>
      </p:sp>
      <p:sp>
        <p:nvSpPr>
          <p:cNvPr id="17" name="TextBox 16"/>
          <p:cNvSpPr txBox="1"/>
          <p:nvPr/>
        </p:nvSpPr>
        <p:spPr>
          <a:xfrm>
            <a:off x="7645400" y="3619500"/>
            <a:ext cx="381000" cy="258572"/>
          </a:xfrm>
          <a:prstGeom prst="rect">
            <a:avLst/>
          </a:prstGeom>
          <a:noFill/>
        </p:spPr>
        <p:txBody>
          <a:bodyPr wrap="none" tIns="0" bIns="0" lIns="0" rIns="0" anchor="t">
            <a:spAutoFit/>
          </a:bodyPr>
          <a:lstStyle/>
          <a:p>
            <a:pPr>
              <a:lnSpc>
                <a:spcPts val="1536"/>
              </a:lnSpc>
              <a:spcBef>
                <a:spcPts val="0"/>
              </a:spcBef>
              <a:spcAft>
                <a:spcPts val="0"/>
              </a:spcAft>
            </a:pPr>
            <a:r>
              <a:rPr sz="1200" b="1">
                <a:solidFill>
                  <a:srgbClr val="087F76"/>
                </a:solidFill>
                <a:latin typeface="Noto Sans"/>
              </a:rPr>
              <a:t>01</a:t>
            </a:r>
          </a:p>
        </p:txBody>
      </p:sp>
      <p:sp>
        <p:nvSpPr>
          <p:cNvPr id="18" name="TextBox 17"/>
          <p:cNvSpPr txBox="1"/>
          <p:nvPr/>
        </p:nvSpPr>
        <p:spPr>
          <a:xfrm>
            <a:off x="8128000" y="3581400"/>
            <a:ext cx="3479800" cy="339852"/>
          </a:xfrm>
          <a:prstGeom prst="rect">
            <a:avLst/>
          </a:prstGeom>
          <a:noFill/>
        </p:spPr>
        <p:txBody>
          <a:bodyPr wrap="none" tIns="0" bIns="0" lIns="0" rIns="0" anchor="t">
            <a:spAutoFit/>
          </a:bodyPr>
          <a:lstStyle/>
          <a:p>
            <a:pPr>
              <a:lnSpc>
                <a:spcPts val="2176"/>
              </a:lnSpc>
              <a:spcBef>
                <a:spcPts val="0"/>
              </a:spcBef>
              <a:spcAft>
                <a:spcPts val="0"/>
              </a:spcAft>
            </a:pPr>
            <a:r>
              <a:rPr sz="1700" b="1">
                <a:solidFill>
                  <a:srgbClr val="15243A"/>
                </a:solidFill>
                <a:latin typeface="Noto Sans"/>
              </a:rPr>
              <a:t>Residual checks passed</a:t>
            </a:r>
          </a:p>
        </p:txBody>
      </p:sp>
      <p:sp>
        <p:nvSpPr>
          <p:cNvPr id="19" name="TextBox 18"/>
          <p:cNvSpPr txBox="1"/>
          <p:nvPr/>
        </p:nvSpPr>
        <p:spPr>
          <a:xfrm>
            <a:off x="8128000" y="3937000"/>
            <a:ext cx="3479800" cy="486156"/>
          </a:xfrm>
          <a:prstGeom prst="rect">
            <a:avLst/>
          </a:prstGeom>
          <a:noFill/>
        </p:spPr>
        <p:txBody>
          <a:bodyPr wrap="none" tIns="0" bIns="0" lIns="0" rIns="0" anchor="t">
            <a:spAutoFit/>
          </a:bodyPr>
          <a:lstStyle/>
          <a:p>
            <a:pPr>
              <a:lnSpc>
                <a:spcPts val="1664"/>
              </a:lnSpc>
              <a:spcBef>
                <a:spcPts val="0"/>
              </a:spcBef>
              <a:spcAft>
                <a:spcPts val="0"/>
              </a:spcAft>
            </a:pPr>
            <a:r>
              <a:rPr sz="1300" b="0">
                <a:solidFill>
                  <a:srgbClr val="596C80"/>
                </a:solidFill>
                <a:latin typeface="Noto Sans"/>
              </a:rPr>
              <a:t>Project EKS, VPC, ALB, workers, NAT and</a:t>
            </a:r>
          </a:p>
          <a:p>
            <a:pPr>
              <a:lnSpc>
                <a:spcPts val="1664"/>
              </a:lnSpc>
              <a:spcBef>
                <a:spcPts val="0"/>
              </a:spcBef>
              <a:spcAft>
                <a:spcPts val="0"/>
              </a:spcAft>
            </a:pPr>
            <a:r>
              <a:rPr sz="1300" b="0">
                <a:solidFill>
                  <a:srgbClr val="596C80"/>
                </a:solidFill>
                <a:latin typeface="Noto Sans"/>
              </a:rPr>
              <a:t>retained disks absent.</a:t>
            </a:r>
          </a:p>
        </p:txBody>
      </p:sp>
      <p:sp>
        <p:nvSpPr>
          <p:cNvPr id="20" name="TextBox 19"/>
          <p:cNvSpPr txBox="1"/>
          <p:nvPr/>
        </p:nvSpPr>
        <p:spPr>
          <a:xfrm>
            <a:off x="7645400" y="4826000"/>
            <a:ext cx="381000" cy="258572"/>
          </a:xfrm>
          <a:prstGeom prst="rect">
            <a:avLst/>
          </a:prstGeom>
          <a:noFill/>
        </p:spPr>
        <p:txBody>
          <a:bodyPr wrap="none" tIns="0" bIns="0" lIns="0" rIns="0" anchor="t">
            <a:spAutoFit/>
          </a:bodyPr>
          <a:lstStyle/>
          <a:p>
            <a:pPr>
              <a:lnSpc>
                <a:spcPts val="1536"/>
              </a:lnSpc>
              <a:spcBef>
                <a:spcPts val="0"/>
              </a:spcBef>
              <a:spcAft>
                <a:spcPts val="0"/>
              </a:spcAft>
            </a:pPr>
            <a:r>
              <a:rPr sz="1200" b="1">
                <a:solidFill>
                  <a:srgbClr val="087F76"/>
                </a:solidFill>
                <a:latin typeface="Noto Sans"/>
              </a:rPr>
              <a:t>02</a:t>
            </a:r>
          </a:p>
        </p:txBody>
      </p:sp>
      <p:sp>
        <p:nvSpPr>
          <p:cNvPr id="21" name="TextBox 20"/>
          <p:cNvSpPr txBox="1"/>
          <p:nvPr/>
        </p:nvSpPr>
        <p:spPr>
          <a:xfrm>
            <a:off x="8128000" y="4787900"/>
            <a:ext cx="3479800" cy="339852"/>
          </a:xfrm>
          <a:prstGeom prst="rect">
            <a:avLst/>
          </a:prstGeom>
          <a:noFill/>
        </p:spPr>
        <p:txBody>
          <a:bodyPr wrap="none" tIns="0" bIns="0" lIns="0" rIns="0" anchor="t">
            <a:spAutoFit/>
          </a:bodyPr>
          <a:lstStyle/>
          <a:p>
            <a:pPr>
              <a:lnSpc>
                <a:spcPts val="2176"/>
              </a:lnSpc>
              <a:spcBef>
                <a:spcPts val="0"/>
              </a:spcBef>
              <a:spcAft>
                <a:spcPts val="0"/>
              </a:spcAft>
            </a:pPr>
            <a:r>
              <a:rPr sz="1700" b="1">
                <a:solidFill>
                  <a:srgbClr val="15243A"/>
                </a:solidFill>
                <a:latin typeface="Noto Sans"/>
              </a:rPr>
              <a:t>Deployment disabled</a:t>
            </a:r>
          </a:p>
        </p:txBody>
      </p:sp>
      <p:sp>
        <p:nvSpPr>
          <p:cNvPr id="22" name="TextBox 21"/>
          <p:cNvSpPr txBox="1"/>
          <p:nvPr/>
        </p:nvSpPr>
        <p:spPr>
          <a:xfrm>
            <a:off x="8128000" y="5143500"/>
            <a:ext cx="3479800" cy="486156"/>
          </a:xfrm>
          <a:prstGeom prst="rect">
            <a:avLst/>
          </a:prstGeom>
          <a:noFill/>
        </p:spPr>
        <p:txBody>
          <a:bodyPr wrap="none" tIns="0" bIns="0" lIns="0" rIns="0" anchor="t">
            <a:spAutoFit/>
          </a:bodyPr>
          <a:lstStyle/>
          <a:p>
            <a:pPr>
              <a:lnSpc>
                <a:spcPts val="1664"/>
              </a:lnSpc>
              <a:spcBef>
                <a:spcPts val="0"/>
              </a:spcBef>
              <a:spcAft>
                <a:spcPts val="0"/>
              </a:spcAft>
            </a:pPr>
            <a:r>
              <a:rPr sz="1300" b="0">
                <a:solidFill>
                  <a:srgbClr val="596C80"/>
                </a:solidFill>
                <a:latin typeface="Noto Sans"/>
              </a:rPr>
              <a:t>DEPLOY_ENABLED=false; AWS application</a:t>
            </a:r>
          </a:p>
          <a:p>
            <a:pPr>
              <a:lnSpc>
                <a:spcPts val="1664"/>
              </a:lnSpc>
              <a:spcBef>
                <a:spcPts val="0"/>
              </a:spcBef>
              <a:spcAft>
                <a:spcPts val="0"/>
              </a:spcAft>
            </a:pPr>
            <a:r>
              <a:rPr sz="1300" b="0">
                <a:solidFill>
                  <a:srgbClr val="596C80"/>
                </a:solidFill>
                <a:latin typeface="Noto Sans"/>
              </a:rPr>
              <a:t>URL is historical.</a:t>
            </a:r>
          </a:p>
        </p:txBody>
      </p:sp>
      <p:sp>
        <p:nvSpPr>
          <p:cNvPr id="23" name="TextBox 22"/>
          <p:cNvSpPr txBox="1"/>
          <p:nvPr/>
        </p:nvSpPr>
        <p:spPr>
          <a:xfrm>
            <a:off x="584200" y="5918200"/>
            <a:ext cx="11023600" cy="226060"/>
          </a:xfrm>
          <a:prstGeom prst="rect">
            <a:avLst/>
          </a:prstGeom>
          <a:noFill/>
        </p:spPr>
        <p:txBody>
          <a:bodyPr wrap="none" tIns="0" bIns="0" lIns="0" rIns="0" anchor="t">
            <a:spAutoFit/>
          </a:bodyPr>
          <a:lstStyle/>
          <a:p>
            <a:pPr>
              <a:lnSpc>
                <a:spcPts val="1280"/>
              </a:lnSpc>
              <a:spcBef>
                <a:spcPts val="0"/>
              </a:spcBef>
              <a:spcAft>
                <a:spcPts val="0"/>
              </a:spcAft>
            </a:pPr>
            <a:r>
              <a:rPr sz="1000" b="0">
                <a:solidFill>
                  <a:srgbClr val="596C80"/>
                </a:solidFill>
                <a:latin typeface="Noto Sans"/>
              </a:rPr>
              <a:t>Recorded cleanup: 16 Oct 2026 · KMS key disabled / pending deletion · billing settlement may lag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E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79400"/>
            <a:ext cx="4445000" cy="209804"/>
          </a:xfrm>
          <a:prstGeom prst="rect">
            <a:avLst/>
          </a:prstGeom>
          <a:noFill/>
        </p:spPr>
        <p:txBody>
          <a:bodyPr wrap="none" tIns="0" bIns="0" lIns="0" rIns="0" anchor="t">
            <a:spAutoFit/>
          </a:bodyPr>
          <a:lstStyle/>
          <a:p>
            <a:pPr>
              <a:lnSpc>
                <a:spcPts val="1152"/>
              </a:lnSpc>
              <a:spcBef>
                <a:spcPts val="0"/>
              </a:spcBef>
              <a:spcAft>
                <a:spcPts val="0"/>
              </a:spcAft>
            </a:pPr>
            <a:r>
              <a:rPr sz="900" b="1">
                <a:solidFill>
                  <a:srgbClr val="B7CAE1"/>
                </a:solidFill>
                <a:latin typeface="Noto Sans"/>
              </a:rPr>
              <a:t>RH / RELEASE HELPDESK</a:t>
            </a:r>
          </a:p>
        </p:txBody>
      </p:sp>
      <p:sp>
        <p:nvSpPr>
          <p:cNvPr id="4" name="TextBox 3"/>
          <p:cNvSpPr txBox="1"/>
          <p:nvPr/>
        </p:nvSpPr>
        <p:spPr>
          <a:xfrm>
            <a:off x="8763000" y="279400"/>
            <a:ext cx="2857500" cy="209804"/>
          </a:xfrm>
          <a:prstGeom prst="rect">
            <a:avLst/>
          </a:prstGeom>
          <a:noFill/>
        </p:spPr>
        <p:txBody>
          <a:bodyPr wrap="none" tIns="0" bIns="0" lIns="0" rIns="0" anchor="t">
            <a:spAutoFit/>
          </a:bodyPr>
          <a:lstStyle/>
          <a:p>
            <a:pPr>
              <a:lnSpc>
                <a:spcPts val="1152"/>
              </a:lnSpc>
              <a:spcBef>
                <a:spcPts val="0"/>
              </a:spcBef>
              <a:spcAft>
                <a:spcPts val="0"/>
              </a:spcAft>
            </a:pPr>
            <a:r>
              <a:rPr sz="900" b="1">
                <a:solidFill>
                  <a:srgbClr val="B7CAE1"/>
                </a:solidFill>
                <a:latin typeface="Noto Sans"/>
              </a:rPr>
              <a:t>15 / OUTCOMES</a:t>
            </a:r>
          </a:p>
        </p:txBody>
      </p:sp>
      <p:sp>
        <p:nvSpPr>
          <p:cNvPr id="5" name="Rectangle 4"/>
          <p:cNvSpPr/>
          <p:nvPr/>
        </p:nvSpPr>
        <p:spPr>
          <a:xfrm>
            <a:off x="584200" y="660400"/>
            <a:ext cx="355600" cy="38100"/>
          </a:xfrm>
          <a:prstGeom prst="rect">
            <a:avLst/>
          </a:prstGeom>
          <a:solidFill>
            <a:srgbClr val="67D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84200" y="876300"/>
            <a:ext cx="11049000" cy="508380"/>
          </a:xfrm>
          <a:prstGeom prst="rect">
            <a:avLst/>
          </a:prstGeom>
          <a:noFill/>
        </p:spPr>
        <p:txBody>
          <a:bodyPr wrap="none" tIns="0" bIns="0" lIns="0" rIns="0" anchor="t">
            <a:spAutoFit/>
          </a:bodyPr>
          <a:lstStyle/>
          <a:p>
            <a:pPr>
              <a:lnSpc>
                <a:spcPts val="3502"/>
              </a:lnSpc>
              <a:spcBef>
                <a:spcPts val="0"/>
              </a:spcBef>
              <a:spcAft>
                <a:spcPts val="0"/>
              </a:spcAft>
            </a:pPr>
            <a:r>
              <a:rPr sz="3100" b="1">
                <a:solidFill>
                  <a:srgbClr val="FFFFFF"/>
                </a:solidFill>
                <a:latin typeface="Noto Sans"/>
              </a:rPr>
              <a:t>Tested. Reconciled. Observable.</a:t>
            </a:r>
          </a:p>
        </p:txBody>
      </p:sp>
      <p:cxnSp>
        <p:nvCxnSpPr>
          <p:cNvPr id="7" name="Connector 6"/>
          <p:cNvCxnSpPr/>
          <p:nvPr/>
        </p:nvCxnSpPr>
        <p:spPr>
          <a:xfrm>
            <a:off x="584200" y="6438900"/>
            <a:ext cx="11023600" cy="0"/>
          </a:xfrm>
          <a:prstGeom prst="line">
            <a:avLst/>
          </a:prstGeom>
          <a:ln w="10160">
            <a:solidFill>
              <a:srgbClr val="2C405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84200" y="6578600"/>
            <a:ext cx="4572000" cy="193548"/>
          </a:xfrm>
          <a:prstGeom prst="rect">
            <a:avLst/>
          </a:prstGeom>
          <a:noFill/>
        </p:spPr>
        <p:txBody>
          <a:bodyPr wrap="none" tIns="0" bIns="0" lIns="0" rIns="0" anchor="t">
            <a:spAutoFit/>
          </a:bodyPr>
          <a:lstStyle/>
          <a:p>
            <a:pPr>
              <a:lnSpc>
                <a:spcPts val="1024"/>
              </a:lnSpc>
              <a:spcBef>
                <a:spcPts val="0"/>
              </a:spcBef>
              <a:spcAft>
                <a:spcPts val="0"/>
              </a:spcAft>
            </a:pPr>
            <a:r>
              <a:rPr sz="800" b="0">
                <a:solidFill>
                  <a:srgbClr val="B7CAE1"/>
                </a:solidFill>
                <a:latin typeface="Noto Sans"/>
              </a:rPr>
              <a:t>RELEASE ENGINEERING / PLATFORM WALKTHROUGH</a:t>
            </a:r>
          </a:p>
        </p:txBody>
      </p:sp>
      <p:sp>
        <p:nvSpPr>
          <p:cNvPr id="9" name="TextBox 8"/>
          <p:cNvSpPr txBox="1"/>
          <p:nvPr/>
        </p:nvSpPr>
        <p:spPr>
          <a:xfrm>
            <a:off x="10922000" y="6553200"/>
            <a:ext cx="736600" cy="209804"/>
          </a:xfrm>
          <a:prstGeom prst="rect">
            <a:avLst/>
          </a:prstGeom>
          <a:noFill/>
        </p:spPr>
        <p:txBody>
          <a:bodyPr wrap="none" tIns="0" bIns="0" lIns="0" rIns="0" anchor="t">
            <a:spAutoFit/>
          </a:bodyPr>
          <a:lstStyle/>
          <a:p>
            <a:pPr>
              <a:lnSpc>
                <a:spcPts val="1152"/>
              </a:lnSpc>
              <a:spcBef>
                <a:spcPts val="0"/>
              </a:spcBef>
              <a:spcAft>
                <a:spcPts val="0"/>
              </a:spcAft>
            </a:pPr>
            <a:r>
              <a:rPr sz="900" b="1">
                <a:solidFill>
                  <a:srgbClr val="B7CAE1"/>
                </a:solidFill>
                <a:latin typeface="Noto Sans"/>
              </a:rPr>
              <a:t>16 / 16</a:t>
            </a:r>
          </a:p>
        </p:txBody>
      </p:sp>
      <p:sp>
        <p:nvSpPr>
          <p:cNvPr id="10" name="TextBox 9"/>
          <p:cNvSpPr txBox="1"/>
          <p:nvPr/>
        </p:nvSpPr>
        <p:spPr>
          <a:xfrm>
            <a:off x="584200" y="6210300"/>
            <a:ext cx="10414000" cy="193548"/>
          </a:xfrm>
          <a:prstGeom prst="rect">
            <a:avLst/>
          </a:prstGeom>
          <a:noFill/>
        </p:spPr>
        <p:txBody>
          <a:bodyPr wrap="none" tIns="0" bIns="0" lIns="0" rIns="0" anchor="t">
            <a:spAutoFit/>
          </a:bodyPr>
          <a:lstStyle/>
          <a:p>
            <a:pPr>
              <a:lnSpc>
                <a:spcPts val="1024"/>
              </a:lnSpc>
              <a:spcBef>
                <a:spcPts val="0"/>
              </a:spcBef>
              <a:spcAft>
                <a:spcPts val="0"/>
              </a:spcAft>
            </a:pPr>
            <a:r>
              <a:rPr sz="800" b="0">
                <a:solidFill>
                  <a:srgbClr val="B7CAE1"/>
                </a:solidFill>
                <a:latin typeface="Noto Sans"/>
                <a:hlinkClick r:id="rId2"/>
              </a:rPr>
              <a:t>Review · Executed results and reproducible project source</a:t>
            </a:r>
          </a:p>
        </p:txBody>
      </p:sp>
      <p:sp>
        <p:nvSpPr>
          <p:cNvPr id="11" name="Rounded Rectangle 10"/>
          <p:cNvSpPr/>
          <p:nvPr/>
        </p:nvSpPr>
        <p:spPr>
          <a:xfrm>
            <a:off x="584200" y="2108200"/>
            <a:ext cx="3429000" cy="2463800"/>
          </a:xfrm>
          <a:prstGeom prst="roundRect">
            <a:avLst>
              <a:gd name="adj" fmla="val 3608"/>
            </a:avLst>
          </a:prstGeom>
          <a:solidFill>
            <a:srgbClr val="1B30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2800" y="2324100"/>
            <a:ext cx="2921000" cy="258572"/>
          </a:xfrm>
          <a:prstGeom prst="rect">
            <a:avLst/>
          </a:prstGeom>
          <a:noFill/>
        </p:spPr>
        <p:txBody>
          <a:bodyPr wrap="none" tIns="0" bIns="0" lIns="0" rIns="0" anchor="t">
            <a:spAutoFit/>
          </a:bodyPr>
          <a:lstStyle/>
          <a:p>
            <a:pPr>
              <a:lnSpc>
                <a:spcPts val="1536"/>
              </a:lnSpc>
              <a:spcBef>
                <a:spcPts val="0"/>
              </a:spcBef>
              <a:spcAft>
                <a:spcPts val="0"/>
              </a:spcAft>
            </a:pPr>
            <a:r>
              <a:rPr sz="1200" b="1">
                <a:solidFill>
                  <a:srgbClr val="67DBCC"/>
                </a:solidFill>
                <a:latin typeface="Noto Sans"/>
              </a:rPr>
              <a:t>01</a:t>
            </a:r>
          </a:p>
        </p:txBody>
      </p:sp>
      <p:sp>
        <p:nvSpPr>
          <p:cNvPr id="13" name="TextBox 12"/>
          <p:cNvSpPr txBox="1"/>
          <p:nvPr/>
        </p:nvSpPr>
        <p:spPr>
          <a:xfrm>
            <a:off x="812800" y="2755900"/>
            <a:ext cx="3048000" cy="388620"/>
          </a:xfrm>
          <a:prstGeom prst="rect">
            <a:avLst/>
          </a:prstGeom>
          <a:noFill/>
        </p:spPr>
        <p:txBody>
          <a:bodyPr wrap="none" tIns="0" bIns="0" lIns="0" rIns="0" anchor="t">
            <a:spAutoFit/>
          </a:bodyPr>
          <a:lstStyle/>
          <a:p>
            <a:pPr>
              <a:lnSpc>
                <a:spcPts val="2560"/>
              </a:lnSpc>
              <a:spcBef>
                <a:spcPts val="0"/>
              </a:spcBef>
              <a:spcAft>
                <a:spcPts val="0"/>
              </a:spcAft>
            </a:pPr>
            <a:r>
              <a:rPr sz="2000" b="1">
                <a:solidFill>
                  <a:srgbClr val="FFFFFF"/>
                </a:solidFill>
                <a:latin typeface="Noto Sans"/>
              </a:rPr>
              <a:t>Reproducible</a:t>
            </a:r>
          </a:p>
        </p:txBody>
      </p:sp>
      <p:sp>
        <p:nvSpPr>
          <p:cNvPr id="14" name="TextBox 13"/>
          <p:cNvSpPr txBox="1"/>
          <p:nvPr/>
        </p:nvSpPr>
        <p:spPr>
          <a:xfrm>
            <a:off x="812800" y="3289300"/>
            <a:ext cx="2971800" cy="795020"/>
          </a:xfrm>
          <a:prstGeom prst="rect">
            <a:avLst/>
          </a:prstGeom>
          <a:noFill/>
        </p:spPr>
        <p:txBody>
          <a:bodyPr wrap="none" tIns="0" bIns="0" lIns="0" rIns="0" anchor="t">
            <a:spAutoFit/>
          </a:bodyPr>
          <a:lstStyle/>
          <a:p>
            <a:pPr>
              <a:lnSpc>
                <a:spcPts val="1920"/>
              </a:lnSpc>
              <a:spcBef>
                <a:spcPts val="0"/>
              </a:spcBef>
              <a:spcAft>
                <a:spcPts val="0"/>
              </a:spcAft>
            </a:pPr>
            <a:r>
              <a:rPr sz="1500" b="0">
                <a:solidFill>
                  <a:srgbClr val="B7CAE1"/>
                </a:solidFill>
                <a:latin typeface="Noto Sans"/>
              </a:rPr>
              <a:t>Compose locally. Terraform for</a:t>
            </a:r>
          </a:p>
          <a:p>
            <a:pPr>
              <a:lnSpc>
                <a:spcPts val="1920"/>
              </a:lnSpc>
              <a:spcBef>
                <a:spcPts val="0"/>
              </a:spcBef>
              <a:spcAft>
                <a:spcPts val="0"/>
              </a:spcAft>
            </a:pPr>
            <a:r>
              <a:rPr sz="1500" b="0">
                <a:solidFill>
                  <a:srgbClr val="B7CAE1"/>
                </a:solidFill>
                <a:latin typeface="Noto Sans"/>
              </a:rPr>
              <a:t>AWS. One chart for the</a:t>
            </a:r>
          </a:p>
          <a:p>
            <a:pPr>
              <a:lnSpc>
                <a:spcPts val="1920"/>
              </a:lnSpc>
              <a:spcBef>
                <a:spcPts val="0"/>
              </a:spcBef>
              <a:spcAft>
                <a:spcPts val="0"/>
              </a:spcAft>
            </a:pPr>
            <a:r>
              <a:rPr sz="1500" b="0">
                <a:solidFill>
                  <a:srgbClr val="B7CAE1"/>
                </a:solidFill>
                <a:latin typeface="Noto Sans"/>
              </a:rPr>
              <a:t>application.</a:t>
            </a:r>
          </a:p>
        </p:txBody>
      </p:sp>
      <p:sp>
        <p:nvSpPr>
          <p:cNvPr id="15" name="Rounded Rectangle 14"/>
          <p:cNvSpPr/>
          <p:nvPr/>
        </p:nvSpPr>
        <p:spPr>
          <a:xfrm>
            <a:off x="4381500" y="2108200"/>
            <a:ext cx="3429000" cy="2463800"/>
          </a:xfrm>
          <a:prstGeom prst="roundRect">
            <a:avLst>
              <a:gd name="adj" fmla="val 3608"/>
            </a:avLst>
          </a:prstGeom>
          <a:solidFill>
            <a:srgbClr val="1B30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0100" y="2324100"/>
            <a:ext cx="2921000" cy="258572"/>
          </a:xfrm>
          <a:prstGeom prst="rect">
            <a:avLst/>
          </a:prstGeom>
          <a:noFill/>
        </p:spPr>
        <p:txBody>
          <a:bodyPr wrap="none" tIns="0" bIns="0" lIns="0" rIns="0" anchor="t">
            <a:spAutoFit/>
          </a:bodyPr>
          <a:lstStyle/>
          <a:p>
            <a:pPr>
              <a:lnSpc>
                <a:spcPts val="1536"/>
              </a:lnSpc>
              <a:spcBef>
                <a:spcPts val="0"/>
              </a:spcBef>
              <a:spcAft>
                <a:spcPts val="0"/>
              </a:spcAft>
            </a:pPr>
            <a:r>
              <a:rPr sz="1200" b="1">
                <a:solidFill>
                  <a:srgbClr val="67DBCC"/>
                </a:solidFill>
                <a:latin typeface="Noto Sans"/>
              </a:rPr>
              <a:t>02</a:t>
            </a:r>
          </a:p>
        </p:txBody>
      </p:sp>
      <p:sp>
        <p:nvSpPr>
          <p:cNvPr id="17" name="TextBox 16"/>
          <p:cNvSpPr txBox="1"/>
          <p:nvPr/>
        </p:nvSpPr>
        <p:spPr>
          <a:xfrm>
            <a:off x="4610100" y="2755900"/>
            <a:ext cx="3048000" cy="388620"/>
          </a:xfrm>
          <a:prstGeom prst="rect">
            <a:avLst/>
          </a:prstGeom>
          <a:noFill/>
        </p:spPr>
        <p:txBody>
          <a:bodyPr wrap="none" tIns="0" bIns="0" lIns="0" rIns="0" anchor="t">
            <a:spAutoFit/>
          </a:bodyPr>
          <a:lstStyle/>
          <a:p>
            <a:pPr>
              <a:lnSpc>
                <a:spcPts val="2560"/>
              </a:lnSpc>
              <a:spcBef>
                <a:spcPts val="0"/>
              </a:spcBef>
              <a:spcAft>
                <a:spcPts val="0"/>
              </a:spcAft>
            </a:pPr>
            <a:r>
              <a:rPr sz="2000" b="1">
                <a:solidFill>
                  <a:srgbClr val="FFFFFF"/>
                </a:solidFill>
                <a:latin typeface="Noto Sans"/>
              </a:rPr>
              <a:t>Guarded</a:t>
            </a:r>
          </a:p>
        </p:txBody>
      </p:sp>
      <p:sp>
        <p:nvSpPr>
          <p:cNvPr id="18" name="TextBox 17"/>
          <p:cNvSpPr txBox="1"/>
          <p:nvPr/>
        </p:nvSpPr>
        <p:spPr>
          <a:xfrm>
            <a:off x="4610100" y="3289300"/>
            <a:ext cx="2971800" cy="795020"/>
          </a:xfrm>
          <a:prstGeom prst="rect">
            <a:avLst/>
          </a:prstGeom>
          <a:noFill/>
        </p:spPr>
        <p:txBody>
          <a:bodyPr wrap="none" tIns="0" bIns="0" lIns="0" rIns="0" anchor="t">
            <a:spAutoFit/>
          </a:bodyPr>
          <a:lstStyle/>
          <a:p>
            <a:pPr>
              <a:lnSpc>
                <a:spcPts val="1920"/>
              </a:lnSpc>
              <a:spcBef>
                <a:spcPts val="0"/>
              </a:spcBef>
              <a:spcAft>
                <a:spcPts val="0"/>
              </a:spcAft>
            </a:pPr>
            <a:r>
              <a:rPr sz="1500" b="0">
                <a:solidFill>
                  <a:srgbClr val="B7CAE1"/>
                </a:solidFill>
                <a:latin typeface="Noto Sans"/>
              </a:rPr>
              <a:t>Source and dependency checks,</a:t>
            </a:r>
          </a:p>
          <a:p>
            <a:pPr>
              <a:lnSpc>
                <a:spcPts val="1920"/>
              </a:lnSpc>
              <a:spcBef>
                <a:spcPts val="0"/>
              </a:spcBef>
              <a:spcAft>
                <a:spcPts val="0"/>
              </a:spcAft>
            </a:pPr>
            <a:r>
              <a:rPr sz="1500" b="0">
                <a:solidFill>
                  <a:srgbClr val="B7CAE1"/>
                </a:solidFill>
                <a:latin typeface="Noto Sans"/>
              </a:rPr>
              <a:t>secret scans and immutable</a:t>
            </a:r>
          </a:p>
          <a:p>
            <a:pPr>
              <a:lnSpc>
                <a:spcPts val="1920"/>
              </a:lnSpc>
              <a:spcBef>
                <a:spcPts val="0"/>
              </a:spcBef>
              <a:spcAft>
                <a:spcPts val="0"/>
              </a:spcAft>
            </a:pPr>
            <a:r>
              <a:rPr sz="1500" b="0">
                <a:solidFill>
                  <a:srgbClr val="B7CAE1"/>
                </a:solidFill>
                <a:latin typeface="Noto Sans"/>
              </a:rPr>
              <a:t>image gates.</a:t>
            </a:r>
          </a:p>
        </p:txBody>
      </p:sp>
      <p:sp>
        <p:nvSpPr>
          <p:cNvPr id="19" name="Rounded Rectangle 18"/>
          <p:cNvSpPr/>
          <p:nvPr/>
        </p:nvSpPr>
        <p:spPr>
          <a:xfrm>
            <a:off x="8178800" y="2108200"/>
            <a:ext cx="3429000" cy="2463800"/>
          </a:xfrm>
          <a:prstGeom prst="roundRect">
            <a:avLst>
              <a:gd name="adj" fmla="val 3608"/>
            </a:avLst>
          </a:prstGeom>
          <a:solidFill>
            <a:srgbClr val="1B30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07400" y="2324100"/>
            <a:ext cx="2921000" cy="258572"/>
          </a:xfrm>
          <a:prstGeom prst="rect">
            <a:avLst/>
          </a:prstGeom>
          <a:noFill/>
        </p:spPr>
        <p:txBody>
          <a:bodyPr wrap="none" tIns="0" bIns="0" lIns="0" rIns="0" anchor="t">
            <a:spAutoFit/>
          </a:bodyPr>
          <a:lstStyle/>
          <a:p>
            <a:pPr>
              <a:lnSpc>
                <a:spcPts val="1536"/>
              </a:lnSpc>
              <a:spcBef>
                <a:spcPts val="0"/>
              </a:spcBef>
              <a:spcAft>
                <a:spcPts val="0"/>
              </a:spcAft>
            </a:pPr>
            <a:r>
              <a:rPr sz="1200" b="1">
                <a:solidFill>
                  <a:srgbClr val="67DBCC"/>
                </a:solidFill>
                <a:latin typeface="Noto Sans"/>
              </a:rPr>
              <a:t>03</a:t>
            </a:r>
          </a:p>
        </p:txBody>
      </p:sp>
      <p:sp>
        <p:nvSpPr>
          <p:cNvPr id="21" name="TextBox 20"/>
          <p:cNvSpPr txBox="1"/>
          <p:nvPr/>
        </p:nvSpPr>
        <p:spPr>
          <a:xfrm>
            <a:off x="8407400" y="2755900"/>
            <a:ext cx="3048000" cy="388620"/>
          </a:xfrm>
          <a:prstGeom prst="rect">
            <a:avLst/>
          </a:prstGeom>
          <a:noFill/>
        </p:spPr>
        <p:txBody>
          <a:bodyPr wrap="none" tIns="0" bIns="0" lIns="0" rIns="0" anchor="t">
            <a:spAutoFit/>
          </a:bodyPr>
          <a:lstStyle/>
          <a:p>
            <a:pPr>
              <a:lnSpc>
                <a:spcPts val="2560"/>
              </a:lnSpc>
              <a:spcBef>
                <a:spcPts val="0"/>
              </a:spcBef>
              <a:spcAft>
                <a:spcPts val="0"/>
              </a:spcAft>
            </a:pPr>
            <a:r>
              <a:rPr sz="2000" b="1">
                <a:solidFill>
                  <a:srgbClr val="FFFFFF"/>
                </a:solidFill>
                <a:latin typeface="Noto Sans"/>
              </a:rPr>
              <a:t>Self-correcting</a:t>
            </a:r>
          </a:p>
        </p:txBody>
      </p:sp>
      <p:sp>
        <p:nvSpPr>
          <p:cNvPr id="22" name="TextBox 21"/>
          <p:cNvSpPr txBox="1"/>
          <p:nvPr/>
        </p:nvSpPr>
        <p:spPr>
          <a:xfrm>
            <a:off x="8407400" y="3289300"/>
            <a:ext cx="2971800" cy="795020"/>
          </a:xfrm>
          <a:prstGeom prst="rect">
            <a:avLst/>
          </a:prstGeom>
          <a:noFill/>
        </p:spPr>
        <p:txBody>
          <a:bodyPr wrap="none" tIns="0" bIns="0" lIns="0" rIns="0" anchor="t">
            <a:spAutoFit/>
          </a:bodyPr>
          <a:lstStyle/>
          <a:p>
            <a:pPr>
              <a:lnSpc>
                <a:spcPts val="1920"/>
              </a:lnSpc>
              <a:spcBef>
                <a:spcPts val="0"/>
              </a:spcBef>
              <a:spcAft>
                <a:spcPts val="0"/>
              </a:spcAft>
            </a:pPr>
            <a:r>
              <a:rPr sz="1500" b="0">
                <a:solidFill>
                  <a:srgbClr val="B7CAE1"/>
                </a:solidFill>
                <a:latin typeface="Noto Sans"/>
              </a:rPr>
              <a:t>GitOps restores intent. HPA</a:t>
            </a:r>
          </a:p>
          <a:p>
            <a:pPr>
              <a:lnSpc>
                <a:spcPts val="1920"/>
              </a:lnSpc>
              <a:spcBef>
                <a:spcPts val="0"/>
              </a:spcBef>
              <a:spcAft>
                <a:spcPts val="0"/>
              </a:spcAft>
            </a:pPr>
            <a:r>
              <a:rPr sz="1500" b="0">
                <a:solidFill>
                  <a:srgbClr val="B7CAE1"/>
                </a:solidFill>
                <a:latin typeface="Noto Sans"/>
              </a:rPr>
              <a:t>reacts to CPU. Metrics explain</a:t>
            </a:r>
          </a:p>
          <a:p>
            <a:pPr>
              <a:lnSpc>
                <a:spcPts val="1920"/>
              </a:lnSpc>
              <a:spcBef>
                <a:spcPts val="0"/>
              </a:spcBef>
              <a:spcAft>
                <a:spcPts val="0"/>
              </a:spcAft>
            </a:pPr>
            <a:r>
              <a:rPr sz="1500" b="0">
                <a:solidFill>
                  <a:srgbClr val="B7CAE1"/>
                </a:solidFill>
                <a:latin typeface="Noto Sans"/>
              </a:rPr>
              <a:t>behavior.</a:t>
            </a:r>
          </a:p>
        </p:txBody>
      </p:sp>
      <p:sp>
        <p:nvSpPr>
          <p:cNvPr id="23" name="TextBox 22"/>
          <p:cNvSpPr txBox="1"/>
          <p:nvPr/>
        </p:nvSpPr>
        <p:spPr>
          <a:xfrm>
            <a:off x="584200" y="4940300"/>
            <a:ext cx="10160000" cy="339852"/>
          </a:xfrm>
          <a:prstGeom prst="rect">
            <a:avLst/>
          </a:prstGeom>
          <a:noFill/>
        </p:spPr>
        <p:txBody>
          <a:bodyPr wrap="none" tIns="0" bIns="0" lIns="0" rIns="0" anchor="t">
            <a:spAutoFit/>
          </a:bodyPr>
          <a:lstStyle/>
          <a:p>
            <a:pPr>
              <a:lnSpc>
                <a:spcPts val="2176"/>
              </a:lnSpc>
              <a:spcBef>
                <a:spcPts val="0"/>
              </a:spcBef>
              <a:spcAft>
                <a:spcPts val="0"/>
              </a:spcAft>
            </a:pPr>
            <a:r>
              <a:rPr sz="1700" b="1">
                <a:solidFill>
                  <a:srgbClr val="FFFFFF"/>
                </a:solidFill>
                <a:latin typeface="Noto Sans"/>
              </a:rPr>
              <a:t>Next production steps</a:t>
            </a:r>
          </a:p>
        </p:txBody>
      </p:sp>
      <p:sp>
        <p:nvSpPr>
          <p:cNvPr id="24" name="TextBox 23"/>
          <p:cNvSpPr txBox="1"/>
          <p:nvPr/>
        </p:nvSpPr>
        <p:spPr>
          <a:xfrm>
            <a:off x="584200" y="5397500"/>
            <a:ext cx="11010900" cy="307340"/>
          </a:xfrm>
          <a:prstGeom prst="rect">
            <a:avLst/>
          </a:prstGeom>
          <a:noFill/>
        </p:spPr>
        <p:txBody>
          <a:bodyPr wrap="none" tIns="0" bIns="0" lIns="0" rIns="0" anchor="t">
            <a:spAutoFit/>
          </a:bodyPr>
          <a:lstStyle/>
          <a:p>
            <a:pPr>
              <a:lnSpc>
                <a:spcPts val="1920"/>
              </a:lnSpc>
              <a:spcBef>
                <a:spcPts val="0"/>
              </a:spcBef>
              <a:spcAft>
                <a:spcPts val="0"/>
              </a:spcAft>
            </a:pPr>
            <a:r>
              <a:rPr sz="1500" b="0">
                <a:solidFill>
                  <a:srgbClr val="B7CAE1"/>
                </a:solidFill>
                <a:latin typeface="Noto Sans"/>
              </a:rPr>
              <a:t>End-user identity · HTTPS + DNS · managed database backups · service alerts</a:t>
            </a:r>
          </a:p>
        </p:txBody>
      </p:sp>
      <p:sp>
        <p:nvSpPr>
          <p:cNvPr id="25" name="TextBox 24"/>
          <p:cNvSpPr txBox="1"/>
          <p:nvPr/>
        </p:nvSpPr>
        <p:spPr>
          <a:xfrm>
            <a:off x="584200" y="5918200"/>
            <a:ext cx="10414000" cy="274828"/>
          </a:xfrm>
          <a:prstGeom prst="rect">
            <a:avLst/>
          </a:prstGeom>
          <a:noFill/>
        </p:spPr>
        <p:txBody>
          <a:bodyPr wrap="none" tIns="0" bIns="0" lIns="0" rIns="0" anchor="t">
            <a:spAutoFit/>
          </a:bodyPr>
          <a:lstStyle/>
          <a:p>
            <a:pPr>
              <a:lnSpc>
                <a:spcPts val="1664"/>
              </a:lnSpc>
              <a:spcBef>
                <a:spcPts val="0"/>
              </a:spcBef>
              <a:spcAft>
                <a:spcPts val="0"/>
              </a:spcAft>
            </a:pPr>
            <a:r>
              <a:rPr sz="1300" b="1">
                <a:solidFill>
                  <a:srgbClr val="67DBCC"/>
                </a:solidFill>
                <a:latin typeface="Noto Sans"/>
                <a:hlinkClick r:id="rId3"/>
              </a:rPr>
              <a:t>github.com/NoteLegend/devOps-TaskBoard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Release Helpdesk | DevOps Capstone</dc:title>
  <dc:subject>Application delivery, security, GitOps and monitored Kubernetes</dc:subject>
  <dc:creator>Release Helpdesk</dc:creator>
  <cp:keywords>DevOps, AWS EKS, Terraform, GitHub Actions, Helm, capstone</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